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embeddedFontLst>
    <p:embeddedFont>
      <p:font typeface="Hedvig Letters Sans" panose="020B0604020202020204" charset="0"/>
      <p:regular r:id="rId19"/>
    </p:embeddedFont>
    <p:embeddedFont>
      <p:font typeface="Liter" panose="020B0604020202020204" charset="0"/>
      <p:regular r:id="rId20"/>
    </p:embeddedFont>
    <p:embeddedFont>
      <p:font typeface="Quattrocento Sans" panose="020B0502050000020003" pitchFamily="3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9262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d60c3a2ef8af5ea0aa2d13861f49567c94e9ea0f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053" r="105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3A5C">
                  <a:alpha val="95000"/>
                </a:srgbClr>
              </a:gs>
              <a:gs pos="50000">
                <a:srgbClr val="1A3A5C">
                  <a:alpha val="85000"/>
                </a:srgbClr>
              </a:gs>
              <a:gs pos="100000">
                <a:srgbClr val="3D8B8B">
                  <a:alpha val="7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175" y="542925"/>
            <a:ext cx="2282825" cy="425450"/>
          </a:xfrm>
          <a:custGeom>
            <a:avLst/>
            <a:gdLst/>
            <a:ahLst/>
            <a:cxnLst/>
            <a:rect l="l" t="t" r="r" b="b"/>
            <a:pathLst>
              <a:path w="2282825" h="425450">
                <a:moveTo>
                  <a:pt x="76198" y="0"/>
                </a:moveTo>
                <a:lnTo>
                  <a:pt x="2206627" y="0"/>
                </a:lnTo>
                <a:cubicBezTo>
                  <a:pt x="2248710" y="0"/>
                  <a:pt x="2282825" y="34115"/>
                  <a:pt x="2282825" y="76198"/>
                </a:cubicBezTo>
                <a:lnTo>
                  <a:pt x="2282825" y="349252"/>
                </a:lnTo>
                <a:cubicBezTo>
                  <a:pt x="2282825" y="391335"/>
                  <a:pt x="2248710" y="425450"/>
                  <a:pt x="2206627" y="425450"/>
                </a:cubicBezTo>
                <a:lnTo>
                  <a:pt x="76198" y="425450"/>
                </a:lnTo>
                <a:cubicBezTo>
                  <a:pt x="34115" y="425450"/>
                  <a:pt x="0" y="391335"/>
                  <a:pt x="0" y="34925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3D8B8B">
              <a:alpha val="20000"/>
            </a:srgbClr>
          </a:solidFill>
          <a:ln w="8467">
            <a:solidFill>
              <a:srgbClr val="3D8B8B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7850" y="622300"/>
            <a:ext cx="1981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135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Year Project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276350"/>
            <a:ext cx="88773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1F5F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 Avatar for Academic Advising using Fine-Tuned Large Language Model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0767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419600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Integrating Retrieval-Augmented Generation with Voice-Enabled AI Avatar Technology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4175" y="5324475"/>
            <a:ext cx="3654425" cy="1149350"/>
          </a:xfrm>
          <a:custGeom>
            <a:avLst/>
            <a:gdLst/>
            <a:ahLst/>
            <a:cxnLst/>
            <a:rect l="l" t="t" r="r" b="b"/>
            <a:pathLst>
              <a:path w="3654425" h="1149350">
                <a:moveTo>
                  <a:pt x="114303" y="0"/>
                </a:moveTo>
                <a:lnTo>
                  <a:pt x="3540122" y="0"/>
                </a:lnTo>
                <a:cubicBezTo>
                  <a:pt x="3603250" y="0"/>
                  <a:pt x="3654425" y="51175"/>
                  <a:pt x="3654425" y="114303"/>
                </a:cubicBezTo>
                <a:lnTo>
                  <a:pt x="3654425" y="1035047"/>
                </a:lnTo>
                <a:cubicBezTo>
                  <a:pt x="3654425" y="1098175"/>
                  <a:pt x="3603250" y="1149350"/>
                  <a:pt x="3540122" y="1149350"/>
                </a:cubicBezTo>
                <a:lnTo>
                  <a:pt x="114303" y="1149350"/>
                </a:lnTo>
                <a:cubicBezTo>
                  <a:pt x="51175" y="1149350"/>
                  <a:pt x="0" y="1098175"/>
                  <a:pt x="0" y="103504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F1F5F9">
              <a:alpha val="10196"/>
            </a:srgbClr>
          </a:solidFill>
          <a:ln w="8467">
            <a:solidFill>
              <a:srgbClr val="F1F5F9">
                <a:alpha val="2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7850" y="5518150"/>
            <a:ext cx="333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3D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77850" y="5784850"/>
            <a:ext cx="335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Jet Saw Jun Jie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77850" y="6051550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ID: 1231303401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270375" y="5324475"/>
            <a:ext cx="3654425" cy="1149350"/>
          </a:xfrm>
          <a:custGeom>
            <a:avLst/>
            <a:gdLst/>
            <a:ahLst/>
            <a:cxnLst/>
            <a:rect l="l" t="t" r="r" b="b"/>
            <a:pathLst>
              <a:path w="3654425" h="1149350">
                <a:moveTo>
                  <a:pt x="114303" y="0"/>
                </a:moveTo>
                <a:lnTo>
                  <a:pt x="3540122" y="0"/>
                </a:lnTo>
                <a:cubicBezTo>
                  <a:pt x="3603250" y="0"/>
                  <a:pt x="3654425" y="51175"/>
                  <a:pt x="3654425" y="114303"/>
                </a:cubicBezTo>
                <a:lnTo>
                  <a:pt x="3654425" y="1035047"/>
                </a:lnTo>
                <a:cubicBezTo>
                  <a:pt x="3654425" y="1098175"/>
                  <a:pt x="3603250" y="1149350"/>
                  <a:pt x="3540122" y="1149350"/>
                </a:cubicBezTo>
                <a:lnTo>
                  <a:pt x="114303" y="1149350"/>
                </a:lnTo>
                <a:cubicBezTo>
                  <a:pt x="51175" y="1149350"/>
                  <a:pt x="0" y="1098175"/>
                  <a:pt x="0" y="103504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F1F5F9">
              <a:alpha val="10196"/>
            </a:srgbClr>
          </a:solidFill>
          <a:ln w="8467">
            <a:solidFill>
              <a:srgbClr val="F1F5F9">
                <a:alpha val="2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64050" y="5518150"/>
            <a:ext cx="333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3D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Supervisor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464050" y="5784850"/>
            <a:ext cx="335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Dr. Tan Wooi Haw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464050" y="6051550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350250" y="5518150"/>
            <a:ext cx="333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507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D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/ Introduction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5238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A3A5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Challenge of Academic Advising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2133600"/>
            <a:ext cx="4991100" cy="1543050"/>
          </a:xfrm>
          <a:custGeom>
            <a:avLst/>
            <a:gdLst/>
            <a:ahLst/>
            <a:cxnLst/>
            <a:rect l="l" t="t" r="r" b="b"/>
            <a:pathLst>
              <a:path w="4991100" h="1543050">
                <a:moveTo>
                  <a:pt x="38100" y="0"/>
                </a:moveTo>
                <a:lnTo>
                  <a:pt x="4838693" y="0"/>
                </a:lnTo>
                <a:cubicBezTo>
                  <a:pt x="4922865" y="0"/>
                  <a:pt x="4991100" y="68235"/>
                  <a:pt x="4991100" y="152407"/>
                </a:cubicBezTo>
                <a:lnTo>
                  <a:pt x="4991100" y="1390643"/>
                </a:lnTo>
                <a:cubicBezTo>
                  <a:pt x="4991100" y="1474815"/>
                  <a:pt x="4922865" y="1543050"/>
                  <a:pt x="4838693" y="1543050"/>
                </a:cubicBezTo>
                <a:lnTo>
                  <a:pt x="38100" y="1543050"/>
                </a:lnTo>
                <a:cubicBezTo>
                  <a:pt x="17072" y="1543050"/>
                  <a:pt x="0" y="1525978"/>
                  <a:pt x="0" y="1504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0050" y="2133600"/>
            <a:ext cx="38100" cy="1543050"/>
          </a:xfrm>
          <a:custGeom>
            <a:avLst/>
            <a:gdLst/>
            <a:ahLst/>
            <a:cxnLst/>
            <a:rect l="l" t="t" r="r" b="b"/>
            <a:pathLst>
              <a:path w="38100" h="1543050">
                <a:moveTo>
                  <a:pt x="38100" y="0"/>
                </a:moveTo>
                <a:lnTo>
                  <a:pt x="38100" y="0"/>
                </a:lnTo>
                <a:lnTo>
                  <a:pt x="38100" y="1543050"/>
                </a:lnTo>
                <a:lnTo>
                  <a:pt x="38100" y="1543050"/>
                </a:lnTo>
                <a:cubicBezTo>
                  <a:pt x="17072" y="1543050"/>
                  <a:pt x="0" y="1525978"/>
                  <a:pt x="0" y="1504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6" name="Shape 4"/>
          <p:cNvSpPr/>
          <p:nvPr/>
        </p:nvSpPr>
        <p:spPr>
          <a:xfrm>
            <a:off x="647700" y="2362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7" name="Shape 5"/>
          <p:cNvSpPr/>
          <p:nvPr/>
        </p:nvSpPr>
        <p:spPr>
          <a:xfrm>
            <a:off x="781050" y="2495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1166" y="7516"/>
                </a:moveTo>
                <a:cubicBezTo>
                  <a:pt x="97520" y="5432"/>
                  <a:pt x="93018" y="5432"/>
                  <a:pt x="89334" y="7516"/>
                </a:cubicBezTo>
                <a:lnTo>
                  <a:pt x="5990" y="55141"/>
                </a:lnTo>
                <a:cubicBezTo>
                  <a:pt x="1302" y="57820"/>
                  <a:pt x="-1005" y="63326"/>
                  <a:pt x="372" y="68535"/>
                </a:cubicBezTo>
                <a:cubicBezTo>
                  <a:pt x="1749" y="73744"/>
                  <a:pt x="6511" y="77391"/>
                  <a:pt x="11906" y="77391"/>
                </a:cubicBezTo>
                <a:lnTo>
                  <a:pt x="23812" y="77391"/>
                </a:lnTo>
                <a:lnTo>
                  <a:pt x="23812" y="154781"/>
                </a:lnTo>
                <a:lnTo>
                  <a:pt x="23812" y="154781"/>
                </a:lnTo>
                <a:lnTo>
                  <a:pt x="4762" y="169069"/>
                </a:lnTo>
                <a:cubicBezTo>
                  <a:pt x="1749" y="171301"/>
                  <a:pt x="0" y="174836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178594" y="190500"/>
                </a:lnTo>
                <a:cubicBezTo>
                  <a:pt x="185179" y="190500"/>
                  <a:pt x="190500" y="185179"/>
                  <a:pt x="190500" y="178594"/>
                </a:cubicBezTo>
                <a:cubicBezTo>
                  <a:pt x="190500" y="174836"/>
                  <a:pt x="188751" y="171301"/>
                  <a:pt x="185738" y="169069"/>
                </a:cubicBezTo>
                <a:lnTo>
                  <a:pt x="166688" y="154781"/>
                </a:lnTo>
                <a:lnTo>
                  <a:pt x="166688" y="77391"/>
                </a:lnTo>
                <a:lnTo>
                  <a:pt x="178594" y="77391"/>
                </a:lnTo>
                <a:cubicBezTo>
                  <a:pt x="183989" y="77391"/>
                  <a:pt x="188714" y="73744"/>
                  <a:pt x="190091" y="68535"/>
                </a:cubicBezTo>
                <a:cubicBezTo>
                  <a:pt x="191467" y="63326"/>
                  <a:pt x="189161" y="57820"/>
                  <a:pt x="184472" y="55141"/>
                </a:cubicBezTo>
                <a:lnTo>
                  <a:pt x="101129" y="7516"/>
                </a:lnTo>
                <a:close/>
                <a:moveTo>
                  <a:pt x="148828" y="77391"/>
                </a:moveTo>
                <a:lnTo>
                  <a:pt x="148828" y="154781"/>
                </a:lnTo>
                <a:lnTo>
                  <a:pt x="125016" y="154781"/>
                </a:lnTo>
                <a:lnTo>
                  <a:pt x="125016" y="77391"/>
                </a:lnTo>
                <a:lnTo>
                  <a:pt x="148828" y="77391"/>
                </a:lnTo>
                <a:close/>
                <a:moveTo>
                  <a:pt x="107156" y="77391"/>
                </a:moveTo>
                <a:lnTo>
                  <a:pt x="107156" y="154781"/>
                </a:lnTo>
                <a:lnTo>
                  <a:pt x="83344" y="154781"/>
                </a:lnTo>
                <a:lnTo>
                  <a:pt x="83344" y="77391"/>
                </a:lnTo>
                <a:lnTo>
                  <a:pt x="107156" y="77391"/>
                </a:lnTo>
                <a:close/>
                <a:moveTo>
                  <a:pt x="65484" y="77391"/>
                </a:moveTo>
                <a:lnTo>
                  <a:pt x="65484" y="154781"/>
                </a:lnTo>
                <a:lnTo>
                  <a:pt x="41672" y="154781"/>
                </a:lnTo>
                <a:lnTo>
                  <a:pt x="41672" y="77391"/>
                </a:lnTo>
                <a:lnTo>
                  <a:pt x="65484" y="77391"/>
                </a:lnTo>
                <a:close/>
                <a:moveTo>
                  <a:pt x="95250" y="35719"/>
                </a:moveTo>
                <a:cubicBezTo>
                  <a:pt x="101821" y="35719"/>
                  <a:pt x="107156" y="41054"/>
                  <a:pt x="107156" y="47625"/>
                </a:cubicBezTo>
                <a:cubicBezTo>
                  <a:pt x="107156" y="54196"/>
                  <a:pt x="101821" y="59531"/>
                  <a:pt x="95250" y="59531"/>
                </a:cubicBezTo>
                <a:cubicBezTo>
                  <a:pt x="88679" y="59531"/>
                  <a:pt x="83344" y="54196"/>
                  <a:pt x="83344" y="47625"/>
                </a:cubicBezTo>
                <a:cubicBezTo>
                  <a:pt x="83344" y="41054"/>
                  <a:pt x="88679" y="35719"/>
                  <a:pt x="95250" y="35719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2362200"/>
            <a:ext cx="400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Support Service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7300" y="2705100"/>
            <a:ext cx="39814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 advising helps students understand programme structures, subject prerequisites, and graduation requirements—essential for academic success.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3867150"/>
            <a:ext cx="4991100" cy="1295400"/>
          </a:xfrm>
          <a:custGeom>
            <a:avLst/>
            <a:gdLst/>
            <a:ahLst/>
            <a:cxnLst/>
            <a:rect l="l" t="t" r="r" b="b"/>
            <a:pathLst>
              <a:path w="4991100" h="1295400">
                <a:moveTo>
                  <a:pt x="38100" y="0"/>
                </a:moveTo>
                <a:lnTo>
                  <a:pt x="4838696" y="0"/>
                </a:lnTo>
                <a:cubicBezTo>
                  <a:pt x="4922866" y="0"/>
                  <a:pt x="4991100" y="68234"/>
                  <a:pt x="4991100" y="152404"/>
                </a:cubicBezTo>
                <a:lnTo>
                  <a:pt x="4991100" y="1142996"/>
                </a:lnTo>
                <a:cubicBezTo>
                  <a:pt x="4991100" y="1227166"/>
                  <a:pt x="4922866" y="1295400"/>
                  <a:pt x="4838696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0050" y="386715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A7A96"/>
          </a:solidFill>
          <a:ln/>
        </p:spPr>
      </p:sp>
      <p:sp>
        <p:nvSpPr>
          <p:cNvPr id="12" name="Shape 10"/>
          <p:cNvSpPr/>
          <p:nvPr/>
        </p:nvSpPr>
        <p:spPr>
          <a:xfrm>
            <a:off x="647700" y="4095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A7A96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863" y="42291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80"/>
                </a:cubicBezTo>
                <a:cubicBezTo>
                  <a:pt x="35719" y="109128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8"/>
                  <a:pt x="107156" y="104180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98227" y="148828"/>
                </a:lnTo>
                <a:cubicBezTo>
                  <a:pt x="103175" y="148828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1257300" y="4095750"/>
            <a:ext cx="400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Traditional Limitations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57300" y="4438650"/>
            <a:ext cx="39814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consultations and static documents (handbooks, PDFs) create bottlenecks during peak periods.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5353050"/>
            <a:ext cx="4991100" cy="1295400"/>
          </a:xfrm>
          <a:custGeom>
            <a:avLst/>
            <a:gdLst/>
            <a:ahLst/>
            <a:cxnLst/>
            <a:rect l="l" t="t" r="r" b="b"/>
            <a:pathLst>
              <a:path w="4991100" h="1295400">
                <a:moveTo>
                  <a:pt x="38100" y="0"/>
                </a:moveTo>
                <a:lnTo>
                  <a:pt x="4838696" y="0"/>
                </a:lnTo>
                <a:cubicBezTo>
                  <a:pt x="4922866" y="0"/>
                  <a:pt x="4991100" y="68234"/>
                  <a:pt x="4991100" y="152404"/>
                </a:cubicBezTo>
                <a:lnTo>
                  <a:pt x="4991100" y="1142996"/>
                </a:lnTo>
                <a:cubicBezTo>
                  <a:pt x="4991100" y="1227166"/>
                  <a:pt x="4922866" y="1295400"/>
                  <a:pt x="4838696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0050" y="535305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18" name="Shape 16"/>
          <p:cNvSpPr/>
          <p:nvPr/>
        </p:nvSpPr>
        <p:spPr>
          <a:xfrm>
            <a:off x="647700" y="55816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19" name="Shape 17"/>
          <p:cNvSpPr/>
          <p:nvPr/>
        </p:nvSpPr>
        <p:spPr>
          <a:xfrm>
            <a:off x="781050" y="5715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1257300" y="5581650"/>
            <a:ext cx="400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Peak Period Challenges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57300" y="5924550"/>
            <a:ext cx="39814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Advisors face high workloads while students experience delays in receiving accurate information.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92180" y="1196182"/>
            <a:ext cx="6115050" cy="4467225"/>
          </a:xfrm>
          <a:custGeom>
            <a:avLst/>
            <a:gdLst/>
            <a:ahLst/>
            <a:cxnLst/>
            <a:rect l="l" t="t" r="r" b="b"/>
            <a:pathLst>
              <a:path w="6115050" h="4467225">
                <a:moveTo>
                  <a:pt x="228588" y="0"/>
                </a:moveTo>
                <a:lnTo>
                  <a:pt x="5886462" y="0"/>
                </a:lnTo>
                <a:cubicBezTo>
                  <a:pt x="6012708" y="0"/>
                  <a:pt x="6115050" y="102342"/>
                  <a:pt x="6115050" y="228588"/>
                </a:cubicBezTo>
                <a:lnTo>
                  <a:pt x="6115050" y="4238637"/>
                </a:lnTo>
                <a:cubicBezTo>
                  <a:pt x="6115050" y="4364883"/>
                  <a:pt x="6012708" y="4467225"/>
                  <a:pt x="5886462" y="4467225"/>
                </a:cubicBezTo>
                <a:lnTo>
                  <a:pt x="228588" y="4467225"/>
                </a:lnTo>
                <a:cubicBezTo>
                  <a:pt x="102342" y="4467225"/>
                  <a:pt x="0" y="4364883"/>
                  <a:pt x="0" y="4238637"/>
                </a:cubicBezTo>
                <a:lnTo>
                  <a:pt x="0" y="228588"/>
                </a:lnTo>
                <a:cubicBezTo>
                  <a:pt x="0" y="102342"/>
                  <a:pt x="102342" y="0"/>
                  <a:pt x="228588" y="0"/>
                </a:cubicBezTo>
                <a:close/>
              </a:path>
            </a:pathLst>
          </a:custGeom>
          <a:gradFill flip="none" rotWithShape="1">
            <a:gsLst>
              <a:gs pos="0">
                <a:srgbClr val="1A3A5C"/>
              </a:gs>
              <a:gs pos="100000">
                <a:srgbClr val="3D8B8B"/>
              </a:gs>
            </a:gsLst>
            <a:lin ang="2700000" scaled="1"/>
          </a:gradFill>
          <a:ln/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73180" y="157718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1F5F9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201767" y="1739107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96453" y="0"/>
                </a:moveTo>
                <a:cubicBezTo>
                  <a:pt x="196453" y="-9878"/>
                  <a:pt x="188472" y="-17859"/>
                  <a:pt x="178594" y="-17859"/>
                </a:cubicBezTo>
                <a:cubicBezTo>
                  <a:pt x="168715" y="-17859"/>
                  <a:pt x="160734" y="-9878"/>
                  <a:pt x="160734" y="0"/>
                </a:cubicBezTo>
                <a:lnTo>
                  <a:pt x="160734" y="35719"/>
                </a:lnTo>
                <a:lnTo>
                  <a:pt x="107156" y="35719"/>
                </a:lnTo>
                <a:cubicBezTo>
                  <a:pt x="77577" y="35719"/>
                  <a:pt x="53578" y="59717"/>
                  <a:pt x="53578" y="89297"/>
                </a:cubicBezTo>
                <a:lnTo>
                  <a:pt x="53578" y="214313"/>
                </a:lnTo>
                <a:cubicBezTo>
                  <a:pt x="53578" y="243892"/>
                  <a:pt x="77577" y="267891"/>
                  <a:pt x="107156" y="267891"/>
                </a:cubicBezTo>
                <a:lnTo>
                  <a:pt x="250031" y="267891"/>
                </a:lnTo>
                <a:cubicBezTo>
                  <a:pt x="279611" y="267891"/>
                  <a:pt x="303609" y="243892"/>
                  <a:pt x="303609" y="214313"/>
                </a:cubicBezTo>
                <a:lnTo>
                  <a:pt x="303609" y="89297"/>
                </a:lnTo>
                <a:cubicBezTo>
                  <a:pt x="303609" y="59717"/>
                  <a:pt x="279611" y="35719"/>
                  <a:pt x="250031" y="35719"/>
                </a:cubicBezTo>
                <a:lnTo>
                  <a:pt x="196453" y="35719"/>
                </a:lnTo>
                <a:lnTo>
                  <a:pt x="196453" y="0"/>
                </a:lnTo>
                <a:close/>
                <a:moveTo>
                  <a:pt x="89297" y="205383"/>
                </a:moveTo>
                <a:cubicBezTo>
                  <a:pt x="89297" y="197960"/>
                  <a:pt x="95269" y="191988"/>
                  <a:pt x="102691" y="191988"/>
                </a:cubicBezTo>
                <a:lnTo>
                  <a:pt x="120551" y="191988"/>
                </a:lnTo>
                <a:cubicBezTo>
                  <a:pt x="127974" y="191988"/>
                  <a:pt x="133945" y="197960"/>
                  <a:pt x="133945" y="205383"/>
                </a:cubicBezTo>
                <a:cubicBezTo>
                  <a:pt x="133945" y="212806"/>
                  <a:pt x="127974" y="218777"/>
                  <a:pt x="120551" y="218777"/>
                </a:cubicBezTo>
                <a:lnTo>
                  <a:pt x="102691" y="218777"/>
                </a:lnTo>
                <a:cubicBezTo>
                  <a:pt x="95269" y="218777"/>
                  <a:pt x="89297" y="212806"/>
                  <a:pt x="89297" y="205383"/>
                </a:cubicBezTo>
                <a:close/>
                <a:moveTo>
                  <a:pt x="156270" y="205383"/>
                </a:moveTo>
                <a:cubicBezTo>
                  <a:pt x="156270" y="197960"/>
                  <a:pt x="162241" y="191988"/>
                  <a:pt x="169664" y="191988"/>
                </a:cubicBezTo>
                <a:lnTo>
                  <a:pt x="187523" y="191988"/>
                </a:lnTo>
                <a:cubicBezTo>
                  <a:pt x="194946" y="191988"/>
                  <a:pt x="200918" y="197960"/>
                  <a:pt x="200918" y="205383"/>
                </a:cubicBezTo>
                <a:cubicBezTo>
                  <a:pt x="200918" y="212806"/>
                  <a:pt x="194946" y="218777"/>
                  <a:pt x="187523" y="218777"/>
                </a:cubicBezTo>
                <a:lnTo>
                  <a:pt x="169664" y="218777"/>
                </a:lnTo>
                <a:cubicBezTo>
                  <a:pt x="162241" y="218777"/>
                  <a:pt x="156270" y="212806"/>
                  <a:pt x="156270" y="205383"/>
                </a:cubicBezTo>
                <a:close/>
                <a:moveTo>
                  <a:pt x="223242" y="205383"/>
                </a:moveTo>
                <a:cubicBezTo>
                  <a:pt x="223242" y="197960"/>
                  <a:pt x="229214" y="191988"/>
                  <a:pt x="236637" y="191988"/>
                </a:cubicBezTo>
                <a:lnTo>
                  <a:pt x="254496" y="191988"/>
                </a:lnTo>
                <a:cubicBezTo>
                  <a:pt x="261919" y="191988"/>
                  <a:pt x="267891" y="197960"/>
                  <a:pt x="267891" y="205383"/>
                </a:cubicBezTo>
                <a:cubicBezTo>
                  <a:pt x="267891" y="212806"/>
                  <a:pt x="261919" y="218777"/>
                  <a:pt x="254496" y="218777"/>
                </a:cubicBezTo>
                <a:lnTo>
                  <a:pt x="236637" y="218777"/>
                </a:lnTo>
                <a:cubicBezTo>
                  <a:pt x="229214" y="218777"/>
                  <a:pt x="223242" y="212806"/>
                  <a:pt x="223242" y="205383"/>
                </a:cubicBezTo>
                <a:close/>
                <a:moveTo>
                  <a:pt x="125016" y="98227"/>
                </a:moveTo>
                <a:cubicBezTo>
                  <a:pt x="139801" y="98227"/>
                  <a:pt x="151805" y="110230"/>
                  <a:pt x="151805" y="125016"/>
                </a:cubicBezTo>
                <a:cubicBezTo>
                  <a:pt x="151805" y="139801"/>
                  <a:pt x="139801" y="151805"/>
                  <a:pt x="125016" y="151805"/>
                </a:cubicBezTo>
                <a:cubicBezTo>
                  <a:pt x="110230" y="151805"/>
                  <a:pt x="98227" y="139801"/>
                  <a:pt x="98227" y="125016"/>
                </a:cubicBezTo>
                <a:cubicBezTo>
                  <a:pt x="98227" y="110230"/>
                  <a:pt x="110230" y="98227"/>
                  <a:pt x="125016" y="98227"/>
                </a:cubicBezTo>
                <a:close/>
                <a:moveTo>
                  <a:pt x="205383" y="125016"/>
                </a:moveTo>
                <a:cubicBezTo>
                  <a:pt x="205383" y="110230"/>
                  <a:pt x="217387" y="98227"/>
                  <a:pt x="232172" y="98227"/>
                </a:cubicBezTo>
                <a:cubicBezTo>
                  <a:pt x="246957" y="98227"/>
                  <a:pt x="258961" y="110230"/>
                  <a:pt x="258961" y="125016"/>
                </a:cubicBezTo>
                <a:cubicBezTo>
                  <a:pt x="258961" y="139801"/>
                  <a:pt x="246957" y="151805"/>
                  <a:pt x="232172" y="151805"/>
                </a:cubicBezTo>
                <a:cubicBezTo>
                  <a:pt x="217387" y="151805"/>
                  <a:pt x="205383" y="139801"/>
                  <a:pt x="205383" y="125016"/>
                </a:cubicBezTo>
                <a:close/>
                <a:moveTo>
                  <a:pt x="35719" y="125016"/>
                </a:moveTo>
                <a:cubicBezTo>
                  <a:pt x="35719" y="115137"/>
                  <a:pt x="27738" y="107156"/>
                  <a:pt x="17859" y="107156"/>
                </a:cubicBezTo>
                <a:cubicBezTo>
                  <a:pt x="7981" y="107156"/>
                  <a:pt x="0" y="115137"/>
                  <a:pt x="0" y="125016"/>
                </a:cubicBezTo>
                <a:lnTo>
                  <a:pt x="0" y="178594"/>
                </a:lnTo>
                <a:cubicBezTo>
                  <a:pt x="0" y="188472"/>
                  <a:pt x="7981" y="196453"/>
                  <a:pt x="17859" y="196453"/>
                </a:cubicBezTo>
                <a:cubicBezTo>
                  <a:pt x="27738" y="196453"/>
                  <a:pt x="35719" y="188472"/>
                  <a:pt x="35719" y="178594"/>
                </a:cubicBezTo>
                <a:lnTo>
                  <a:pt x="35719" y="125016"/>
                </a:lnTo>
                <a:close/>
                <a:moveTo>
                  <a:pt x="339328" y="107156"/>
                </a:moveTo>
                <a:cubicBezTo>
                  <a:pt x="329450" y="107156"/>
                  <a:pt x="321469" y="115137"/>
                  <a:pt x="321469" y="125016"/>
                </a:cubicBezTo>
                <a:lnTo>
                  <a:pt x="321469" y="178594"/>
                </a:lnTo>
                <a:cubicBezTo>
                  <a:pt x="321469" y="188472"/>
                  <a:pt x="329450" y="196453"/>
                  <a:pt x="339328" y="196453"/>
                </a:cubicBezTo>
                <a:cubicBezTo>
                  <a:pt x="349207" y="196453"/>
                  <a:pt x="357188" y="188472"/>
                  <a:pt x="357188" y="178594"/>
                </a:cubicBezTo>
                <a:lnTo>
                  <a:pt x="357188" y="125016"/>
                </a:lnTo>
                <a:cubicBezTo>
                  <a:pt x="357188" y="115137"/>
                  <a:pt x="349207" y="107156"/>
                  <a:pt x="339328" y="107156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6835180" y="1691482"/>
            <a:ext cx="2514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AI Solution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73180" y="2415382"/>
            <a:ext cx="54483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1F5F9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Recent advances in artificial intelligence provide an opportunity to </a:t>
            </a: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 routine academic advising</a:t>
            </a:r>
            <a:r>
              <a:rPr lang="en-US" sz="1500" dirty="0">
                <a:solidFill>
                  <a:srgbClr val="F1F5F9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while maintaining accuracy and accessibility.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076355" y="3652044"/>
            <a:ext cx="5349875" cy="1625600"/>
          </a:xfrm>
          <a:custGeom>
            <a:avLst/>
            <a:gdLst/>
            <a:ahLst/>
            <a:cxnLst/>
            <a:rect l="l" t="t" r="r" b="b"/>
            <a:pathLst>
              <a:path w="5349875" h="1625600">
                <a:moveTo>
                  <a:pt x="152400" y="0"/>
                </a:moveTo>
                <a:lnTo>
                  <a:pt x="5197475" y="0"/>
                </a:lnTo>
                <a:cubicBezTo>
                  <a:pt x="5281643" y="0"/>
                  <a:pt x="5349875" y="68232"/>
                  <a:pt x="5349875" y="152400"/>
                </a:cubicBezTo>
                <a:lnTo>
                  <a:pt x="5349875" y="1473200"/>
                </a:lnTo>
                <a:cubicBezTo>
                  <a:pt x="5349875" y="1557368"/>
                  <a:pt x="5281643" y="1625600"/>
                  <a:pt x="5197475" y="1625600"/>
                </a:cubicBezTo>
                <a:lnTo>
                  <a:pt x="152400" y="1625600"/>
                </a:lnTo>
                <a:cubicBezTo>
                  <a:pt x="68232" y="1625600"/>
                  <a:pt x="0" y="1557368"/>
                  <a:pt x="0" y="14732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1F5F9">
              <a:alpha val="10196"/>
            </a:srgbClr>
          </a:solidFill>
          <a:ln w="8467">
            <a:solidFill>
              <a:srgbClr val="F1F5F9">
                <a:alpha val="2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8130" y="3883819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Proposal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08130" y="4302919"/>
            <a:ext cx="49625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AI-based academic advising system enabling </a:t>
            </a:r>
            <a:r>
              <a:rPr lang="en-US" sz="1200" dirty="0">
                <a:solidFill>
                  <a:srgbClr val="F1F5F9">
                    <a:alpha val="90000"/>
                  </a:srgbClr>
                </a:solidFill>
                <a:highlight>
                  <a:srgbClr val="3D8B8B">
                    <a:alpha val="4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natural language </a:t>
            </a: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</a:t>
            </a:r>
            <a:r>
              <a:rPr lang="en-US" sz="1200" dirty="0">
                <a:solidFill>
                  <a:srgbClr val="F1F5F9">
                    <a:alpha val="90000"/>
                  </a:srgbClr>
                </a:solidFill>
                <a:highlight>
                  <a:srgbClr val="3D8B8B">
                    <a:alpha val="4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voice-based interaction </a:t>
            </a: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with responses grounded in official faculty documents.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D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/ Objectives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A3A5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71600"/>
            <a:ext cx="5600700" cy="4038600"/>
          </a:xfrm>
          <a:custGeom>
            <a:avLst/>
            <a:gdLst/>
            <a:ahLst/>
            <a:cxnLst/>
            <a:rect l="l" t="t" r="r" b="b"/>
            <a:pathLst>
              <a:path w="5600700" h="4038600">
                <a:moveTo>
                  <a:pt x="152417" y="0"/>
                </a:moveTo>
                <a:lnTo>
                  <a:pt x="5448283" y="0"/>
                </a:lnTo>
                <a:cubicBezTo>
                  <a:pt x="5532461" y="0"/>
                  <a:pt x="5600700" y="68239"/>
                  <a:pt x="5600700" y="152417"/>
                </a:cubicBezTo>
                <a:lnTo>
                  <a:pt x="5600700" y="3886183"/>
                </a:lnTo>
                <a:cubicBezTo>
                  <a:pt x="5600700" y="3970361"/>
                  <a:pt x="5532461" y="4038600"/>
                  <a:pt x="5448283" y="4038600"/>
                </a:cubicBezTo>
                <a:lnTo>
                  <a:pt x="152417" y="4038600"/>
                </a:lnTo>
                <a:cubicBezTo>
                  <a:pt x="68239" y="4038600"/>
                  <a:pt x="0" y="3970361"/>
                  <a:pt x="0" y="3886183"/>
                </a:cubicBezTo>
                <a:lnTo>
                  <a:pt x="0" y="152417"/>
                </a:lnTo>
                <a:cubicBezTo>
                  <a:pt x="0" y="68296"/>
                  <a:pt x="68296" y="0"/>
                  <a:pt x="152417" y="0"/>
                </a:cubicBezTo>
                <a:close/>
              </a:path>
            </a:pathLst>
          </a:custGeom>
          <a:gradFill flip="none" rotWithShape="1">
            <a:gsLst>
              <a:gs pos="0">
                <a:srgbClr val="1A3A5C"/>
              </a:gs>
              <a:gs pos="100000">
                <a:srgbClr val="5A7A96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60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52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1695450"/>
            <a:ext cx="26003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1F5F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Primary Objectives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600" y="2324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1F5F9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17252" y="2381250"/>
            <a:ext cx="247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324100"/>
            <a:ext cx="469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Fine-tune Large Language Model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628900"/>
            <a:ext cx="468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faculty and programme information for domain-specific responses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600" y="323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1F5F9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00782" y="3295650"/>
            <a:ext cx="28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238500"/>
            <a:ext cx="3600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RAG Pipeline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543300"/>
            <a:ext cx="3590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Retrieval-Augmented Generation for factual accuracy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600" y="3924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1F5F9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98599" y="3981450"/>
            <a:ext cx="28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3924300"/>
            <a:ext cx="3333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Voice Interaction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4229100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Natural two-way voice-based academic advising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9825" y="1381125"/>
            <a:ext cx="5581650" cy="4019550"/>
          </a:xfrm>
          <a:custGeom>
            <a:avLst/>
            <a:gdLst/>
            <a:ahLst/>
            <a:cxnLst/>
            <a:rect l="l" t="t" r="r" b="b"/>
            <a:pathLst>
              <a:path w="5581650" h="4019550">
                <a:moveTo>
                  <a:pt x="152381" y="0"/>
                </a:moveTo>
                <a:lnTo>
                  <a:pt x="5429269" y="0"/>
                </a:lnTo>
                <a:cubicBezTo>
                  <a:pt x="5513370" y="0"/>
                  <a:pt x="5581650" y="68280"/>
                  <a:pt x="5581650" y="152381"/>
                </a:cubicBezTo>
                <a:lnTo>
                  <a:pt x="5581650" y="3867169"/>
                </a:lnTo>
                <a:cubicBezTo>
                  <a:pt x="5581650" y="3951270"/>
                  <a:pt x="5513370" y="4019550"/>
                  <a:pt x="5429269" y="4019550"/>
                </a:cubicBezTo>
                <a:lnTo>
                  <a:pt x="152381" y="4019550"/>
                </a:lnTo>
                <a:cubicBezTo>
                  <a:pt x="68280" y="4019550"/>
                  <a:pt x="0" y="3951270"/>
                  <a:pt x="0" y="3867169"/>
                </a:cubicBezTo>
                <a:lnTo>
                  <a:pt x="0" y="152381"/>
                </a:lnTo>
                <a:cubicBezTo>
                  <a:pt x="0" y="68280"/>
                  <a:pt x="68280" y="0"/>
                  <a:pt x="152381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3D8B8B">
                <a:alpha val="20000"/>
              </a:srgbClr>
            </a:solidFill>
            <a:prstDash val="solid"/>
          </a:ln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57950" y="16192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D8B8B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610350" y="1771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23" name="Text 21"/>
          <p:cNvSpPr/>
          <p:nvPr/>
        </p:nvSpPr>
        <p:spPr>
          <a:xfrm>
            <a:off x="7143750" y="1714500"/>
            <a:ext cx="2990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3A5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Secondary Objectives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57950" y="2343150"/>
            <a:ext cx="5105400" cy="838200"/>
          </a:xfrm>
          <a:custGeom>
            <a:avLst/>
            <a:gdLst/>
            <a:ahLst/>
            <a:cxnLst/>
            <a:rect l="l" t="t" r="r" b="b"/>
            <a:pathLst>
              <a:path w="5105400" h="838200">
                <a:moveTo>
                  <a:pt x="114297" y="0"/>
                </a:moveTo>
                <a:lnTo>
                  <a:pt x="4991103" y="0"/>
                </a:lnTo>
                <a:cubicBezTo>
                  <a:pt x="5054228" y="0"/>
                  <a:pt x="5105400" y="51172"/>
                  <a:pt x="5105400" y="114297"/>
                </a:cubicBezTo>
                <a:lnTo>
                  <a:pt x="5105400" y="723903"/>
                </a:lnTo>
                <a:cubicBezTo>
                  <a:pt x="5105400" y="787028"/>
                  <a:pt x="5054228" y="838200"/>
                  <a:pt x="4991103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5" name="Shape 23"/>
          <p:cNvSpPr/>
          <p:nvPr/>
        </p:nvSpPr>
        <p:spPr>
          <a:xfrm>
            <a:off x="6610350" y="24955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26" name="Shape 24"/>
          <p:cNvSpPr/>
          <p:nvPr/>
        </p:nvSpPr>
        <p:spPr>
          <a:xfrm>
            <a:off x="6755606" y="26289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58702" y="92273"/>
                  <a:pt x="38695" y="72267"/>
                  <a:pt x="38695" y="47625"/>
                </a:cubicBezTo>
                <a:cubicBezTo>
                  <a:pt x="38695" y="22983"/>
                  <a:pt x="58702" y="2977"/>
                  <a:pt x="83344" y="2977"/>
                </a:cubicBezTo>
                <a:cubicBezTo>
                  <a:pt x="107986" y="2977"/>
                  <a:pt x="127992" y="22983"/>
                  <a:pt x="127992" y="47625"/>
                </a:cubicBezTo>
                <a:cubicBezTo>
                  <a:pt x="127992" y="72267"/>
                  <a:pt x="107986" y="92273"/>
                  <a:pt x="83344" y="92273"/>
                </a:cubicBezTo>
                <a:close/>
                <a:moveTo>
                  <a:pt x="71996" y="113109"/>
                </a:moveTo>
                <a:lnTo>
                  <a:pt x="94692" y="113109"/>
                </a:lnTo>
                <a:cubicBezTo>
                  <a:pt x="98301" y="113109"/>
                  <a:pt x="101203" y="116012"/>
                  <a:pt x="101203" y="119621"/>
                </a:cubicBezTo>
                <a:cubicBezTo>
                  <a:pt x="101203" y="121183"/>
                  <a:pt x="100645" y="122672"/>
                  <a:pt x="99640" y="123862"/>
                </a:cubicBezTo>
                <a:lnTo>
                  <a:pt x="89446" y="135768"/>
                </a:lnTo>
                <a:lnTo>
                  <a:pt x="100980" y="178594"/>
                </a:lnTo>
                <a:lnTo>
                  <a:pt x="101203" y="178594"/>
                </a:lnTo>
                <a:lnTo>
                  <a:pt x="114077" y="127062"/>
                </a:lnTo>
                <a:cubicBezTo>
                  <a:pt x="114895" y="123825"/>
                  <a:pt x="118207" y="121853"/>
                  <a:pt x="121332" y="123044"/>
                </a:cubicBezTo>
                <a:cubicBezTo>
                  <a:pt x="144363" y="131825"/>
                  <a:pt x="160734" y="154149"/>
                  <a:pt x="160734" y="180268"/>
                </a:cubicBezTo>
                <a:cubicBezTo>
                  <a:pt x="160734" y="185886"/>
                  <a:pt x="156158" y="190463"/>
                  <a:pt x="150540" y="190463"/>
                </a:cubicBezTo>
                <a:lnTo>
                  <a:pt x="16148" y="190500"/>
                </a:lnTo>
                <a:cubicBezTo>
                  <a:pt x="10530" y="190500"/>
                  <a:pt x="5953" y="185924"/>
                  <a:pt x="5953" y="180305"/>
                </a:cubicBezTo>
                <a:cubicBezTo>
                  <a:pt x="5953" y="154186"/>
                  <a:pt x="22324" y="131862"/>
                  <a:pt x="45355" y="123081"/>
                </a:cubicBezTo>
                <a:cubicBezTo>
                  <a:pt x="48481" y="121890"/>
                  <a:pt x="51792" y="123862"/>
                  <a:pt x="52611" y="127099"/>
                </a:cubicBezTo>
                <a:lnTo>
                  <a:pt x="65484" y="178631"/>
                </a:lnTo>
                <a:lnTo>
                  <a:pt x="65708" y="178631"/>
                </a:lnTo>
                <a:lnTo>
                  <a:pt x="77242" y="135806"/>
                </a:lnTo>
                <a:lnTo>
                  <a:pt x="67047" y="123899"/>
                </a:lnTo>
                <a:cubicBezTo>
                  <a:pt x="66042" y="122709"/>
                  <a:pt x="65484" y="121221"/>
                  <a:pt x="65484" y="119658"/>
                </a:cubicBezTo>
                <a:cubicBezTo>
                  <a:pt x="65484" y="116049"/>
                  <a:pt x="68387" y="113147"/>
                  <a:pt x="71996" y="113147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7219950" y="2495550"/>
            <a:ext cx="3286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 Staff Workload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19950" y="2800350"/>
            <a:ext cx="327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 routine queries to free up advisor time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57950" y="3333750"/>
            <a:ext cx="5105400" cy="838200"/>
          </a:xfrm>
          <a:custGeom>
            <a:avLst/>
            <a:gdLst/>
            <a:ahLst/>
            <a:cxnLst/>
            <a:rect l="l" t="t" r="r" b="b"/>
            <a:pathLst>
              <a:path w="5105400" h="838200">
                <a:moveTo>
                  <a:pt x="114297" y="0"/>
                </a:moveTo>
                <a:lnTo>
                  <a:pt x="4991103" y="0"/>
                </a:lnTo>
                <a:cubicBezTo>
                  <a:pt x="5054228" y="0"/>
                  <a:pt x="5105400" y="51172"/>
                  <a:pt x="5105400" y="114297"/>
                </a:cubicBezTo>
                <a:lnTo>
                  <a:pt x="5105400" y="723903"/>
                </a:lnTo>
                <a:cubicBezTo>
                  <a:pt x="5105400" y="787028"/>
                  <a:pt x="5054228" y="838200"/>
                  <a:pt x="4991103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0" name="Shape 28"/>
          <p:cNvSpPr/>
          <p:nvPr/>
        </p:nvSpPr>
        <p:spPr>
          <a:xfrm>
            <a:off x="6610350" y="3486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A7A96"/>
          </a:solidFill>
          <a:ln/>
        </p:spPr>
      </p:sp>
      <p:sp>
        <p:nvSpPr>
          <p:cNvPr id="31" name="Shape 29"/>
          <p:cNvSpPr/>
          <p:nvPr/>
        </p:nvSpPr>
        <p:spPr>
          <a:xfrm>
            <a:off x="6743700" y="3619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32" name="Text 30"/>
          <p:cNvSpPr/>
          <p:nvPr/>
        </p:nvSpPr>
        <p:spPr>
          <a:xfrm>
            <a:off x="7219950" y="3486150"/>
            <a:ext cx="3000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 Response Time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19950" y="3790950"/>
            <a:ext cx="2990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answers for students without waiting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57950" y="4324350"/>
            <a:ext cx="5105400" cy="838200"/>
          </a:xfrm>
          <a:custGeom>
            <a:avLst/>
            <a:gdLst/>
            <a:ahLst/>
            <a:cxnLst/>
            <a:rect l="l" t="t" r="r" b="b"/>
            <a:pathLst>
              <a:path w="5105400" h="838200">
                <a:moveTo>
                  <a:pt x="114297" y="0"/>
                </a:moveTo>
                <a:lnTo>
                  <a:pt x="4991103" y="0"/>
                </a:lnTo>
                <a:cubicBezTo>
                  <a:pt x="5054228" y="0"/>
                  <a:pt x="5105400" y="51172"/>
                  <a:pt x="5105400" y="114297"/>
                </a:cubicBezTo>
                <a:lnTo>
                  <a:pt x="5105400" y="723903"/>
                </a:lnTo>
                <a:cubicBezTo>
                  <a:pt x="5105400" y="787028"/>
                  <a:pt x="5054228" y="838200"/>
                  <a:pt x="4991103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10350" y="4476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36" name="Shape 34"/>
          <p:cNvSpPr/>
          <p:nvPr/>
        </p:nvSpPr>
        <p:spPr>
          <a:xfrm>
            <a:off x="6743700" y="46101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1540" y="119769"/>
                </a:moveTo>
                <a:cubicBezTo>
                  <a:pt x="69131" y="130187"/>
                  <a:pt x="81409" y="136922"/>
                  <a:pt x="95250" y="136922"/>
                </a:cubicBezTo>
                <a:cubicBezTo>
                  <a:pt x="109091" y="136922"/>
                  <a:pt x="121369" y="130187"/>
                  <a:pt x="128960" y="119769"/>
                </a:cubicBezTo>
                <a:cubicBezTo>
                  <a:pt x="131862" y="115788"/>
                  <a:pt x="137443" y="114895"/>
                  <a:pt x="141424" y="117797"/>
                </a:cubicBezTo>
                <a:cubicBezTo>
                  <a:pt x="145405" y="120700"/>
                  <a:pt x="146298" y="126281"/>
                  <a:pt x="143396" y="130262"/>
                </a:cubicBezTo>
                <a:cubicBezTo>
                  <a:pt x="132569" y="145107"/>
                  <a:pt x="115044" y="154781"/>
                  <a:pt x="95250" y="154781"/>
                </a:cubicBezTo>
                <a:cubicBezTo>
                  <a:pt x="75456" y="154781"/>
                  <a:pt x="57931" y="145107"/>
                  <a:pt x="47104" y="130262"/>
                </a:cubicBezTo>
                <a:cubicBezTo>
                  <a:pt x="44202" y="126281"/>
                  <a:pt x="45095" y="120700"/>
                  <a:pt x="49076" y="117797"/>
                </a:cubicBezTo>
                <a:cubicBezTo>
                  <a:pt x="53057" y="114895"/>
                  <a:pt x="58638" y="115788"/>
                  <a:pt x="61540" y="119769"/>
                </a:cubicBezTo>
                <a:close/>
                <a:moveTo>
                  <a:pt x="53578" y="77391"/>
                </a:moveTo>
                <a:cubicBezTo>
                  <a:pt x="53578" y="70819"/>
                  <a:pt x="58913" y="65484"/>
                  <a:pt x="65484" y="65484"/>
                </a:cubicBezTo>
                <a:cubicBezTo>
                  <a:pt x="72056" y="65484"/>
                  <a:pt x="77391" y="70819"/>
                  <a:pt x="77391" y="77391"/>
                </a:cubicBezTo>
                <a:cubicBezTo>
                  <a:pt x="77391" y="83962"/>
                  <a:pt x="72056" y="89297"/>
                  <a:pt x="65484" y="89297"/>
                </a:cubicBezTo>
                <a:cubicBezTo>
                  <a:pt x="58913" y="89297"/>
                  <a:pt x="53578" y="83962"/>
                  <a:pt x="53578" y="77391"/>
                </a:cubicBezTo>
                <a:close/>
                <a:moveTo>
                  <a:pt x="125016" y="65484"/>
                </a:moveTo>
                <a:cubicBezTo>
                  <a:pt x="131587" y="65484"/>
                  <a:pt x="136922" y="70819"/>
                  <a:pt x="136922" y="77391"/>
                </a:cubicBezTo>
                <a:cubicBezTo>
                  <a:pt x="136922" y="83962"/>
                  <a:pt x="131587" y="89297"/>
                  <a:pt x="125016" y="89297"/>
                </a:cubicBezTo>
                <a:cubicBezTo>
                  <a:pt x="118444" y="89297"/>
                  <a:pt x="113109" y="83962"/>
                  <a:pt x="113109" y="77391"/>
                </a:cubicBezTo>
                <a:cubicBezTo>
                  <a:pt x="113109" y="70819"/>
                  <a:pt x="118444" y="65484"/>
                  <a:pt x="125016" y="65484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37" name="Text 35"/>
          <p:cNvSpPr/>
          <p:nvPr/>
        </p:nvSpPr>
        <p:spPr>
          <a:xfrm>
            <a:off x="7219950" y="4476750"/>
            <a:ext cx="3095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 Engagement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19950" y="4781550"/>
            <a:ext cx="308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avatar for more interactive user experience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D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/ Project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A3A5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Two-Phase Development Approach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14450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562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7" name="Text 5"/>
          <p:cNvSpPr/>
          <p:nvPr/>
        </p:nvSpPr>
        <p:spPr>
          <a:xfrm>
            <a:off x="859631" y="1695450"/>
            <a:ext cx="2571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1F5F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619250"/>
            <a:ext cx="257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809750"/>
            <a:ext cx="2619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3A5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HIVE Academic Chatbot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6834" y="2781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3A5C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34940" y="28670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08347" y="54173"/>
                </a:moveTo>
                <a:cubicBezTo>
                  <a:pt x="108347" y="66128"/>
                  <a:pt x="104466" y="77171"/>
                  <a:pt x="97929" y="86131"/>
                </a:cubicBezTo>
                <a:lnTo>
                  <a:pt x="130902" y="119129"/>
                </a:lnTo>
                <a:cubicBezTo>
                  <a:pt x="134157" y="122385"/>
                  <a:pt x="134157" y="127672"/>
                  <a:pt x="130902" y="130928"/>
                </a:cubicBezTo>
                <a:cubicBezTo>
                  <a:pt x="127646" y="134183"/>
                  <a:pt x="122359" y="134183"/>
                  <a:pt x="119103" y="130928"/>
                </a:cubicBezTo>
                <a:lnTo>
                  <a:pt x="86131" y="97929"/>
                </a:lnTo>
                <a:cubicBezTo>
                  <a:pt x="77171" y="104466"/>
                  <a:pt x="66128" y="108347"/>
                  <a:pt x="54173" y="108347"/>
                </a:cubicBezTo>
                <a:cubicBezTo>
                  <a:pt x="24248" y="108347"/>
                  <a:pt x="0" y="84099"/>
                  <a:pt x="0" y="54173"/>
                </a:cubicBezTo>
                <a:cubicBezTo>
                  <a:pt x="0" y="24248"/>
                  <a:pt x="24248" y="0"/>
                  <a:pt x="54173" y="0"/>
                </a:cubicBezTo>
                <a:cubicBezTo>
                  <a:pt x="84099" y="0"/>
                  <a:pt x="108347" y="24248"/>
                  <a:pt x="108347" y="54173"/>
                </a:cubicBezTo>
                <a:close/>
                <a:moveTo>
                  <a:pt x="54173" y="91678"/>
                </a:moveTo>
                <a:cubicBezTo>
                  <a:pt x="74873" y="91678"/>
                  <a:pt x="91678" y="74873"/>
                  <a:pt x="91678" y="54173"/>
                </a:cubicBezTo>
                <a:cubicBezTo>
                  <a:pt x="91678" y="33474"/>
                  <a:pt x="74873" y="16669"/>
                  <a:pt x="54173" y="16669"/>
                </a:cubicBezTo>
                <a:cubicBezTo>
                  <a:pt x="33474" y="16669"/>
                  <a:pt x="16669" y="33474"/>
                  <a:pt x="16669" y="54173"/>
                </a:cubicBezTo>
                <a:cubicBezTo>
                  <a:pt x="16669" y="74873"/>
                  <a:pt x="33474" y="91678"/>
                  <a:pt x="54173" y="91678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1065934" y="2743200"/>
            <a:ext cx="3895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RAG Pipeline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65934" y="3009900"/>
            <a:ext cx="3895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Document-grounded responses ensuring factual accuracy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9600" y="3698875"/>
            <a:ext cx="5143500" cy="6350"/>
          </a:xfrm>
          <a:custGeom>
            <a:avLst/>
            <a:gdLst/>
            <a:ahLst/>
            <a:cxnLst/>
            <a:rect l="l" t="t" r="r" b="b"/>
            <a:pathLst>
              <a:path w="5143500" h="6350">
                <a:moveTo>
                  <a:pt x="0" y="0"/>
                </a:moveTo>
                <a:lnTo>
                  <a:pt x="5143500" y="0"/>
                </a:lnTo>
                <a:lnTo>
                  <a:pt x="51435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1A3A5C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38175" y="387350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5A7A96"/>
          </a:solidFill>
          <a:ln/>
        </p:spPr>
      </p:sp>
      <p:sp>
        <p:nvSpPr>
          <p:cNvPr id="20" name="Text 18"/>
          <p:cNvSpPr/>
          <p:nvPr/>
        </p:nvSpPr>
        <p:spPr>
          <a:xfrm>
            <a:off x="876300" y="3854451"/>
            <a:ext cx="198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Timeline: Semester 1 (Week 3-13)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0300" y="1314450"/>
            <a:ext cx="5600700" cy="3609975"/>
          </a:xfrm>
          <a:custGeom>
            <a:avLst/>
            <a:gdLst/>
            <a:ahLst/>
            <a:cxnLst/>
            <a:rect l="l" t="t" r="r" b="b"/>
            <a:pathLst>
              <a:path w="5600700" h="3609975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457562"/>
                </a:lnTo>
                <a:cubicBezTo>
                  <a:pt x="5600700" y="3541737"/>
                  <a:pt x="5532462" y="3609975"/>
                  <a:pt x="5448287" y="3609975"/>
                </a:cubicBezTo>
                <a:lnTo>
                  <a:pt x="152413" y="3609975"/>
                </a:lnTo>
                <a:cubicBezTo>
                  <a:pt x="68238" y="3609975"/>
                  <a:pt x="0" y="3541737"/>
                  <a:pt x="0" y="345756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0300" y="1314450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23" name="Shape 21"/>
          <p:cNvSpPr/>
          <p:nvPr/>
        </p:nvSpPr>
        <p:spPr>
          <a:xfrm>
            <a:off x="6438900" y="1562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24" name="Text 22"/>
          <p:cNvSpPr/>
          <p:nvPr/>
        </p:nvSpPr>
        <p:spPr>
          <a:xfrm>
            <a:off x="6668492" y="1695450"/>
            <a:ext cx="295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1F5F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00900" y="1619250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00900" y="1809750"/>
            <a:ext cx="2505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3A5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 Avatar Development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38900" y="2400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8B8B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527006" y="24860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58419" y="-651"/>
                </a:moveTo>
                <a:cubicBezTo>
                  <a:pt x="63576" y="-3620"/>
                  <a:pt x="69931" y="-3620"/>
                  <a:pt x="75088" y="-651"/>
                </a:cubicBezTo>
                <a:lnTo>
                  <a:pt x="120901" y="25784"/>
                </a:lnTo>
                <a:cubicBezTo>
                  <a:pt x="126057" y="28754"/>
                  <a:pt x="129235" y="34275"/>
                  <a:pt x="129235" y="40213"/>
                </a:cubicBezTo>
                <a:lnTo>
                  <a:pt x="129235" y="93085"/>
                </a:lnTo>
                <a:cubicBezTo>
                  <a:pt x="129235" y="99049"/>
                  <a:pt x="126057" y="104544"/>
                  <a:pt x="120901" y="107513"/>
                </a:cubicBezTo>
                <a:lnTo>
                  <a:pt x="75088" y="134001"/>
                </a:lnTo>
                <a:cubicBezTo>
                  <a:pt x="69931" y="136970"/>
                  <a:pt x="63576" y="136970"/>
                  <a:pt x="58419" y="134001"/>
                </a:cubicBezTo>
                <a:lnTo>
                  <a:pt x="12632" y="107566"/>
                </a:lnTo>
                <a:cubicBezTo>
                  <a:pt x="7475" y="104596"/>
                  <a:pt x="4297" y="99075"/>
                  <a:pt x="4297" y="93137"/>
                </a:cubicBezTo>
                <a:lnTo>
                  <a:pt x="4297" y="40265"/>
                </a:lnTo>
                <a:cubicBezTo>
                  <a:pt x="4297" y="34301"/>
                  <a:pt x="7475" y="28806"/>
                  <a:pt x="12632" y="25837"/>
                </a:cubicBezTo>
                <a:lnTo>
                  <a:pt x="58419" y="-651"/>
                </a:lnTo>
                <a:close/>
                <a:moveTo>
                  <a:pt x="112540" y="93111"/>
                </a:moveTo>
                <a:lnTo>
                  <a:pt x="112540" y="49850"/>
                </a:lnTo>
                <a:lnTo>
                  <a:pt x="75088" y="71467"/>
                </a:lnTo>
                <a:lnTo>
                  <a:pt x="75088" y="114728"/>
                </a:lnTo>
                <a:lnTo>
                  <a:pt x="112540" y="93111"/>
                </a:ln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2362200"/>
            <a:ext cx="2952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Unity-Based Avatar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58000" y="2628900"/>
            <a:ext cx="2952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3D avatar interface with realistic animations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38900" y="304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8B8B">
              <a:alpha val="1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543675" y="313372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50006" y="0"/>
                </a:moveTo>
                <a:cubicBezTo>
                  <a:pt x="36202" y="0"/>
                  <a:pt x="25003" y="11199"/>
                  <a:pt x="25003" y="25003"/>
                </a:cubicBezTo>
                <a:lnTo>
                  <a:pt x="25003" y="58341"/>
                </a:lnTo>
                <a:cubicBezTo>
                  <a:pt x="25003" y="72144"/>
                  <a:pt x="36202" y="83344"/>
                  <a:pt x="50006" y="83344"/>
                </a:cubicBezTo>
                <a:cubicBezTo>
                  <a:pt x="63810" y="83344"/>
                  <a:pt x="75009" y="72144"/>
                  <a:pt x="75009" y="58341"/>
                </a:cubicBezTo>
                <a:lnTo>
                  <a:pt x="75009" y="25003"/>
                </a:lnTo>
                <a:cubicBezTo>
                  <a:pt x="75009" y="11199"/>
                  <a:pt x="63810" y="0"/>
                  <a:pt x="50006" y="0"/>
                </a:cubicBezTo>
                <a:close/>
                <a:moveTo>
                  <a:pt x="12502" y="47923"/>
                </a:moveTo>
                <a:cubicBezTo>
                  <a:pt x="12502" y="44459"/>
                  <a:pt x="9715" y="41672"/>
                  <a:pt x="6251" y="41672"/>
                </a:cubicBezTo>
                <a:cubicBezTo>
                  <a:pt x="2787" y="41672"/>
                  <a:pt x="0" y="44459"/>
                  <a:pt x="0" y="47923"/>
                </a:cubicBezTo>
                <a:lnTo>
                  <a:pt x="0" y="58341"/>
                </a:lnTo>
                <a:cubicBezTo>
                  <a:pt x="0" y="83839"/>
                  <a:pt x="19091" y="104883"/>
                  <a:pt x="43755" y="107956"/>
                </a:cubicBezTo>
                <a:lnTo>
                  <a:pt x="43755" y="120848"/>
                </a:lnTo>
                <a:lnTo>
                  <a:pt x="31254" y="120848"/>
                </a:lnTo>
                <a:cubicBezTo>
                  <a:pt x="27790" y="120848"/>
                  <a:pt x="25003" y="123635"/>
                  <a:pt x="25003" y="127099"/>
                </a:cubicBezTo>
                <a:cubicBezTo>
                  <a:pt x="25003" y="130563"/>
                  <a:pt x="27790" y="133350"/>
                  <a:pt x="31254" y="133350"/>
                </a:cubicBezTo>
                <a:lnTo>
                  <a:pt x="68759" y="133350"/>
                </a:lnTo>
                <a:cubicBezTo>
                  <a:pt x="72223" y="133350"/>
                  <a:pt x="75009" y="130563"/>
                  <a:pt x="75009" y="127099"/>
                </a:cubicBezTo>
                <a:cubicBezTo>
                  <a:pt x="75009" y="123635"/>
                  <a:pt x="72223" y="120848"/>
                  <a:pt x="68759" y="120848"/>
                </a:cubicBezTo>
                <a:lnTo>
                  <a:pt x="56257" y="120848"/>
                </a:lnTo>
                <a:lnTo>
                  <a:pt x="56257" y="107956"/>
                </a:lnTo>
                <a:cubicBezTo>
                  <a:pt x="80922" y="104883"/>
                  <a:pt x="100013" y="83839"/>
                  <a:pt x="100013" y="58341"/>
                </a:cubicBezTo>
                <a:lnTo>
                  <a:pt x="100013" y="47923"/>
                </a:lnTo>
                <a:cubicBezTo>
                  <a:pt x="100013" y="44459"/>
                  <a:pt x="97226" y="41672"/>
                  <a:pt x="93762" y="41672"/>
                </a:cubicBezTo>
                <a:cubicBezTo>
                  <a:pt x="90298" y="41672"/>
                  <a:pt x="87511" y="44459"/>
                  <a:pt x="87511" y="47923"/>
                </a:cubicBezTo>
                <a:lnTo>
                  <a:pt x="87511" y="58341"/>
                </a:lnTo>
                <a:cubicBezTo>
                  <a:pt x="87511" y="79046"/>
                  <a:pt x="70712" y="95845"/>
                  <a:pt x="50006" y="95845"/>
                </a:cubicBezTo>
                <a:cubicBezTo>
                  <a:pt x="29301" y="95845"/>
                  <a:pt x="12502" y="79046"/>
                  <a:pt x="12502" y="58341"/>
                </a:cubicBezTo>
                <a:lnTo>
                  <a:pt x="12502" y="47923"/>
                </a:ln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30099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C"/>
                </a:solidFill>
                <a:latin typeface="Quattrocento Sans" pitchFamily="34" charset="0"/>
              </a:rPr>
              <a:t>Backend Intelligence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58000" y="3276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</a:rPr>
              <a:t>Finetune Model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38900" y="3695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8B8B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527006" y="37814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7164" y="59513"/>
                </a:moveTo>
                <a:cubicBezTo>
                  <a:pt x="20628" y="35291"/>
                  <a:pt x="41490" y="16669"/>
                  <a:pt x="66675" y="16669"/>
                </a:cubicBezTo>
                <a:cubicBezTo>
                  <a:pt x="80479" y="16669"/>
                  <a:pt x="92980" y="22268"/>
                  <a:pt x="102044" y="31306"/>
                </a:cubicBezTo>
                <a:cubicBezTo>
                  <a:pt x="102096" y="31358"/>
                  <a:pt x="102148" y="31410"/>
                  <a:pt x="102200" y="31462"/>
                </a:cubicBezTo>
                <a:lnTo>
                  <a:pt x="104180" y="33337"/>
                </a:lnTo>
                <a:lnTo>
                  <a:pt x="91704" y="33337"/>
                </a:lnTo>
                <a:cubicBezTo>
                  <a:pt x="87094" y="33337"/>
                  <a:pt x="83370" y="37062"/>
                  <a:pt x="83370" y="41672"/>
                </a:cubicBezTo>
                <a:cubicBezTo>
                  <a:pt x="83370" y="46282"/>
                  <a:pt x="87094" y="50006"/>
                  <a:pt x="91704" y="50006"/>
                </a:cubicBezTo>
                <a:lnTo>
                  <a:pt x="125042" y="50006"/>
                </a:lnTo>
                <a:cubicBezTo>
                  <a:pt x="129652" y="50006"/>
                  <a:pt x="133376" y="46282"/>
                  <a:pt x="133376" y="41672"/>
                </a:cubicBezTo>
                <a:lnTo>
                  <a:pt x="133376" y="8334"/>
                </a:lnTo>
                <a:cubicBezTo>
                  <a:pt x="133376" y="3724"/>
                  <a:pt x="129652" y="0"/>
                  <a:pt x="125042" y="0"/>
                </a:cubicBezTo>
                <a:cubicBezTo>
                  <a:pt x="120432" y="0"/>
                  <a:pt x="116707" y="3724"/>
                  <a:pt x="116707" y="8334"/>
                </a:cubicBezTo>
                <a:lnTo>
                  <a:pt x="116707" y="22242"/>
                </a:lnTo>
                <a:lnTo>
                  <a:pt x="113764" y="19456"/>
                </a:lnTo>
                <a:cubicBezTo>
                  <a:pt x="101705" y="7449"/>
                  <a:pt x="85037" y="0"/>
                  <a:pt x="66675" y="0"/>
                </a:cubicBezTo>
                <a:cubicBezTo>
                  <a:pt x="33077" y="0"/>
                  <a:pt x="5287" y="24847"/>
                  <a:pt x="677" y="57169"/>
                </a:cubicBezTo>
                <a:cubicBezTo>
                  <a:pt x="26" y="61726"/>
                  <a:pt x="3177" y="65946"/>
                  <a:pt x="7735" y="66597"/>
                </a:cubicBezTo>
                <a:cubicBezTo>
                  <a:pt x="12293" y="67248"/>
                  <a:pt x="16512" y="64071"/>
                  <a:pt x="17164" y="59539"/>
                </a:cubicBezTo>
                <a:close/>
                <a:moveTo>
                  <a:pt x="132673" y="76181"/>
                </a:moveTo>
                <a:cubicBezTo>
                  <a:pt x="133324" y="71624"/>
                  <a:pt x="130146" y="67404"/>
                  <a:pt x="125615" y="66753"/>
                </a:cubicBezTo>
                <a:cubicBezTo>
                  <a:pt x="121083" y="66102"/>
                  <a:pt x="116838" y="69279"/>
                  <a:pt x="116186" y="73811"/>
                </a:cubicBezTo>
                <a:cubicBezTo>
                  <a:pt x="112722" y="98033"/>
                  <a:pt x="91860" y="116655"/>
                  <a:pt x="66675" y="116655"/>
                </a:cubicBezTo>
                <a:cubicBezTo>
                  <a:pt x="52871" y="116655"/>
                  <a:pt x="40370" y="111056"/>
                  <a:pt x="31306" y="102018"/>
                </a:cubicBezTo>
                <a:cubicBezTo>
                  <a:pt x="31254" y="101966"/>
                  <a:pt x="31202" y="101914"/>
                  <a:pt x="31150" y="101862"/>
                </a:cubicBezTo>
                <a:lnTo>
                  <a:pt x="29170" y="99986"/>
                </a:lnTo>
                <a:lnTo>
                  <a:pt x="41646" y="99986"/>
                </a:lnTo>
                <a:cubicBezTo>
                  <a:pt x="46256" y="99986"/>
                  <a:pt x="49980" y="96262"/>
                  <a:pt x="49980" y="91652"/>
                </a:cubicBezTo>
                <a:cubicBezTo>
                  <a:pt x="49980" y="87042"/>
                  <a:pt x="46256" y="83318"/>
                  <a:pt x="41646" y="83318"/>
                </a:cubicBezTo>
                <a:lnTo>
                  <a:pt x="8334" y="83344"/>
                </a:lnTo>
                <a:cubicBezTo>
                  <a:pt x="6121" y="83344"/>
                  <a:pt x="3985" y="84229"/>
                  <a:pt x="2422" y="85818"/>
                </a:cubicBezTo>
                <a:cubicBezTo>
                  <a:pt x="859" y="87407"/>
                  <a:pt x="-26" y="89516"/>
                  <a:pt x="0" y="91756"/>
                </a:cubicBezTo>
                <a:lnTo>
                  <a:pt x="260" y="124833"/>
                </a:lnTo>
                <a:cubicBezTo>
                  <a:pt x="286" y="129443"/>
                  <a:pt x="4063" y="133142"/>
                  <a:pt x="8673" y="133090"/>
                </a:cubicBezTo>
                <a:cubicBezTo>
                  <a:pt x="13283" y="133037"/>
                  <a:pt x="16981" y="129287"/>
                  <a:pt x="16929" y="124677"/>
                </a:cubicBezTo>
                <a:lnTo>
                  <a:pt x="16825" y="111264"/>
                </a:lnTo>
                <a:lnTo>
                  <a:pt x="19612" y="113894"/>
                </a:lnTo>
                <a:cubicBezTo>
                  <a:pt x="31671" y="125901"/>
                  <a:pt x="48313" y="133350"/>
                  <a:pt x="66675" y="133350"/>
                </a:cubicBezTo>
                <a:cubicBezTo>
                  <a:pt x="100273" y="133350"/>
                  <a:pt x="128063" y="108503"/>
                  <a:pt x="132673" y="76181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0" y="3657600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Lip Synchronisation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58000" y="3924300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facial movement alignment with speech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38900" y="4346575"/>
            <a:ext cx="5143500" cy="6350"/>
          </a:xfrm>
          <a:custGeom>
            <a:avLst/>
            <a:gdLst/>
            <a:ahLst/>
            <a:cxnLst/>
            <a:rect l="l" t="t" r="r" b="b"/>
            <a:pathLst>
              <a:path w="5143500" h="6350">
                <a:moveTo>
                  <a:pt x="0" y="0"/>
                </a:moveTo>
                <a:lnTo>
                  <a:pt x="5143500" y="0"/>
                </a:lnTo>
                <a:lnTo>
                  <a:pt x="51435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467475" y="452120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5A7A96"/>
          </a:solidFill>
          <a:ln/>
        </p:spPr>
      </p:sp>
      <p:sp>
        <p:nvSpPr>
          <p:cNvPr id="41" name="Text 39"/>
          <p:cNvSpPr/>
          <p:nvPr/>
        </p:nvSpPr>
        <p:spPr>
          <a:xfrm>
            <a:off x="6705600" y="4502151"/>
            <a:ext cx="198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Timeline: Semester 2 (Week 1-13)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71500" y="539750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1F5F9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35806" y="555942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45" name="Text 43"/>
          <p:cNvSpPr/>
          <p:nvPr/>
        </p:nvSpPr>
        <p:spPr>
          <a:xfrm>
            <a:off x="1371600" y="5264151"/>
            <a:ext cx="1036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Phased Approach Rationale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371600" y="5645151"/>
            <a:ext cx="10325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phased development ensures </a:t>
            </a: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accuracy and reliability</a:t>
            </a: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established in Phase 1 before introducing visual interaction elements in Phase 2. By validating the backend intelligence first, we minimize risks and ensure a robust foundation for the avatar interface.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407" y="330407"/>
            <a:ext cx="11589008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b="1" kern="0" spc="91" dirty="0">
                <a:solidFill>
                  <a:srgbClr val="3D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/ Literature Review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0407" y="594732"/>
            <a:ext cx="11729431" cy="396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22" b="1" dirty="0">
                <a:solidFill>
                  <a:srgbClr val="1A3A5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Large Language Models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0407" y="1057301"/>
            <a:ext cx="11613789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1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Capabilities and Limitations in Academic Contexts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0407" y="1420748"/>
            <a:ext cx="5666472" cy="3733593"/>
          </a:xfrm>
          <a:custGeom>
            <a:avLst/>
            <a:gdLst/>
            <a:ahLst/>
            <a:cxnLst/>
            <a:rect l="l" t="t" r="r" b="b"/>
            <a:pathLst>
              <a:path w="5666472" h="3733593">
                <a:moveTo>
                  <a:pt x="132169" y="0"/>
                </a:moveTo>
                <a:lnTo>
                  <a:pt x="5534302" y="0"/>
                </a:lnTo>
                <a:cubicBezTo>
                  <a:pt x="5607297" y="0"/>
                  <a:pt x="5666472" y="59174"/>
                  <a:pt x="5666472" y="132169"/>
                </a:cubicBezTo>
                <a:lnTo>
                  <a:pt x="5666472" y="3601424"/>
                </a:lnTo>
                <a:cubicBezTo>
                  <a:pt x="5666472" y="3674419"/>
                  <a:pt x="5607297" y="3733593"/>
                  <a:pt x="5534302" y="3733593"/>
                </a:cubicBezTo>
                <a:lnTo>
                  <a:pt x="132169" y="3733593"/>
                </a:lnTo>
                <a:cubicBezTo>
                  <a:pt x="59174" y="3733593"/>
                  <a:pt x="0" y="3674419"/>
                  <a:pt x="0" y="3601424"/>
                </a:cubicBezTo>
                <a:lnTo>
                  <a:pt x="0" y="132169"/>
                </a:lnTo>
                <a:cubicBezTo>
                  <a:pt x="0" y="59223"/>
                  <a:pt x="59223" y="0"/>
                  <a:pt x="13216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06504" dist="16520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8650" y="1618992"/>
            <a:ext cx="462569" cy="462569"/>
          </a:xfrm>
          <a:custGeom>
            <a:avLst/>
            <a:gdLst/>
            <a:ahLst/>
            <a:cxnLst/>
            <a:rect l="l" t="t" r="r" b="b"/>
            <a:pathLst>
              <a:path w="462569" h="462569">
                <a:moveTo>
                  <a:pt x="99124" y="0"/>
                </a:moveTo>
                <a:lnTo>
                  <a:pt x="363445" y="0"/>
                </a:lnTo>
                <a:cubicBezTo>
                  <a:pt x="418153" y="0"/>
                  <a:pt x="462569" y="44416"/>
                  <a:pt x="462569" y="99124"/>
                </a:cubicBezTo>
                <a:lnTo>
                  <a:pt x="462569" y="363445"/>
                </a:lnTo>
                <a:cubicBezTo>
                  <a:pt x="462569" y="418190"/>
                  <a:pt x="418190" y="462569"/>
                  <a:pt x="363445" y="462569"/>
                </a:cubicBezTo>
                <a:lnTo>
                  <a:pt x="99124" y="462569"/>
                </a:lnTo>
                <a:cubicBezTo>
                  <a:pt x="44416" y="462569"/>
                  <a:pt x="0" y="418153"/>
                  <a:pt x="0" y="363445"/>
                </a:cubicBezTo>
                <a:lnTo>
                  <a:pt x="0" y="99124"/>
                </a:lnTo>
                <a:cubicBezTo>
                  <a:pt x="0" y="44379"/>
                  <a:pt x="44379" y="0"/>
                  <a:pt x="99124" y="0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7" name="Shape 5"/>
          <p:cNvSpPr/>
          <p:nvPr/>
        </p:nvSpPr>
        <p:spPr>
          <a:xfrm>
            <a:off x="660813" y="1751154"/>
            <a:ext cx="198244" cy="198244"/>
          </a:xfrm>
          <a:custGeom>
            <a:avLst/>
            <a:gdLst/>
            <a:ahLst/>
            <a:cxnLst/>
            <a:rect l="l" t="t" r="r" b="b"/>
            <a:pathLst>
              <a:path w="198244" h="198244">
                <a:moveTo>
                  <a:pt x="46463" y="21683"/>
                </a:moveTo>
                <a:cubicBezTo>
                  <a:pt x="46463" y="9719"/>
                  <a:pt x="56182" y="0"/>
                  <a:pt x="68146" y="0"/>
                </a:cubicBezTo>
                <a:lnTo>
                  <a:pt x="77439" y="0"/>
                </a:lnTo>
                <a:cubicBezTo>
                  <a:pt x="84292" y="0"/>
                  <a:pt x="89829" y="5537"/>
                  <a:pt x="89829" y="12390"/>
                </a:cubicBezTo>
                <a:lnTo>
                  <a:pt x="89829" y="185854"/>
                </a:lnTo>
                <a:cubicBezTo>
                  <a:pt x="89829" y="192707"/>
                  <a:pt x="84292" y="198244"/>
                  <a:pt x="77439" y="198244"/>
                </a:cubicBezTo>
                <a:lnTo>
                  <a:pt x="65049" y="198244"/>
                </a:lnTo>
                <a:cubicBezTo>
                  <a:pt x="53510" y="198244"/>
                  <a:pt x="43792" y="190345"/>
                  <a:pt x="41043" y="179659"/>
                </a:cubicBezTo>
                <a:cubicBezTo>
                  <a:pt x="40772" y="179659"/>
                  <a:pt x="40539" y="179659"/>
                  <a:pt x="40268" y="179659"/>
                </a:cubicBezTo>
                <a:cubicBezTo>
                  <a:pt x="23154" y="179659"/>
                  <a:pt x="9293" y="165797"/>
                  <a:pt x="9293" y="148683"/>
                </a:cubicBezTo>
                <a:cubicBezTo>
                  <a:pt x="9293" y="141713"/>
                  <a:pt x="11616" y="135286"/>
                  <a:pt x="15488" y="130098"/>
                </a:cubicBezTo>
                <a:cubicBezTo>
                  <a:pt x="7976" y="124445"/>
                  <a:pt x="3098" y="115462"/>
                  <a:pt x="3098" y="105317"/>
                </a:cubicBezTo>
                <a:cubicBezTo>
                  <a:pt x="3098" y="93353"/>
                  <a:pt x="9912" y="82937"/>
                  <a:pt x="19824" y="77788"/>
                </a:cubicBezTo>
                <a:cubicBezTo>
                  <a:pt x="17075" y="73141"/>
                  <a:pt x="15488" y="67720"/>
                  <a:pt x="15488" y="61951"/>
                </a:cubicBezTo>
                <a:cubicBezTo>
                  <a:pt x="15488" y="44837"/>
                  <a:pt x="29349" y="30976"/>
                  <a:pt x="46463" y="30976"/>
                </a:cubicBezTo>
                <a:lnTo>
                  <a:pt x="46463" y="21683"/>
                </a:lnTo>
                <a:close/>
                <a:moveTo>
                  <a:pt x="151780" y="21683"/>
                </a:moveTo>
                <a:lnTo>
                  <a:pt x="151780" y="30976"/>
                </a:lnTo>
                <a:cubicBezTo>
                  <a:pt x="168895" y="30976"/>
                  <a:pt x="182756" y="44837"/>
                  <a:pt x="182756" y="61951"/>
                </a:cubicBezTo>
                <a:cubicBezTo>
                  <a:pt x="182756" y="67759"/>
                  <a:pt x="181169" y="73180"/>
                  <a:pt x="178420" y="77788"/>
                </a:cubicBezTo>
                <a:cubicBezTo>
                  <a:pt x="188370" y="82937"/>
                  <a:pt x="195146" y="93314"/>
                  <a:pt x="195146" y="105317"/>
                </a:cubicBezTo>
                <a:cubicBezTo>
                  <a:pt x="195146" y="115462"/>
                  <a:pt x="190268" y="124445"/>
                  <a:pt x="182756" y="130098"/>
                </a:cubicBezTo>
                <a:cubicBezTo>
                  <a:pt x="186628" y="135286"/>
                  <a:pt x="188951" y="141713"/>
                  <a:pt x="188951" y="148683"/>
                </a:cubicBezTo>
                <a:cubicBezTo>
                  <a:pt x="188951" y="165797"/>
                  <a:pt x="175090" y="179659"/>
                  <a:pt x="157976" y="179659"/>
                </a:cubicBezTo>
                <a:cubicBezTo>
                  <a:pt x="157705" y="179659"/>
                  <a:pt x="157472" y="179659"/>
                  <a:pt x="157201" y="179659"/>
                </a:cubicBezTo>
                <a:cubicBezTo>
                  <a:pt x="154452" y="190345"/>
                  <a:pt x="144734" y="198244"/>
                  <a:pt x="133195" y="198244"/>
                </a:cubicBezTo>
                <a:lnTo>
                  <a:pt x="120805" y="198244"/>
                </a:lnTo>
                <a:cubicBezTo>
                  <a:pt x="113952" y="198244"/>
                  <a:pt x="108415" y="192707"/>
                  <a:pt x="108415" y="185854"/>
                </a:cubicBezTo>
                <a:lnTo>
                  <a:pt x="108415" y="12390"/>
                </a:lnTo>
                <a:cubicBezTo>
                  <a:pt x="108415" y="5537"/>
                  <a:pt x="113952" y="0"/>
                  <a:pt x="120805" y="0"/>
                </a:cubicBezTo>
                <a:lnTo>
                  <a:pt x="130098" y="0"/>
                </a:lnTo>
                <a:cubicBezTo>
                  <a:pt x="142062" y="0"/>
                  <a:pt x="151780" y="9719"/>
                  <a:pt x="151780" y="21683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1123382" y="1718114"/>
            <a:ext cx="1172943" cy="26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1" b="1" dirty="0">
                <a:solidFill>
                  <a:srgbClr val="1A3A5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Capabilities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5171" y="2246764"/>
            <a:ext cx="5253463" cy="958179"/>
          </a:xfrm>
          <a:custGeom>
            <a:avLst/>
            <a:gdLst/>
            <a:ahLst/>
            <a:cxnLst/>
            <a:rect l="l" t="t" r="r" b="b"/>
            <a:pathLst>
              <a:path w="5253463" h="958179">
                <a:moveTo>
                  <a:pt x="33041" y="0"/>
                </a:moveTo>
                <a:lnTo>
                  <a:pt x="5154340" y="0"/>
                </a:lnTo>
                <a:cubicBezTo>
                  <a:pt x="5209084" y="0"/>
                  <a:pt x="5253463" y="44379"/>
                  <a:pt x="5253463" y="99124"/>
                </a:cubicBezTo>
                <a:lnTo>
                  <a:pt x="5253463" y="859055"/>
                </a:lnTo>
                <a:cubicBezTo>
                  <a:pt x="5253463" y="913800"/>
                  <a:pt x="5209084" y="958179"/>
                  <a:pt x="5154340" y="958179"/>
                </a:cubicBezTo>
                <a:lnTo>
                  <a:pt x="33041" y="958179"/>
                </a:lnTo>
                <a:cubicBezTo>
                  <a:pt x="14793" y="958179"/>
                  <a:pt x="0" y="943386"/>
                  <a:pt x="0" y="925138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3D8B8B">
              <a:alpha val="5098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45171" y="2246764"/>
            <a:ext cx="33041" cy="958179"/>
          </a:xfrm>
          <a:custGeom>
            <a:avLst/>
            <a:gdLst/>
            <a:ahLst/>
            <a:cxnLst/>
            <a:rect l="l" t="t" r="r" b="b"/>
            <a:pathLst>
              <a:path w="33041" h="958179">
                <a:moveTo>
                  <a:pt x="33041" y="0"/>
                </a:moveTo>
                <a:lnTo>
                  <a:pt x="33041" y="0"/>
                </a:lnTo>
                <a:lnTo>
                  <a:pt x="33041" y="958179"/>
                </a:lnTo>
                <a:lnTo>
                  <a:pt x="33041" y="958179"/>
                </a:lnTo>
                <a:cubicBezTo>
                  <a:pt x="14793" y="958179"/>
                  <a:pt x="0" y="943386"/>
                  <a:pt x="0" y="925138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11" name="Text 9"/>
          <p:cNvSpPr/>
          <p:nvPr/>
        </p:nvSpPr>
        <p:spPr>
          <a:xfrm>
            <a:off x="693854" y="2378927"/>
            <a:ext cx="5038699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Natural Language Understanding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3854" y="2643252"/>
            <a:ext cx="5038699" cy="429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1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LLMs demonstrate strong performance in understanding context and generating human-like responses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5171" y="3337106"/>
            <a:ext cx="5253463" cy="743415"/>
          </a:xfrm>
          <a:custGeom>
            <a:avLst/>
            <a:gdLst/>
            <a:ahLst/>
            <a:cxnLst/>
            <a:rect l="l" t="t" r="r" b="b"/>
            <a:pathLst>
              <a:path w="5253463" h="743415">
                <a:moveTo>
                  <a:pt x="33041" y="0"/>
                </a:moveTo>
                <a:lnTo>
                  <a:pt x="5154344" y="0"/>
                </a:lnTo>
                <a:cubicBezTo>
                  <a:pt x="5209086" y="0"/>
                  <a:pt x="5253463" y="44377"/>
                  <a:pt x="5253463" y="99119"/>
                </a:cubicBezTo>
                <a:lnTo>
                  <a:pt x="5253463" y="644295"/>
                </a:lnTo>
                <a:cubicBezTo>
                  <a:pt x="5253463" y="699037"/>
                  <a:pt x="5209086" y="743415"/>
                  <a:pt x="5154344" y="743415"/>
                </a:cubicBezTo>
                <a:lnTo>
                  <a:pt x="33041" y="743415"/>
                </a:lnTo>
                <a:cubicBezTo>
                  <a:pt x="14805" y="743415"/>
                  <a:pt x="0" y="728610"/>
                  <a:pt x="0" y="710374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3D8B8B">
              <a:alpha val="5098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45171" y="3337106"/>
            <a:ext cx="33041" cy="743415"/>
          </a:xfrm>
          <a:custGeom>
            <a:avLst/>
            <a:gdLst/>
            <a:ahLst/>
            <a:cxnLst/>
            <a:rect l="l" t="t" r="r" b="b"/>
            <a:pathLst>
              <a:path w="33041" h="743415">
                <a:moveTo>
                  <a:pt x="33041" y="0"/>
                </a:moveTo>
                <a:lnTo>
                  <a:pt x="33041" y="0"/>
                </a:lnTo>
                <a:lnTo>
                  <a:pt x="33041" y="743415"/>
                </a:lnTo>
                <a:lnTo>
                  <a:pt x="33041" y="743415"/>
                </a:lnTo>
                <a:cubicBezTo>
                  <a:pt x="14805" y="743415"/>
                  <a:pt x="0" y="728610"/>
                  <a:pt x="0" y="710374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15" name="Text 13"/>
          <p:cNvSpPr/>
          <p:nvPr/>
        </p:nvSpPr>
        <p:spPr>
          <a:xfrm>
            <a:off x="693854" y="3469268"/>
            <a:ext cx="5038699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Conversational Tasks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3854" y="3733593"/>
            <a:ext cx="5038699" cy="2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1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Effective at maintaining dialogue context and responding appropriately to user queries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5171" y="4212683"/>
            <a:ext cx="5253463" cy="743415"/>
          </a:xfrm>
          <a:custGeom>
            <a:avLst/>
            <a:gdLst/>
            <a:ahLst/>
            <a:cxnLst/>
            <a:rect l="l" t="t" r="r" b="b"/>
            <a:pathLst>
              <a:path w="5253463" h="743415">
                <a:moveTo>
                  <a:pt x="33041" y="0"/>
                </a:moveTo>
                <a:lnTo>
                  <a:pt x="5154344" y="0"/>
                </a:lnTo>
                <a:cubicBezTo>
                  <a:pt x="5209086" y="0"/>
                  <a:pt x="5253463" y="44377"/>
                  <a:pt x="5253463" y="99119"/>
                </a:cubicBezTo>
                <a:lnTo>
                  <a:pt x="5253463" y="644295"/>
                </a:lnTo>
                <a:cubicBezTo>
                  <a:pt x="5253463" y="699037"/>
                  <a:pt x="5209086" y="743415"/>
                  <a:pt x="5154344" y="743415"/>
                </a:cubicBezTo>
                <a:lnTo>
                  <a:pt x="33041" y="743415"/>
                </a:lnTo>
                <a:cubicBezTo>
                  <a:pt x="14805" y="743415"/>
                  <a:pt x="0" y="728610"/>
                  <a:pt x="0" y="710374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3D8B8B">
              <a:alpha val="5098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45171" y="4212683"/>
            <a:ext cx="33041" cy="743415"/>
          </a:xfrm>
          <a:custGeom>
            <a:avLst/>
            <a:gdLst/>
            <a:ahLst/>
            <a:cxnLst/>
            <a:rect l="l" t="t" r="r" b="b"/>
            <a:pathLst>
              <a:path w="33041" h="743415">
                <a:moveTo>
                  <a:pt x="33041" y="0"/>
                </a:moveTo>
                <a:lnTo>
                  <a:pt x="33041" y="0"/>
                </a:lnTo>
                <a:lnTo>
                  <a:pt x="33041" y="743415"/>
                </a:lnTo>
                <a:lnTo>
                  <a:pt x="33041" y="743415"/>
                </a:lnTo>
                <a:cubicBezTo>
                  <a:pt x="14805" y="743415"/>
                  <a:pt x="0" y="728610"/>
                  <a:pt x="0" y="710374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19" name="Text 17"/>
          <p:cNvSpPr/>
          <p:nvPr/>
        </p:nvSpPr>
        <p:spPr>
          <a:xfrm>
            <a:off x="693854" y="4344846"/>
            <a:ext cx="5038699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Few-Shot Learning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3854" y="4609171"/>
            <a:ext cx="5038699" cy="2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1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perform diverse tasks with minimal examples (Brown et al., 2020)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93229" y="1420748"/>
            <a:ext cx="5666472" cy="3733593"/>
          </a:xfrm>
          <a:custGeom>
            <a:avLst/>
            <a:gdLst/>
            <a:ahLst/>
            <a:cxnLst/>
            <a:rect l="l" t="t" r="r" b="b"/>
            <a:pathLst>
              <a:path w="5666472" h="3733593">
                <a:moveTo>
                  <a:pt x="132169" y="0"/>
                </a:moveTo>
                <a:lnTo>
                  <a:pt x="5534302" y="0"/>
                </a:lnTo>
                <a:cubicBezTo>
                  <a:pt x="5607297" y="0"/>
                  <a:pt x="5666472" y="59174"/>
                  <a:pt x="5666472" y="132169"/>
                </a:cubicBezTo>
                <a:lnTo>
                  <a:pt x="5666472" y="3601424"/>
                </a:lnTo>
                <a:cubicBezTo>
                  <a:pt x="5666472" y="3674419"/>
                  <a:pt x="5607297" y="3733593"/>
                  <a:pt x="5534302" y="3733593"/>
                </a:cubicBezTo>
                <a:lnTo>
                  <a:pt x="132169" y="3733593"/>
                </a:lnTo>
                <a:cubicBezTo>
                  <a:pt x="59174" y="3733593"/>
                  <a:pt x="0" y="3674419"/>
                  <a:pt x="0" y="3601424"/>
                </a:cubicBezTo>
                <a:lnTo>
                  <a:pt x="0" y="132169"/>
                </a:lnTo>
                <a:cubicBezTo>
                  <a:pt x="0" y="59223"/>
                  <a:pt x="59223" y="0"/>
                  <a:pt x="13216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06504" dist="16520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91473" y="1618992"/>
            <a:ext cx="462569" cy="462569"/>
          </a:xfrm>
          <a:custGeom>
            <a:avLst/>
            <a:gdLst/>
            <a:ahLst/>
            <a:cxnLst/>
            <a:rect l="l" t="t" r="r" b="b"/>
            <a:pathLst>
              <a:path w="462569" h="462569">
                <a:moveTo>
                  <a:pt x="99124" y="0"/>
                </a:moveTo>
                <a:lnTo>
                  <a:pt x="363445" y="0"/>
                </a:lnTo>
                <a:cubicBezTo>
                  <a:pt x="418153" y="0"/>
                  <a:pt x="462569" y="44416"/>
                  <a:pt x="462569" y="99124"/>
                </a:cubicBezTo>
                <a:lnTo>
                  <a:pt x="462569" y="363445"/>
                </a:lnTo>
                <a:cubicBezTo>
                  <a:pt x="462569" y="418190"/>
                  <a:pt x="418190" y="462569"/>
                  <a:pt x="363445" y="462569"/>
                </a:cubicBezTo>
                <a:lnTo>
                  <a:pt x="99124" y="462569"/>
                </a:lnTo>
                <a:cubicBezTo>
                  <a:pt x="44416" y="462569"/>
                  <a:pt x="0" y="418153"/>
                  <a:pt x="0" y="363445"/>
                </a:cubicBezTo>
                <a:lnTo>
                  <a:pt x="0" y="99124"/>
                </a:lnTo>
                <a:cubicBezTo>
                  <a:pt x="0" y="44379"/>
                  <a:pt x="44379" y="0"/>
                  <a:pt x="99124" y="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23" name="Shape 21"/>
          <p:cNvSpPr/>
          <p:nvPr/>
        </p:nvSpPr>
        <p:spPr>
          <a:xfrm>
            <a:off x="6523636" y="1751154"/>
            <a:ext cx="198244" cy="198244"/>
          </a:xfrm>
          <a:custGeom>
            <a:avLst/>
            <a:gdLst/>
            <a:ahLst/>
            <a:cxnLst/>
            <a:rect l="l" t="t" r="r" b="b"/>
            <a:pathLst>
              <a:path w="198244" h="198244">
                <a:moveTo>
                  <a:pt x="99122" y="0"/>
                </a:moveTo>
                <a:cubicBezTo>
                  <a:pt x="104814" y="0"/>
                  <a:pt x="110041" y="3136"/>
                  <a:pt x="112751" y="8131"/>
                </a:cubicBezTo>
                <a:lnTo>
                  <a:pt x="196385" y="163009"/>
                </a:lnTo>
                <a:cubicBezTo>
                  <a:pt x="198980" y="167810"/>
                  <a:pt x="198863" y="173618"/>
                  <a:pt x="196076" y="178303"/>
                </a:cubicBezTo>
                <a:cubicBezTo>
                  <a:pt x="193288" y="182988"/>
                  <a:pt x="188216" y="185854"/>
                  <a:pt x="182756" y="185854"/>
                </a:cubicBezTo>
                <a:lnTo>
                  <a:pt x="15488" y="185854"/>
                </a:lnTo>
                <a:cubicBezTo>
                  <a:pt x="10028" y="185854"/>
                  <a:pt x="4995" y="182988"/>
                  <a:pt x="2168" y="178303"/>
                </a:cubicBezTo>
                <a:cubicBezTo>
                  <a:pt x="-658" y="173618"/>
                  <a:pt x="-736" y="167810"/>
                  <a:pt x="1859" y="163009"/>
                </a:cubicBezTo>
                <a:lnTo>
                  <a:pt x="85493" y="8131"/>
                </a:lnTo>
                <a:cubicBezTo>
                  <a:pt x="88203" y="3136"/>
                  <a:pt x="93430" y="0"/>
                  <a:pt x="99122" y="0"/>
                </a:cubicBezTo>
                <a:close/>
                <a:moveTo>
                  <a:pt x="99122" y="65049"/>
                </a:moveTo>
                <a:cubicBezTo>
                  <a:pt x="93972" y="65049"/>
                  <a:pt x="89829" y="69192"/>
                  <a:pt x="89829" y="74341"/>
                </a:cubicBezTo>
                <a:lnTo>
                  <a:pt x="89829" y="117707"/>
                </a:lnTo>
                <a:cubicBezTo>
                  <a:pt x="89829" y="122857"/>
                  <a:pt x="93972" y="127000"/>
                  <a:pt x="99122" y="127000"/>
                </a:cubicBezTo>
                <a:cubicBezTo>
                  <a:pt x="104272" y="127000"/>
                  <a:pt x="108415" y="122857"/>
                  <a:pt x="108415" y="117707"/>
                </a:cubicBezTo>
                <a:lnTo>
                  <a:pt x="108415" y="74341"/>
                </a:lnTo>
                <a:cubicBezTo>
                  <a:pt x="108415" y="69192"/>
                  <a:pt x="104272" y="65049"/>
                  <a:pt x="99122" y="65049"/>
                </a:cubicBezTo>
                <a:close/>
                <a:moveTo>
                  <a:pt x="109460" y="148683"/>
                </a:moveTo>
                <a:cubicBezTo>
                  <a:pt x="109695" y="144846"/>
                  <a:pt x="107782" y="141195"/>
                  <a:pt x="104492" y="139205"/>
                </a:cubicBezTo>
                <a:cubicBezTo>
                  <a:pt x="101202" y="137215"/>
                  <a:pt x="97080" y="137215"/>
                  <a:pt x="93791" y="139205"/>
                </a:cubicBezTo>
                <a:cubicBezTo>
                  <a:pt x="90501" y="141195"/>
                  <a:pt x="88587" y="144846"/>
                  <a:pt x="88823" y="148683"/>
                </a:cubicBezTo>
                <a:cubicBezTo>
                  <a:pt x="88587" y="152520"/>
                  <a:pt x="90501" y="156171"/>
                  <a:pt x="93791" y="158161"/>
                </a:cubicBezTo>
                <a:cubicBezTo>
                  <a:pt x="97080" y="160151"/>
                  <a:pt x="101202" y="160151"/>
                  <a:pt x="104492" y="158161"/>
                </a:cubicBezTo>
                <a:cubicBezTo>
                  <a:pt x="107782" y="156171"/>
                  <a:pt x="109695" y="152520"/>
                  <a:pt x="109460" y="148683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6986205" y="1718114"/>
            <a:ext cx="1115122" cy="26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1" b="1" dirty="0">
                <a:solidFill>
                  <a:srgbClr val="1A3A5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7994" y="2246764"/>
            <a:ext cx="5253463" cy="743415"/>
          </a:xfrm>
          <a:custGeom>
            <a:avLst/>
            <a:gdLst/>
            <a:ahLst/>
            <a:cxnLst/>
            <a:rect l="l" t="t" r="r" b="b"/>
            <a:pathLst>
              <a:path w="5253463" h="743415">
                <a:moveTo>
                  <a:pt x="33041" y="0"/>
                </a:moveTo>
                <a:lnTo>
                  <a:pt x="5154344" y="0"/>
                </a:lnTo>
                <a:cubicBezTo>
                  <a:pt x="5209086" y="0"/>
                  <a:pt x="5253463" y="44377"/>
                  <a:pt x="5253463" y="99119"/>
                </a:cubicBezTo>
                <a:lnTo>
                  <a:pt x="5253463" y="644295"/>
                </a:lnTo>
                <a:cubicBezTo>
                  <a:pt x="5253463" y="699037"/>
                  <a:pt x="5209086" y="743415"/>
                  <a:pt x="5154344" y="743415"/>
                </a:cubicBezTo>
                <a:lnTo>
                  <a:pt x="33041" y="743415"/>
                </a:lnTo>
                <a:cubicBezTo>
                  <a:pt x="14805" y="743415"/>
                  <a:pt x="0" y="728610"/>
                  <a:pt x="0" y="710374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1A3A5C">
              <a:alpha val="5098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407994" y="2246764"/>
            <a:ext cx="33041" cy="743415"/>
          </a:xfrm>
          <a:custGeom>
            <a:avLst/>
            <a:gdLst/>
            <a:ahLst/>
            <a:cxnLst/>
            <a:rect l="l" t="t" r="r" b="b"/>
            <a:pathLst>
              <a:path w="33041" h="743415">
                <a:moveTo>
                  <a:pt x="33041" y="0"/>
                </a:moveTo>
                <a:lnTo>
                  <a:pt x="33041" y="0"/>
                </a:lnTo>
                <a:lnTo>
                  <a:pt x="33041" y="743415"/>
                </a:lnTo>
                <a:lnTo>
                  <a:pt x="33041" y="743415"/>
                </a:lnTo>
                <a:cubicBezTo>
                  <a:pt x="14805" y="743415"/>
                  <a:pt x="0" y="728610"/>
                  <a:pt x="0" y="710374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6556676" y="2378927"/>
            <a:ext cx="5038699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Probabilistic Generation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56676" y="2643252"/>
            <a:ext cx="5038699" cy="2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1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Responses based on language patterns rather than verified knowledge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7994" y="3122341"/>
            <a:ext cx="5253463" cy="958179"/>
          </a:xfrm>
          <a:custGeom>
            <a:avLst/>
            <a:gdLst/>
            <a:ahLst/>
            <a:cxnLst/>
            <a:rect l="l" t="t" r="r" b="b"/>
            <a:pathLst>
              <a:path w="5253463" h="958179">
                <a:moveTo>
                  <a:pt x="33041" y="0"/>
                </a:moveTo>
                <a:lnTo>
                  <a:pt x="5154340" y="0"/>
                </a:lnTo>
                <a:cubicBezTo>
                  <a:pt x="5209084" y="0"/>
                  <a:pt x="5253463" y="44379"/>
                  <a:pt x="5253463" y="99124"/>
                </a:cubicBezTo>
                <a:lnTo>
                  <a:pt x="5253463" y="859055"/>
                </a:lnTo>
                <a:cubicBezTo>
                  <a:pt x="5253463" y="913800"/>
                  <a:pt x="5209084" y="958179"/>
                  <a:pt x="5154340" y="958179"/>
                </a:cubicBezTo>
                <a:lnTo>
                  <a:pt x="33041" y="958179"/>
                </a:lnTo>
                <a:cubicBezTo>
                  <a:pt x="14793" y="958179"/>
                  <a:pt x="0" y="943386"/>
                  <a:pt x="0" y="925138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1A3A5C">
              <a:alpha val="5098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07994" y="3122341"/>
            <a:ext cx="33041" cy="958179"/>
          </a:xfrm>
          <a:custGeom>
            <a:avLst/>
            <a:gdLst/>
            <a:ahLst/>
            <a:cxnLst/>
            <a:rect l="l" t="t" r="r" b="b"/>
            <a:pathLst>
              <a:path w="33041" h="958179">
                <a:moveTo>
                  <a:pt x="33041" y="0"/>
                </a:moveTo>
                <a:lnTo>
                  <a:pt x="33041" y="0"/>
                </a:lnTo>
                <a:lnTo>
                  <a:pt x="33041" y="958179"/>
                </a:lnTo>
                <a:lnTo>
                  <a:pt x="33041" y="958179"/>
                </a:lnTo>
                <a:cubicBezTo>
                  <a:pt x="14793" y="958179"/>
                  <a:pt x="0" y="943386"/>
                  <a:pt x="0" y="925138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6556676" y="3254504"/>
            <a:ext cx="5038699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Hallucination Risk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56676" y="3518829"/>
            <a:ext cx="5038699" cy="429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1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generate incorrect or fabricated information in domain-specific tasks (OpenAI, 2023)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07994" y="4212683"/>
            <a:ext cx="5253463" cy="743415"/>
          </a:xfrm>
          <a:custGeom>
            <a:avLst/>
            <a:gdLst/>
            <a:ahLst/>
            <a:cxnLst/>
            <a:rect l="l" t="t" r="r" b="b"/>
            <a:pathLst>
              <a:path w="5253463" h="743415">
                <a:moveTo>
                  <a:pt x="33041" y="0"/>
                </a:moveTo>
                <a:lnTo>
                  <a:pt x="5154344" y="0"/>
                </a:lnTo>
                <a:cubicBezTo>
                  <a:pt x="5209086" y="0"/>
                  <a:pt x="5253463" y="44377"/>
                  <a:pt x="5253463" y="99119"/>
                </a:cubicBezTo>
                <a:lnTo>
                  <a:pt x="5253463" y="644295"/>
                </a:lnTo>
                <a:cubicBezTo>
                  <a:pt x="5253463" y="699037"/>
                  <a:pt x="5209086" y="743415"/>
                  <a:pt x="5154344" y="743415"/>
                </a:cubicBezTo>
                <a:lnTo>
                  <a:pt x="33041" y="743415"/>
                </a:lnTo>
                <a:cubicBezTo>
                  <a:pt x="14805" y="743415"/>
                  <a:pt x="0" y="728610"/>
                  <a:pt x="0" y="710374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1A3A5C">
              <a:alpha val="5098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407994" y="4212683"/>
            <a:ext cx="33041" cy="743415"/>
          </a:xfrm>
          <a:custGeom>
            <a:avLst/>
            <a:gdLst/>
            <a:ahLst/>
            <a:cxnLst/>
            <a:rect l="l" t="t" r="r" b="b"/>
            <a:pathLst>
              <a:path w="33041" h="743415">
                <a:moveTo>
                  <a:pt x="33041" y="0"/>
                </a:moveTo>
                <a:lnTo>
                  <a:pt x="33041" y="0"/>
                </a:lnTo>
                <a:lnTo>
                  <a:pt x="33041" y="743415"/>
                </a:lnTo>
                <a:lnTo>
                  <a:pt x="33041" y="743415"/>
                </a:lnTo>
                <a:cubicBezTo>
                  <a:pt x="14805" y="743415"/>
                  <a:pt x="0" y="728610"/>
                  <a:pt x="0" y="710374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6556676" y="4344846"/>
            <a:ext cx="5038699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 Advising Challenge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56676" y="4609171"/>
            <a:ext cx="5038699" cy="2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1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need for factual accuracy in educational contexts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30407" y="5286504"/>
            <a:ext cx="11531187" cy="1024260"/>
          </a:xfrm>
          <a:custGeom>
            <a:avLst/>
            <a:gdLst/>
            <a:ahLst/>
            <a:cxnLst/>
            <a:rect l="l" t="t" r="r" b="b"/>
            <a:pathLst>
              <a:path w="11531187" h="1024260">
                <a:moveTo>
                  <a:pt x="99118" y="0"/>
                </a:moveTo>
                <a:lnTo>
                  <a:pt x="11432069" y="0"/>
                </a:lnTo>
                <a:cubicBezTo>
                  <a:pt x="11486811" y="0"/>
                  <a:pt x="11531187" y="44376"/>
                  <a:pt x="11531187" y="99118"/>
                </a:cubicBezTo>
                <a:lnTo>
                  <a:pt x="11531187" y="925143"/>
                </a:lnTo>
                <a:cubicBezTo>
                  <a:pt x="11531187" y="979884"/>
                  <a:pt x="11486811" y="1024260"/>
                  <a:pt x="11432069" y="1024260"/>
                </a:cubicBezTo>
                <a:lnTo>
                  <a:pt x="99118" y="1024260"/>
                </a:lnTo>
                <a:cubicBezTo>
                  <a:pt x="44376" y="1024260"/>
                  <a:pt x="0" y="979884"/>
                  <a:pt x="0" y="925143"/>
                </a:cubicBezTo>
                <a:lnTo>
                  <a:pt x="0" y="99118"/>
                </a:lnTo>
                <a:cubicBezTo>
                  <a:pt x="0" y="44376"/>
                  <a:pt x="44376" y="0"/>
                  <a:pt x="99118" y="0"/>
                </a:cubicBezTo>
                <a:close/>
              </a:path>
            </a:pathLst>
          </a:custGeom>
          <a:gradFill flip="none" rotWithShape="1">
            <a:gsLst>
              <a:gs pos="0">
                <a:srgbClr val="1A3A5C"/>
              </a:gs>
              <a:gs pos="100000">
                <a:srgbClr val="5A7A96"/>
              </a:gs>
            </a:gsLst>
            <a:lin ang="0" scaled="1"/>
          </a:gradFill>
          <a:ln/>
        </p:spPr>
      </p:sp>
      <p:sp>
        <p:nvSpPr>
          <p:cNvPr id="38" name="Shape 36"/>
          <p:cNvSpPr/>
          <p:nvPr/>
        </p:nvSpPr>
        <p:spPr>
          <a:xfrm>
            <a:off x="532780" y="5451707"/>
            <a:ext cx="173463" cy="198244"/>
          </a:xfrm>
          <a:custGeom>
            <a:avLst/>
            <a:gdLst/>
            <a:ahLst/>
            <a:cxnLst/>
            <a:rect l="l" t="t" r="r" b="b"/>
            <a:pathLst>
              <a:path w="173463" h="198244">
                <a:moveTo>
                  <a:pt x="0" y="83634"/>
                </a:moveTo>
                <a:cubicBezTo>
                  <a:pt x="0" y="57963"/>
                  <a:pt x="20792" y="37171"/>
                  <a:pt x="46463" y="37171"/>
                </a:cubicBezTo>
                <a:lnTo>
                  <a:pt x="49561" y="37171"/>
                </a:lnTo>
                <a:cubicBezTo>
                  <a:pt x="56414" y="37171"/>
                  <a:pt x="61951" y="42708"/>
                  <a:pt x="61951" y="49561"/>
                </a:cubicBezTo>
                <a:cubicBezTo>
                  <a:pt x="61951" y="56414"/>
                  <a:pt x="56414" y="61951"/>
                  <a:pt x="49561" y="61951"/>
                </a:cubicBezTo>
                <a:lnTo>
                  <a:pt x="46463" y="61951"/>
                </a:lnTo>
                <a:cubicBezTo>
                  <a:pt x="34499" y="61951"/>
                  <a:pt x="24780" y="71670"/>
                  <a:pt x="24780" y="83634"/>
                </a:cubicBezTo>
                <a:lnTo>
                  <a:pt x="24780" y="86732"/>
                </a:lnTo>
                <a:lnTo>
                  <a:pt x="49561" y="86732"/>
                </a:lnTo>
                <a:cubicBezTo>
                  <a:pt x="63229" y="86732"/>
                  <a:pt x="74341" y="97844"/>
                  <a:pt x="74341" y="111512"/>
                </a:cubicBezTo>
                <a:lnTo>
                  <a:pt x="74341" y="136293"/>
                </a:lnTo>
                <a:cubicBezTo>
                  <a:pt x="74341" y="149961"/>
                  <a:pt x="63229" y="161073"/>
                  <a:pt x="49561" y="161073"/>
                </a:cubicBezTo>
                <a:lnTo>
                  <a:pt x="24780" y="161073"/>
                </a:lnTo>
                <a:cubicBezTo>
                  <a:pt x="11113" y="161073"/>
                  <a:pt x="0" y="149961"/>
                  <a:pt x="0" y="136293"/>
                </a:cubicBezTo>
                <a:lnTo>
                  <a:pt x="0" y="83634"/>
                </a:lnTo>
                <a:close/>
                <a:moveTo>
                  <a:pt x="99122" y="83634"/>
                </a:moveTo>
                <a:cubicBezTo>
                  <a:pt x="99122" y="57963"/>
                  <a:pt x="119914" y="37171"/>
                  <a:pt x="145585" y="37171"/>
                </a:cubicBezTo>
                <a:lnTo>
                  <a:pt x="148683" y="37171"/>
                </a:lnTo>
                <a:cubicBezTo>
                  <a:pt x="155536" y="37171"/>
                  <a:pt x="161073" y="42708"/>
                  <a:pt x="161073" y="49561"/>
                </a:cubicBezTo>
                <a:cubicBezTo>
                  <a:pt x="161073" y="56414"/>
                  <a:pt x="155536" y="61951"/>
                  <a:pt x="148683" y="61951"/>
                </a:cubicBezTo>
                <a:lnTo>
                  <a:pt x="145585" y="61951"/>
                </a:lnTo>
                <a:cubicBezTo>
                  <a:pt x="133621" y="61951"/>
                  <a:pt x="123902" y="71670"/>
                  <a:pt x="123902" y="83634"/>
                </a:cubicBezTo>
                <a:lnTo>
                  <a:pt x="123902" y="86732"/>
                </a:lnTo>
                <a:lnTo>
                  <a:pt x="148683" y="86732"/>
                </a:lnTo>
                <a:cubicBezTo>
                  <a:pt x="162351" y="86732"/>
                  <a:pt x="173463" y="97844"/>
                  <a:pt x="173463" y="111512"/>
                </a:cubicBezTo>
                <a:lnTo>
                  <a:pt x="173463" y="136293"/>
                </a:lnTo>
                <a:cubicBezTo>
                  <a:pt x="173463" y="149961"/>
                  <a:pt x="162351" y="161073"/>
                  <a:pt x="148683" y="161073"/>
                </a:cubicBezTo>
                <a:lnTo>
                  <a:pt x="123902" y="161073"/>
                </a:lnTo>
                <a:cubicBezTo>
                  <a:pt x="110234" y="161073"/>
                  <a:pt x="99122" y="149961"/>
                  <a:pt x="99122" y="136293"/>
                </a:cubicBezTo>
                <a:lnTo>
                  <a:pt x="99122" y="83634"/>
                </a:ln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39" name="Text 37"/>
          <p:cNvSpPr/>
          <p:nvPr/>
        </p:nvSpPr>
        <p:spPr>
          <a:xfrm>
            <a:off x="875577" y="5451707"/>
            <a:ext cx="8764033" cy="429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"Large transformer-based models can perform a wide range of tasks through few-shot learning, demonstrating remarkable language understanding capabilities."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75577" y="5980358"/>
            <a:ext cx="8755772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Brown et al. (2020), Advances in Neural Information Processing Systems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644687" y="5451707"/>
            <a:ext cx="2048520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11" b="1" kern="0" spc="46" dirty="0">
                <a:solidFill>
                  <a:srgbClr val="3D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APA Citation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636426" y="5649951"/>
            <a:ext cx="2056780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4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(Brown et al., 2020; OpenAI, 2023)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D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/ Literature Review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A3A5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Fine-Tuning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 Adaptation and Its Boundaries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638300"/>
            <a:ext cx="5829300" cy="3390900"/>
          </a:xfrm>
          <a:custGeom>
            <a:avLst/>
            <a:gdLst/>
            <a:ahLst/>
            <a:cxnLst/>
            <a:rect l="l" t="t" r="r" b="b"/>
            <a:pathLst>
              <a:path w="5829300" h="3390900">
                <a:moveTo>
                  <a:pt x="152387" y="0"/>
                </a:moveTo>
                <a:lnTo>
                  <a:pt x="5676913" y="0"/>
                </a:lnTo>
                <a:cubicBezTo>
                  <a:pt x="5761074" y="0"/>
                  <a:pt x="5829300" y="68226"/>
                  <a:pt x="5829300" y="152387"/>
                </a:cubicBezTo>
                <a:lnTo>
                  <a:pt x="5829300" y="3238513"/>
                </a:lnTo>
                <a:cubicBezTo>
                  <a:pt x="5829300" y="3322674"/>
                  <a:pt x="5761074" y="3390900"/>
                  <a:pt x="5676913" y="3390900"/>
                </a:cubicBezTo>
                <a:lnTo>
                  <a:pt x="152387" y="3390900"/>
                </a:lnTo>
                <a:cubicBezTo>
                  <a:pt x="68226" y="3390900"/>
                  <a:pt x="0" y="3322674"/>
                  <a:pt x="0" y="3238513"/>
                </a:cubicBezTo>
                <a:lnTo>
                  <a:pt x="0" y="152387"/>
                </a:lnTo>
                <a:cubicBezTo>
                  <a:pt x="0" y="68226"/>
                  <a:pt x="68226" y="0"/>
                  <a:pt x="15238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9600" y="19050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7" name="Text 5"/>
          <p:cNvSpPr/>
          <p:nvPr/>
        </p:nvSpPr>
        <p:spPr>
          <a:xfrm>
            <a:off x="895350" y="1866900"/>
            <a:ext cx="5200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3A5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Fine-Tuning Process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600" y="2362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9" name="Text 7"/>
          <p:cNvSpPr/>
          <p:nvPr/>
        </p:nvSpPr>
        <p:spPr>
          <a:xfrm>
            <a:off x="807938" y="2457450"/>
            <a:ext cx="15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9200" y="2362200"/>
            <a:ext cx="483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Pre-trained Model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19200" y="2590800"/>
            <a:ext cx="483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with general-purpose LLM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09925" y="29718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600" y="3352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A7A96"/>
          </a:solidFill>
          <a:ln/>
        </p:spPr>
      </p:sp>
      <p:sp>
        <p:nvSpPr>
          <p:cNvPr id="14" name="Text 12"/>
          <p:cNvSpPr/>
          <p:nvPr/>
        </p:nvSpPr>
        <p:spPr>
          <a:xfrm>
            <a:off x="789682" y="3448050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19200" y="3352800"/>
            <a:ext cx="483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Curated Dataset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19200" y="3581400"/>
            <a:ext cx="483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Domain-specific training data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09925" y="39624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600" y="4343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19" name="Text 17"/>
          <p:cNvSpPr/>
          <p:nvPr/>
        </p:nvSpPr>
        <p:spPr>
          <a:xfrm>
            <a:off x="787202" y="4438650"/>
            <a:ext cx="20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19200" y="4343400"/>
            <a:ext cx="483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Domain-Adapted Model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19200" y="4572000"/>
            <a:ext cx="483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Specialized for specific tasks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57950" y="1638300"/>
            <a:ext cx="5353050" cy="1600200"/>
          </a:xfrm>
          <a:custGeom>
            <a:avLst/>
            <a:gdLst/>
            <a:ahLst/>
            <a:cxnLst/>
            <a:rect l="l" t="t" r="r" b="b"/>
            <a:pathLst>
              <a:path w="5353050" h="1600200">
                <a:moveTo>
                  <a:pt x="38100" y="0"/>
                </a:moveTo>
                <a:lnTo>
                  <a:pt x="5200647" y="0"/>
                </a:lnTo>
                <a:cubicBezTo>
                  <a:pt x="5284817" y="0"/>
                  <a:pt x="5353050" y="68233"/>
                  <a:pt x="5353050" y="152403"/>
                </a:cubicBezTo>
                <a:lnTo>
                  <a:pt x="5353050" y="1447797"/>
                </a:lnTo>
                <a:cubicBezTo>
                  <a:pt x="5353050" y="1531967"/>
                  <a:pt x="5284817" y="1600200"/>
                  <a:pt x="5200647" y="1600200"/>
                </a:cubicBez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B8B">
                  <a:alpha val="10000"/>
                </a:srgbClr>
              </a:gs>
              <a:gs pos="100000">
                <a:srgbClr val="3D8B8B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23" name="Shape 21"/>
          <p:cNvSpPr/>
          <p:nvPr/>
        </p:nvSpPr>
        <p:spPr>
          <a:xfrm>
            <a:off x="6457950" y="1638300"/>
            <a:ext cx="38100" cy="1600200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3810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24" name="Shape 22"/>
          <p:cNvSpPr/>
          <p:nvPr/>
        </p:nvSpPr>
        <p:spPr>
          <a:xfrm>
            <a:off x="6696075" y="1847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25" name="Text 23"/>
          <p:cNvSpPr/>
          <p:nvPr/>
        </p:nvSpPr>
        <p:spPr>
          <a:xfrm>
            <a:off x="7067550" y="1828800"/>
            <a:ext cx="80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A5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Benefits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724650" y="22479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27" name="Text 25"/>
          <p:cNvSpPr/>
          <p:nvPr/>
        </p:nvSpPr>
        <p:spPr>
          <a:xfrm>
            <a:off x="6934200" y="2209800"/>
            <a:ext cx="401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Significantly improves domain relevance (Devlin et al., 2019)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724650" y="2552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29" name="Text 27"/>
          <p:cNvSpPr/>
          <p:nvPr/>
        </p:nvSpPr>
        <p:spPr>
          <a:xfrm>
            <a:off x="6934200" y="2514600"/>
            <a:ext cx="278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Enhanced downstream task performance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724650" y="28575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31" name="Text 29"/>
          <p:cNvSpPr/>
          <p:nvPr/>
        </p:nvSpPr>
        <p:spPr>
          <a:xfrm>
            <a:off x="6934200" y="2819400"/>
            <a:ext cx="350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understanding of faculty-specific terminology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57950" y="3390900"/>
            <a:ext cx="5353050" cy="1600200"/>
          </a:xfrm>
          <a:custGeom>
            <a:avLst/>
            <a:gdLst/>
            <a:ahLst/>
            <a:cxnLst/>
            <a:rect l="l" t="t" r="r" b="b"/>
            <a:pathLst>
              <a:path w="5353050" h="1600200">
                <a:moveTo>
                  <a:pt x="38100" y="0"/>
                </a:moveTo>
                <a:lnTo>
                  <a:pt x="5200647" y="0"/>
                </a:lnTo>
                <a:cubicBezTo>
                  <a:pt x="5284817" y="0"/>
                  <a:pt x="5353050" y="68233"/>
                  <a:pt x="5353050" y="152403"/>
                </a:cubicBezTo>
                <a:lnTo>
                  <a:pt x="5353050" y="1447797"/>
                </a:lnTo>
                <a:cubicBezTo>
                  <a:pt x="5353050" y="1531967"/>
                  <a:pt x="5284817" y="1600200"/>
                  <a:pt x="5200647" y="1600200"/>
                </a:cubicBez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A3A5C">
                  <a:alpha val="10000"/>
                </a:srgbClr>
              </a:gs>
              <a:gs pos="100000">
                <a:srgbClr val="1A3A5C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33" name="Shape 31"/>
          <p:cNvSpPr/>
          <p:nvPr/>
        </p:nvSpPr>
        <p:spPr>
          <a:xfrm>
            <a:off x="6457950" y="3390900"/>
            <a:ext cx="38100" cy="1600200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3810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34" name="Shape 32"/>
          <p:cNvSpPr/>
          <p:nvPr/>
        </p:nvSpPr>
        <p:spPr>
          <a:xfrm>
            <a:off x="6696075" y="3600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4563" y="74563"/>
                </a:moveTo>
                <a:cubicBezTo>
                  <a:pt x="78760" y="70366"/>
                  <a:pt x="85546" y="70366"/>
                  <a:pt x="89699" y="74563"/>
                </a:cubicBezTo>
                <a:lnTo>
                  <a:pt x="114255" y="99120"/>
                </a:lnTo>
                <a:lnTo>
                  <a:pt x="138812" y="74563"/>
                </a:lnTo>
                <a:cubicBezTo>
                  <a:pt x="143009" y="70366"/>
                  <a:pt x="149796" y="70366"/>
                  <a:pt x="153948" y="74563"/>
                </a:cubicBezTo>
                <a:cubicBezTo>
                  <a:pt x="158100" y="78760"/>
                  <a:pt x="158145" y="85546"/>
                  <a:pt x="153948" y="89699"/>
                </a:cubicBezTo>
                <a:lnTo>
                  <a:pt x="129391" y="114255"/>
                </a:lnTo>
                <a:lnTo>
                  <a:pt x="153948" y="138812"/>
                </a:lnTo>
                <a:cubicBezTo>
                  <a:pt x="158145" y="143009"/>
                  <a:pt x="158145" y="149796"/>
                  <a:pt x="153948" y="153948"/>
                </a:cubicBezTo>
                <a:cubicBezTo>
                  <a:pt x="149751" y="158100"/>
                  <a:pt x="142964" y="158145"/>
                  <a:pt x="138812" y="153948"/>
                </a:cubicBezTo>
                <a:lnTo>
                  <a:pt x="114255" y="129391"/>
                </a:lnTo>
                <a:lnTo>
                  <a:pt x="89699" y="153948"/>
                </a:lnTo>
                <a:cubicBezTo>
                  <a:pt x="85502" y="158145"/>
                  <a:pt x="78715" y="158145"/>
                  <a:pt x="74563" y="153948"/>
                </a:cubicBezTo>
                <a:cubicBezTo>
                  <a:pt x="70411" y="149751"/>
                  <a:pt x="70366" y="142964"/>
                  <a:pt x="74563" y="138812"/>
                </a:cubicBezTo>
                <a:lnTo>
                  <a:pt x="99120" y="114255"/>
                </a:lnTo>
                <a:lnTo>
                  <a:pt x="74563" y="89699"/>
                </a:lnTo>
                <a:cubicBezTo>
                  <a:pt x="70366" y="85502"/>
                  <a:pt x="70366" y="78715"/>
                  <a:pt x="74563" y="74563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7067550" y="3581400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A5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724650" y="40005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37" name="Text 35"/>
          <p:cNvSpPr/>
          <p:nvPr/>
        </p:nvSpPr>
        <p:spPr>
          <a:xfrm>
            <a:off x="6934200" y="3962400"/>
            <a:ext cx="3695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Does not guarantee factual correctness (OpenAI, 2023)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724650" y="43053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39" name="Text 37"/>
          <p:cNvSpPr/>
          <p:nvPr/>
        </p:nvSpPr>
        <p:spPr>
          <a:xfrm>
            <a:off x="6934200" y="4267200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adaptability to changing academic policies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724650" y="46101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41" name="Text 39"/>
          <p:cNvSpPr/>
          <p:nvPr/>
        </p:nvSpPr>
        <p:spPr>
          <a:xfrm>
            <a:off x="6934200" y="4572000"/>
            <a:ext cx="2533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Requires retraining for policy updates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81000" y="5181600"/>
            <a:ext cx="11430000" cy="876300"/>
          </a:xfrm>
          <a:custGeom>
            <a:avLst/>
            <a:gdLst/>
            <a:ahLst/>
            <a:cxnLst/>
            <a:rect l="l" t="t" r="r" b="b"/>
            <a:pathLst>
              <a:path w="11430000" h="876300">
                <a:moveTo>
                  <a:pt x="114296" y="0"/>
                </a:moveTo>
                <a:lnTo>
                  <a:pt x="11315704" y="0"/>
                </a:lnTo>
                <a:cubicBezTo>
                  <a:pt x="11378828" y="0"/>
                  <a:pt x="11430000" y="51172"/>
                  <a:pt x="11430000" y="114296"/>
                </a:cubicBezTo>
                <a:lnTo>
                  <a:pt x="11430000" y="762004"/>
                </a:lnTo>
                <a:cubicBezTo>
                  <a:pt x="11430000" y="825128"/>
                  <a:pt x="11378828" y="876300"/>
                  <a:pt x="11315704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gradFill flip="none" rotWithShape="1">
            <a:gsLst>
              <a:gs pos="0">
                <a:srgbClr val="1A3A5C"/>
              </a:gs>
              <a:gs pos="100000">
                <a:srgbClr val="5A7A96"/>
              </a:gs>
            </a:gsLst>
            <a:lin ang="0" scaled="1"/>
          </a:gradFill>
          <a:ln/>
        </p:spPr>
      </p:sp>
      <p:sp>
        <p:nvSpPr>
          <p:cNvPr id="44" name="Text 42"/>
          <p:cNvSpPr/>
          <p:nvPr/>
        </p:nvSpPr>
        <p:spPr>
          <a:xfrm>
            <a:off x="1009650" y="5372100"/>
            <a:ext cx="82200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Fine-tuning improves language behavior and domain understanding, but additional mechanisms (like RAG) are needed to ensure factual accuracy and policy compliance.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317137" y="5391150"/>
            <a:ext cx="2305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307612" y="5619750"/>
            <a:ext cx="2314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(Devlin et al., 2019; OpenAI, 2023)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88" dirty="0">
                <a:solidFill>
                  <a:srgbClr val="3D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/ Literature Review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A3A5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Retrieval-Augmented Generation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101600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Combining Document Retrieval with Text Generation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381125"/>
            <a:ext cx="2206625" cy="1317625"/>
          </a:xfrm>
          <a:custGeom>
            <a:avLst/>
            <a:gdLst/>
            <a:ahLst/>
            <a:cxnLst/>
            <a:rect l="l" t="t" r="r" b="b"/>
            <a:pathLst>
              <a:path w="2206625" h="1317625">
                <a:moveTo>
                  <a:pt x="31750" y="0"/>
                </a:moveTo>
                <a:lnTo>
                  <a:pt x="2174875" y="0"/>
                </a:lnTo>
                <a:cubicBezTo>
                  <a:pt x="2192410" y="0"/>
                  <a:pt x="2206625" y="14215"/>
                  <a:pt x="2206625" y="31750"/>
                </a:cubicBezTo>
                <a:lnTo>
                  <a:pt x="2206625" y="1222374"/>
                </a:lnTo>
                <a:cubicBezTo>
                  <a:pt x="2206625" y="1274980"/>
                  <a:pt x="2163980" y="1317625"/>
                  <a:pt x="2111374" y="1317625"/>
                </a:cubicBezTo>
                <a:lnTo>
                  <a:pt x="95251" y="1317625"/>
                </a:lnTo>
                <a:cubicBezTo>
                  <a:pt x="42645" y="1317625"/>
                  <a:pt x="0" y="1274980"/>
                  <a:pt x="0" y="1222374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17500" y="1381125"/>
            <a:ext cx="2206625" cy="31750"/>
          </a:xfrm>
          <a:custGeom>
            <a:avLst/>
            <a:gdLst/>
            <a:ahLst/>
            <a:cxnLst/>
            <a:rect l="l" t="t" r="r" b="b"/>
            <a:pathLst>
              <a:path w="2206625" h="31750">
                <a:moveTo>
                  <a:pt x="31750" y="0"/>
                </a:moveTo>
                <a:lnTo>
                  <a:pt x="2174875" y="0"/>
                </a:lnTo>
                <a:cubicBezTo>
                  <a:pt x="2192398" y="0"/>
                  <a:pt x="2206625" y="14227"/>
                  <a:pt x="2206625" y="31750"/>
                </a:cubicBezTo>
                <a:lnTo>
                  <a:pt x="220662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7" name="Shape 5"/>
          <p:cNvSpPr/>
          <p:nvPr/>
        </p:nvSpPr>
        <p:spPr>
          <a:xfrm>
            <a:off x="444500" y="1524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580595" y="1571625"/>
            <a:ext cx="119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4500" y="1936750"/>
            <a:ext cx="201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Corpus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4500" y="2190750"/>
            <a:ext cx="2016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Official academic documents and policies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63900" y="1936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12" name="Shape 10"/>
          <p:cNvSpPr/>
          <p:nvPr/>
        </p:nvSpPr>
        <p:spPr>
          <a:xfrm>
            <a:off x="4991034" y="1381125"/>
            <a:ext cx="2206625" cy="1317625"/>
          </a:xfrm>
          <a:custGeom>
            <a:avLst/>
            <a:gdLst/>
            <a:ahLst/>
            <a:cxnLst/>
            <a:rect l="l" t="t" r="r" b="b"/>
            <a:pathLst>
              <a:path w="2206625" h="1317625">
                <a:moveTo>
                  <a:pt x="31750" y="0"/>
                </a:moveTo>
                <a:lnTo>
                  <a:pt x="2174875" y="0"/>
                </a:lnTo>
                <a:cubicBezTo>
                  <a:pt x="2192410" y="0"/>
                  <a:pt x="2206625" y="14215"/>
                  <a:pt x="2206625" y="31750"/>
                </a:cubicBezTo>
                <a:lnTo>
                  <a:pt x="2206625" y="1222374"/>
                </a:lnTo>
                <a:cubicBezTo>
                  <a:pt x="2206625" y="1274980"/>
                  <a:pt x="2163980" y="1317625"/>
                  <a:pt x="2111374" y="1317625"/>
                </a:cubicBezTo>
                <a:lnTo>
                  <a:pt x="95251" y="1317625"/>
                </a:lnTo>
                <a:cubicBezTo>
                  <a:pt x="42645" y="1317625"/>
                  <a:pt x="0" y="1274980"/>
                  <a:pt x="0" y="1222374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91034" y="1381125"/>
            <a:ext cx="2206625" cy="31750"/>
          </a:xfrm>
          <a:custGeom>
            <a:avLst/>
            <a:gdLst/>
            <a:ahLst/>
            <a:cxnLst/>
            <a:rect l="l" t="t" r="r" b="b"/>
            <a:pathLst>
              <a:path w="2206625" h="31750">
                <a:moveTo>
                  <a:pt x="31750" y="0"/>
                </a:moveTo>
                <a:lnTo>
                  <a:pt x="2174875" y="0"/>
                </a:lnTo>
                <a:cubicBezTo>
                  <a:pt x="2192398" y="0"/>
                  <a:pt x="2206625" y="14227"/>
                  <a:pt x="2206625" y="31750"/>
                </a:cubicBezTo>
                <a:lnTo>
                  <a:pt x="220662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A7A96"/>
          </a:solidFill>
          <a:ln/>
        </p:spPr>
      </p:sp>
      <p:sp>
        <p:nvSpPr>
          <p:cNvPr id="14" name="Shape 12"/>
          <p:cNvSpPr/>
          <p:nvPr/>
        </p:nvSpPr>
        <p:spPr>
          <a:xfrm>
            <a:off x="5118034" y="1524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5A7A96"/>
          </a:solidFill>
          <a:ln/>
        </p:spPr>
      </p:sp>
      <p:sp>
        <p:nvSpPr>
          <p:cNvPr id="15" name="Text 13"/>
          <p:cNvSpPr/>
          <p:nvPr/>
        </p:nvSpPr>
        <p:spPr>
          <a:xfrm>
            <a:off x="5240404" y="1571625"/>
            <a:ext cx="14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18034" y="1936750"/>
            <a:ext cx="201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Retrieval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18034" y="2190750"/>
            <a:ext cx="201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 relevant document chunks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37517" y="1936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19" name="Shape 17"/>
          <p:cNvSpPr/>
          <p:nvPr/>
        </p:nvSpPr>
        <p:spPr>
          <a:xfrm>
            <a:off x="9664650" y="1381125"/>
            <a:ext cx="2206625" cy="1317625"/>
          </a:xfrm>
          <a:custGeom>
            <a:avLst/>
            <a:gdLst/>
            <a:ahLst/>
            <a:cxnLst/>
            <a:rect l="l" t="t" r="r" b="b"/>
            <a:pathLst>
              <a:path w="2206625" h="1317625">
                <a:moveTo>
                  <a:pt x="31750" y="0"/>
                </a:moveTo>
                <a:lnTo>
                  <a:pt x="2174875" y="0"/>
                </a:lnTo>
                <a:cubicBezTo>
                  <a:pt x="2192410" y="0"/>
                  <a:pt x="2206625" y="14215"/>
                  <a:pt x="2206625" y="31750"/>
                </a:cubicBezTo>
                <a:lnTo>
                  <a:pt x="2206625" y="1222374"/>
                </a:lnTo>
                <a:cubicBezTo>
                  <a:pt x="2206625" y="1274980"/>
                  <a:pt x="2163980" y="1317625"/>
                  <a:pt x="2111374" y="1317625"/>
                </a:cubicBezTo>
                <a:lnTo>
                  <a:pt x="95251" y="1317625"/>
                </a:lnTo>
                <a:cubicBezTo>
                  <a:pt x="42645" y="1317625"/>
                  <a:pt x="0" y="1274980"/>
                  <a:pt x="0" y="1222374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664650" y="1381125"/>
            <a:ext cx="2206625" cy="31750"/>
          </a:xfrm>
          <a:custGeom>
            <a:avLst/>
            <a:gdLst/>
            <a:ahLst/>
            <a:cxnLst/>
            <a:rect l="l" t="t" r="r" b="b"/>
            <a:pathLst>
              <a:path w="2206625" h="31750">
                <a:moveTo>
                  <a:pt x="31750" y="0"/>
                </a:moveTo>
                <a:lnTo>
                  <a:pt x="2174875" y="0"/>
                </a:lnTo>
                <a:cubicBezTo>
                  <a:pt x="2192398" y="0"/>
                  <a:pt x="2206625" y="14227"/>
                  <a:pt x="2206625" y="31750"/>
                </a:cubicBezTo>
                <a:lnTo>
                  <a:pt x="220662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21" name="Shape 19"/>
          <p:cNvSpPr/>
          <p:nvPr/>
        </p:nvSpPr>
        <p:spPr>
          <a:xfrm>
            <a:off x="9791650" y="1524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22" name="Text 20"/>
          <p:cNvSpPr/>
          <p:nvPr/>
        </p:nvSpPr>
        <p:spPr>
          <a:xfrm>
            <a:off x="9912119" y="1571625"/>
            <a:ext cx="150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791650" y="1936750"/>
            <a:ext cx="201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791650" y="2190750"/>
            <a:ext cx="201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Grounded response synthesis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33375" y="2825750"/>
            <a:ext cx="5667375" cy="3175000"/>
          </a:xfrm>
          <a:custGeom>
            <a:avLst/>
            <a:gdLst/>
            <a:ahLst/>
            <a:cxnLst/>
            <a:rect l="l" t="t" r="r" b="b"/>
            <a:pathLst>
              <a:path w="5667375" h="3175000">
                <a:moveTo>
                  <a:pt x="31750" y="0"/>
                </a:moveTo>
                <a:lnTo>
                  <a:pt x="5540375" y="0"/>
                </a:lnTo>
                <a:cubicBezTo>
                  <a:pt x="5610468" y="0"/>
                  <a:pt x="5667375" y="56907"/>
                  <a:pt x="5667375" y="127000"/>
                </a:cubicBezTo>
                <a:lnTo>
                  <a:pt x="5667375" y="3048000"/>
                </a:lnTo>
                <a:cubicBezTo>
                  <a:pt x="5667375" y="3118093"/>
                  <a:pt x="5610468" y="3175000"/>
                  <a:pt x="5540375" y="3175000"/>
                </a:cubicBezTo>
                <a:lnTo>
                  <a:pt x="31750" y="3175000"/>
                </a:lnTo>
                <a:cubicBezTo>
                  <a:pt x="14227" y="3175000"/>
                  <a:pt x="0" y="3160773"/>
                  <a:pt x="0" y="314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B8B">
                  <a:alpha val="10000"/>
                </a:srgbClr>
              </a:gs>
              <a:gs pos="100000">
                <a:srgbClr val="FFFFFF"/>
              </a:gs>
            </a:gsLst>
            <a:lin ang="2700000" scaled="1"/>
          </a:gradFill>
          <a:ln/>
          <a:effectLst>
            <a:outerShdw blurRad="198438" dist="158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3375" y="2825750"/>
            <a:ext cx="31750" cy="3175000"/>
          </a:xfrm>
          <a:custGeom>
            <a:avLst/>
            <a:gdLst/>
            <a:ahLst/>
            <a:cxnLst/>
            <a:rect l="l" t="t" r="r" b="b"/>
            <a:pathLst>
              <a:path w="31750" h="3175000">
                <a:moveTo>
                  <a:pt x="31750" y="0"/>
                </a:moveTo>
                <a:lnTo>
                  <a:pt x="31750" y="0"/>
                </a:lnTo>
                <a:lnTo>
                  <a:pt x="31750" y="3175000"/>
                </a:lnTo>
                <a:lnTo>
                  <a:pt x="31750" y="3175000"/>
                </a:lnTo>
                <a:cubicBezTo>
                  <a:pt x="14227" y="3175000"/>
                  <a:pt x="0" y="3160773"/>
                  <a:pt x="0" y="314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27" name="Shape 25"/>
          <p:cNvSpPr/>
          <p:nvPr/>
        </p:nvSpPr>
        <p:spPr>
          <a:xfrm>
            <a:off x="551656" y="30480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28" name="Text 26"/>
          <p:cNvSpPr/>
          <p:nvPr/>
        </p:nvSpPr>
        <p:spPr>
          <a:xfrm>
            <a:off x="777875" y="3016250"/>
            <a:ext cx="5127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A3A5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Advantages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9750" y="3429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30" name="Shape 28"/>
          <p:cNvSpPr/>
          <p:nvPr/>
        </p:nvSpPr>
        <p:spPr>
          <a:xfrm>
            <a:off x="635000" y="35242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4641" y="0"/>
                  <a:pt x="65782" y="248"/>
                  <a:pt x="66824" y="719"/>
                </a:cubicBezTo>
                <a:lnTo>
                  <a:pt x="113556" y="20538"/>
                </a:lnTo>
                <a:cubicBezTo>
                  <a:pt x="119013" y="22845"/>
                  <a:pt x="123081" y="28228"/>
                  <a:pt x="123056" y="34727"/>
                </a:cubicBezTo>
                <a:cubicBezTo>
                  <a:pt x="122932" y="59333"/>
                  <a:pt x="112812" y="104353"/>
                  <a:pt x="70073" y="124817"/>
                </a:cubicBezTo>
                <a:cubicBezTo>
                  <a:pt x="65931" y="126802"/>
                  <a:pt x="61119" y="126802"/>
                  <a:pt x="56976" y="124817"/>
                </a:cubicBezTo>
                <a:cubicBezTo>
                  <a:pt x="14213" y="104353"/>
                  <a:pt x="4118" y="59333"/>
                  <a:pt x="3994" y="34727"/>
                </a:cubicBezTo>
                <a:cubicBezTo>
                  <a:pt x="3969" y="28228"/>
                  <a:pt x="8037" y="22845"/>
                  <a:pt x="13494" y="20538"/>
                </a:cubicBezTo>
                <a:lnTo>
                  <a:pt x="60201" y="719"/>
                </a:lnTo>
                <a:cubicBezTo>
                  <a:pt x="61243" y="248"/>
                  <a:pt x="62359" y="0"/>
                  <a:pt x="63500" y="0"/>
                </a:cubicBezTo>
                <a:close/>
                <a:moveTo>
                  <a:pt x="63500" y="16570"/>
                </a:moveTo>
                <a:lnTo>
                  <a:pt x="63500" y="110356"/>
                </a:lnTo>
                <a:cubicBezTo>
                  <a:pt x="97730" y="93787"/>
                  <a:pt x="106933" y="57076"/>
                  <a:pt x="107156" y="35099"/>
                </a:cubicBezTo>
                <a:lnTo>
                  <a:pt x="63500" y="16594"/>
                </a:lnTo>
                <a:lnTo>
                  <a:pt x="63500" y="16594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952500" y="3429000"/>
            <a:ext cx="488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Factual Accuracy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52500" y="3651250"/>
            <a:ext cx="488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Significantly improves factual accuracy in knowledge-intensive tasks (Lewis et al., 2020)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39750" y="39687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34" name="Shape 32"/>
          <p:cNvSpPr/>
          <p:nvPr/>
        </p:nvSpPr>
        <p:spPr>
          <a:xfrm>
            <a:off x="627063" y="4064000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04056" y="23812"/>
                </a:moveTo>
                <a:cubicBezTo>
                  <a:pt x="99938" y="23812"/>
                  <a:pt x="95945" y="24929"/>
                  <a:pt x="92447" y="26963"/>
                </a:cubicBezTo>
                <a:cubicBezTo>
                  <a:pt x="88528" y="22994"/>
                  <a:pt x="83964" y="19670"/>
                  <a:pt x="78929" y="17165"/>
                </a:cubicBezTo>
                <a:cubicBezTo>
                  <a:pt x="85923" y="11212"/>
                  <a:pt x="94828" y="7938"/>
                  <a:pt x="104056" y="7938"/>
                </a:cubicBezTo>
                <a:cubicBezTo>
                  <a:pt x="125487" y="7938"/>
                  <a:pt x="142875" y="25301"/>
                  <a:pt x="142875" y="46757"/>
                </a:cubicBezTo>
                <a:cubicBezTo>
                  <a:pt x="142875" y="57051"/>
                  <a:pt x="138782" y="66923"/>
                  <a:pt x="131514" y="74191"/>
                </a:cubicBezTo>
                <a:lnTo>
                  <a:pt x="113878" y="91827"/>
                </a:lnTo>
                <a:cubicBezTo>
                  <a:pt x="106611" y="99095"/>
                  <a:pt x="96738" y="103188"/>
                  <a:pt x="86444" y="103188"/>
                </a:cubicBezTo>
                <a:cubicBezTo>
                  <a:pt x="65013" y="103188"/>
                  <a:pt x="47625" y="85824"/>
                  <a:pt x="47625" y="64368"/>
                </a:cubicBezTo>
                <a:cubicBezTo>
                  <a:pt x="47625" y="63996"/>
                  <a:pt x="47625" y="63624"/>
                  <a:pt x="47650" y="63252"/>
                </a:cubicBezTo>
                <a:cubicBezTo>
                  <a:pt x="47774" y="58862"/>
                  <a:pt x="51420" y="55414"/>
                  <a:pt x="55811" y="55538"/>
                </a:cubicBezTo>
                <a:cubicBezTo>
                  <a:pt x="60201" y="55662"/>
                  <a:pt x="63649" y="59308"/>
                  <a:pt x="63525" y="63698"/>
                </a:cubicBezTo>
                <a:cubicBezTo>
                  <a:pt x="63525" y="63922"/>
                  <a:pt x="63525" y="64145"/>
                  <a:pt x="63525" y="64343"/>
                </a:cubicBezTo>
                <a:cubicBezTo>
                  <a:pt x="63525" y="77019"/>
                  <a:pt x="73794" y="87288"/>
                  <a:pt x="86469" y="87288"/>
                </a:cubicBezTo>
                <a:cubicBezTo>
                  <a:pt x="92546" y="87288"/>
                  <a:pt x="98375" y="84882"/>
                  <a:pt x="102691" y="80566"/>
                </a:cubicBezTo>
                <a:lnTo>
                  <a:pt x="120328" y="62929"/>
                </a:lnTo>
                <a:cubicBezTo>
                  <a:pt x="124619" y="58638"/>
                  <a:pt x="127050" y="52784"/>
                  <a:pt x="127050" y="46707"/>
                </a:cubicBezTo>
                <a:cubicBezTo>
                  <a:pt x="127050" y="34032"/>
                  <a:pt x="116780" y="23763"/>
                  <a:pt x="104105" y="23763"/>
                </a:cubicBezTo>
                <a:close/>
                <a:moveTo>
                  <a:pt x="68263" y="42987"/>
                </a:moveTo>
                <a:cubicBezTo>
                  <a:pt x="67791" y="42788"/>
                  <a:pt x="67320" y="42515"/>
                  <a:pt x="66898" y="42218"/>
                </a:cubicBezTo>
                <a:cubicBezTo>
                  <a:pt x="63773" y="40605"/>
                  <a:pt x="60201" y="39688"/>
                  <a:pt x="56455" y="39688"/>
                </a:cubicBezTo>
                <a:cubicBezTo>
                  <a:pt x="50378" y="39688"/>
                  <a:pt x="44549" y="42094"/>
                  <a:pt x="40233" y="46410"/>
                </a:cubicBezTo>
                <a:lnTo>
                  <a:pt x="22597" y="64046"/>
                </a:lnTo>
                <a:cubicBezTo>
                  <a:pt x="18306" y="68337"/>
                  <a:pt x="15875" y="74191"/>
                  <a:pt x="15875" y="80268"/>
                </a:cubicBezTo>
                <a:cubicBezTo>
                  <a:pt x="15875" y="92943"/>
                  <a:pt x="26144" y="103212"/>
                  <a:pt x="38819" y="103212"/>
                </a:cubicBezTo>
                <a:cubicBezTo>
                  <a:pt x="42912" y="103212"/>
                  <a:pt x="46906" y="102121"/>
                  <a:pt x="50403" y="100087"/>
                </a:cubicBezTo>
                <a:cubicBezTo>
                  <a:pt x="54322" y="104056"/>
                  <a:pt x="58886" y="107379"/>
                  <a:pt x="63946" y="109885"/>
                </a:cubicBezTo>
                <a:cubicBezTo>
                  <a:pt x="56952" y="115813"/>
                  <a:pt x="48071" y="119112"/>
                  <a:pt x="38819" y="119112"/>
                </a:cubicBezTo>
                <a:cubicBezTo>
                  <a:pt x="17388" y="119112"/>
                  <a:pt x="0" y="101749"/>
                  <a:pt x="0" y="80293"/>
                </a:cubicBezTo>
                <a:cubicBezTo>
                  <a:pt x="0" y="69999"/>
                  <a:pt x="4093" y="60127"/>
                  <a:pt x="11361" y="52859"/>
                </a:cubicBezTo>
                <a:lnTo>
                  <a:pt x="28997" y="35223"/>
                </a:lnTo>
                <a:cubicBezTo>
                  <a:pt x="36264" y="27955"/>
                  <a:pt x="46137" y="23862"/>
                  <a:pt x="56431" y="23862"/>
                </a:cubicBezTo>
                <a:cubicBezTo>
                  <a:pt x="77912" y="23862"/>
                  <a:pt x="95250" y="41374"/>
                  <a:pt x="95250" y="62781"/>
                </a:cubicBezTo>
                <a:cubicBezTo>
                  <a:pt x="95250" y="63103"/>
                  <a:pt x="95250" y="63426"/>
                  <a:pt x="95250" y="63748"/>
                </a:cubicBezTo>
                <a:cubicBezTo>
                  <a:pt x="95151" y="68138"/>
                  <a:pt x="91504" y="71586"/>
                  <a:pt x="87114" y="71487"/>
                </a:cubicBezTo>
                <a:cubicBezTo>
                  <a:pt x="82724" y="71388"/>
                  <a:pt x="79276" y="67742"/>
                  <a:pt x="79375" y="63351"/>
                </a:cubicBezTo>
                <a:cubicBezTo>
                  <a:pt x="79375" y="63153"/>
                  <a:pt x="79375" y="62979"/>
                  <a:pt x="79375" y="62781"/>
                </a:cubicBezTo>
                <a:cubicBezTo>
                  <a:pt x="79375" y="54421"/>
                  <a:pt x="74910" y="47079"/>
                  <a:pt x="68263" y="43036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35" name="Text 33"/>
          <p:cNvSpPr/>
          <p:nvPr/>
        </p:nvSpPr>
        <p:spPr>
          <a:xfrm>
            <a:off x="952500" y="3968750"/>
            <a:ext cx="3897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 Grounding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52500" y="4191000"/>
            <a:ext cx="3897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Responses aligned with official documents rather than model memory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39750" y="4508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38" name="Shape 36"/>
          <p:cNvSpPr/>
          <p:nvPr/>
        </p:nvSpPr>
        <p:spPr>
          <a:xfrm>
            <a:off x="635000" y="46037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19087" y="47625"/>
                </a:moveTo>
                <a:lnTo>
                  <a:pt x="121047" y="47625"/>
                </a:lnTo>
                <a:cubicBezTo>
                  <a:pt x="124346" y="47625"/>
                  <a:pt x="127000" y="44971"/>
                  <a:pt x="127000" y="41672"/>
                </a:cubicBezTo>
                <a:lnTo>
                  <a:pt x="127000" y="5953"/>
                </a:lnTo>
                <a:cubicBezTo>
                  <a:pt x="127000" y="3547"/>
                  <a:pt x="125561" y="1364"/>
                  <a:pt x="123329" y="446"/>
                </a:cubicBezTo>
                <a:cubicBezTo>
                  <a:pt x="121096" y="-471"/>
                  <a:pt x="118542" y="50"/>
                  <a:pt x="116830" y="1736"/>
                </a:cubicBezTo>
                <a:lnTo>
                  <a:pt x="104006" y="14585"/>
                </a:lnTo>
                <a:cubicBezTo>
                  <a:pt x="93018" y="5482"/>
                  <a:pt x="78879" y="0"/>
                  <a:pt x="63500" y="0"/>
                </a:cubicBezTo>
                <a:cubicBezTo>
                  <a:pt x="31502" y="0"/>
                  <a:pt x="5035" y="23664"/>
                  <a:pt x="645" y="54446"/>
                </a:cubicBezTo>
                <a:cubicBezTo>
                  <a:pt x="25" y="58787"/>
                  <a:pt x="3026" y="62805"/>
                  <a:pt x="7367" y="63426"/>
                </a:cubicBezTo>
                <a:cubicBezTo>
                  <a:pt x="11708" y="64046"/>
                  <a:pt x="15726" y="61020"/>
                  <a:pt x="16346" y="56704"/>
                </a:cubicBezTo>
                <a:cubicBezTo>
                  <a:pt x="19645" y="33610"/>
                  <a:pt x="39514" y="15875"/>
                  <a:pt x="63500" y="15875"/>
                </a:cubicBezTo>
                <a:cubicBezTo>
                  <a:pt x="74513" y="15875"/>
                  <a:pt x="84634" y="19596"/>
                  <a:pt x="92695" y="25871"/>
                </a:cubicBezTo>
                <a:lnTo>
                  <a:pt x="81111" y="37455"/>
                </a:lnTo>
                <a:cubicBezTo>
                  <a:pt x="79400" y="39167"/>
                  <a:pt x="78904" y="41721"/>
                  <a:pt x="79821" y="43954"/>
                </a:cubicBezTo>
                <a:cubicBezTo>
                  <a:pt x="80739" y="46186"/>
                  <a:pt x="82922" y="47625"/>
                  <a:pt x="85328" y="47625"/>
                </a:cubicBezTo>
                <a:lnTo>
                  <a:pt x="119087" y="47625"/>
                </a:lnTo>
                <a:close/>
                <a:moveTo>
                  <a:pt x="126380" y="72554"/>
                </a:moveTo>
                <a:cubicBezTo>
                  <a:pt x="127000" y="68213"/>
                  <a:pt x="123974" y="64195"/>
                  <a:pt x="119658" y="63574"/>
                </a:cubicBezTo>
                <a:cubicBezTo>
                  <a:pt x="115342" y="62954"/>
                  <a:pt x="111299" y="65980"/>
                  <a:pt x="110679" y="70296"/>
                </a:cubicBezTo>
                <a:cubicBezTo>
                  <a:pt x="107379" y="93365"/>
                  <a:pt x="87511" y="111100"/>
                  <a:pt x="63525" y="111100"/>
                </a:cubicBezTo>
                <a:cubicBezTo>
                  <a:pt x="52512" y="111100"/>
                  <a:pt x="42391" y="107379"/>
                  <a:pt x="34330" y="101104"/>
                </a:cubicBezTo>
                <a:lnTo>
                  <a:pt x="45889" y="89545"/>
                </a:lnTo>
                <a:cubicBezTo>
                  <a:pt x="47600" y="87833"/>
                  <a:pt x="48096" y="85279"/>
                  <a:pt x="47179" y="83046"/>
                </a:cubicBezTo>
                <a:cubicBezTo>
                  <a:pt x="46261" y="80814"/>
                  <a:pt x="44078" y="79375"/>
                  <a:pt x="41672" y="79375"/>
                </a:cubicBezTo>
                <a:lnTo>
                  <a:pt x="5953" y="79375"/>
                </a:lnTo>
                <a:cubicBezTo>
                  <a:pt x="2654" y="79375"/>
                  <a:pt x="0" y="82029"/>
                  <a:pt x="0" y="85328"/>
                </a:cubicBezTo>
                <a:lnTo>
                  <a:pt x="0" y="121047"/>
                </a:lnTo>
                <a:cubicBezTo>
                  <a:pt x="0" y="123453"/>
                  <a:pt x="1439" y="125636"/>
                  <a:pt x="3671" y="126554"/>
                </a:cubicBezTo>
                <a:cubicBezTo>
                  <a:pt x="5904" y="127471"/>
                  <a:pt x="8458" y="126950"/>
                  <a:pt x="10170" y="125264"/>
                </a:cubicBezTo>
                <a:lnTo>
                  <a:pt x="23019" y="112415"/>
                </a:lnTo>
                <a:cubicBezTo>
                  <a:pt x="33982" y="121518"/>
                  <a:pt x="48121" y="127000"/>
                  <a:pt x="63500" y="127000"/>
                </a:cubicBezTo>
                <a:cubicBezTo>
                  <a:pt x="95498" y="127000"/>
                  <a:pt x="121965" y="103336"/>
                  <a:pt x="126355" y="72554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39" name="Text 37"/>
          <p:cNvSpPr/>
          <p:nvPr/>
        </p:nvSpPr>
        <p:spPr>
          <a:xfrm>
            <a:off x="952500" y="4508500"/>
            <a:ext cx="338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Updates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52500" y="4730750"/>
            <a:ext cx="338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Easy to update knowledge base without retraining the model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91250" y="2825750"/>
            <a:ext cx="5683250" cy="3175000"/>
          </a:xfrm>
          <a:custGeom>
            <a:avLst/>
            <a:gdLst/>
            <a:ahLst/>
            <a:cxnLst/>
            <a:rect l="l" t="t" r="r" b="b"/>
            <a:pathLst>
              <a:path w="5683250" h="3175000">
                <a:moveTo>
                  <a:pt x="127000" y="0"/>
                </a:moveTo>
                <a:lnTo>
                  <a:pt x="5556250" y="0"/>
                </a:lnTo>
                <a:cubicBezTo>
                  <a:pt x="5626343" y="0"/>
                  <a:pt x="5683250" y="56907"/>
                  <a:pt x="5683250" y="127000"/>
                </a:cubicBezTo>
                <a:lnTo>
                  <a:pt x="5683250" y="3048000"/>
                </a:lnTo>
                <a:cubicBezTo>
                  <a:pt x="5683250" y="3118093"/>
                  <a:pt x="5626343" y="3175000"/>
                  <a:pt x="5556250" y="3175000"/>
                </a:cubicBezTo>
                <a:lnTo>
                  <a:pt x="127000" y="3175000"/>
                </a:lnTo>
                <a:cubicBezTo>
                  <a:pt x="56907" y="3175000"/>
                  <a:pt x="0" y="3118093"/>
                  <a:pt x="0" y="3048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A3A5C"/>
              </a:gs>
              <a:gs pos="100000">
                <a:srgbClr val="5A7A96"/>
              </a:gs>
            </a:gsLst>
            <a:lin ang="2700000" scaled="1"/>
          </a:gradFill>
          <a:ln/>
          <a:effectLst>
            <a:outerShdw blurRad="198438" dist="158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93656" y="30480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43" name="Text 41"/>
          <p:cNvSpPr/>
          <p:nvPr/>
        </p:nvSpPr>
        <p:spPr>
          <a:xfrm>
            <a:off x="6619875" y="3016250"/>
            <a:ext cx="5159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1F5F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Perfect for Academic Advising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84396" y="3431646"/>
            <a:ext cx="5299604" cy="703792"/>
          </a:xfrm>
          <a:custGeom>
            <a:avLst/>
            <a:gdLst/>
            <a:ahLst/>
            <a:cxnLst/>
            <a:rect l="l" t="t" r="r" b="b"/>
            <a:pathLst>
              <a:path w="5299604" h="703792">
                <a:moveTo>
                  <a:pt x="95251" y="0"/>
                </a:moveTo>
                <a:lnTo>
                  <a:pt x="5204353" y="0"/>
                </a:lnTo>
                <a:cubicBezTo>
                  <a:pt x="5256959" y="0"/>
                  <a:pt x="5299604" y="42645"/>
                  <a:pt x="5299604" y="95251"/>
                </a:cubicBezTo>
                <a:lnTo>
                  <a:pt x="5299604" y="608541"/>
                </a:lnTo>
                <a:cubicBezTo>
                  <a:pt x="5299604" y="661146"/>
                  <a:pt x="5256959" y="703792"/>
                  <a:pt x="5204353" y="703792"/>
                </a:cubicBezTo>
                <a:lnTo>
                  <a:pt x="95251" y="703792"/>
                </a:lnTo>
                <a:cubicBezTo>
                  <a:pt x="42645" y="703792"/>
                  <a:pt x="0" y="661146"/>
                  <a:pt x="0" y="608541"/>
                </a:cubicBezTo>
                <a:lnTo>
                  <a:pt x="0" y="95251"/>
                </a:lnTo>
                <a:cubicBezTo>
                  <a:pt x="0" y="42681"/>
                  <a:pt x="42681" y="0"/>
                  <a:pt x="95251" y="0"/>
                </a:cubicBezTo>
                <a:close/>
              </a:path>
            </a:pathLst>
          </a:custGeom>
          <a:solidFill>
            <a:srgbClr val="F1F5F9">
              <a:alpha val="10196"/>
            </a:srgbClr>
          </a:solidFill>
          <a:ln w="8467">
            <a:solidFill>
              <a:srgbClr val="F1F5F9">
                <a:alpha val="2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14042" y="3561290"/>
            <a:ext cx="5103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 Compliance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14042" y="3815290"/>
            <a:ext cx="5103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Ensures answers align with official programme and faculty documents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84396" y="4267730"/>
            <a:ext cx="5299604" cy="703792"/>
          </a:xfrm>
          <a:custGeom>
            <a:avLst/>
            <a:gdLst/>
            <a:ahLst/>
            <a:cxnLst/>
            <a:rect l="l" t="t" r="r" b="b"/>
            <a:pathLst>
              <a:path w="5299604" h="703792">
                <a:moveTo>
                  <a:pt x="95251" y="0"/>
                </a:moveTo>
                <a:lnTo>
                  <a:pt x="5204353" y="0"/>
                </a:lnTo>
                <a:cubicBezTo>
                  <a:pt x="5256959" y="0"/>
                  <a:pt x="5299604" y="42645"/>
                  <a:pt x="5299604" y="95251"/>
                </a:cubicBezTo>
                <a:lnTo>
                  <a:pt x="5299604" y="608541"/>
                </a:lnTo>
                <a:cubicBezTo>
                  <a:pt x="5299604" y="661146"/>
                  <a:pt x="5256959" y="703792"/>
                  <a:pt x="5204353" y="703792"/>
                </a:cubicBezTo>
                <a:lnTo>
                  <a:pt x="95251" y="703792"/>
                </a:lnTo>
                <a:cubicBezTo>
                  <a:pt x="42645" y="703792"/>
                  <a:pt x="0" y="661146"/>
                  <a:pt x="0" y="608541"/>
                </a:cubicBezTo>
                <a:lnTo>
                  <a:pt x="0" y="95251"/>
                </a:lnTo>
                <a:cubicBezTo>
                  <a:pt x="0" y="42681"/>
                  <a:pt x="42681" y="0"/>
                  <a:pt x="95251" y="0"/>
                </a:cubicBezTo>
                <a:close/>
              </a:path>
            </a:pathLst>
          </a:custGeom>
          <a:solidFill>
            <a:srgbClr val="F1F5F9">
              <a:alpha val="10196"/>
            </a:srgbClr>
          </a:solidFill>
          <a:ln w="8467">
            <a:solidFill>
              <a:srgbClr val="F1F5F9">
                <a:alpha val="2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14042" y="4397375"/>
            <a:ext cx="5103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Hallucination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514042" y="4651375"/>
            <a:ext cx="5103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Minimizes incorrect information by grounding responses in verified sources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84396" y="5103811"/>
            <a:ext cx="5299604" cy="703792"/>
          </a:xfrm>
          <a:custGeom>
            <a:avLst/>
            <a:gdLst/>
            <a:ahLst/>
            <a:cxnLst/>
            <a:rect l="l" t="t" r="r" b="b"/>
            <a:pathLst>
              <a:path w="5299604" h="703792">
                <a:moveTo>
                  <a:pt x="95251" y="0"/>
                </a:moveTo>
                <a:lnTo>
                  <a:pt x="5204353" y="0"/>
                </a:lnTo>
                <a:cubicBezTo>
                  <a:pt x="5256959" y="0"/>
                  <a:pt x="5299604" y="42645"/>
                  <a:pt x="5299604" y="95251"/>
                </a:cubicBezTo>
                <a:lnTo>
                  <a:pt x="5299604" y="608541"/>
                </a:lnTo>
                <a:cubicBezTo>
                  <a:pt x="5299604" y="661146"/>
                  <a:pt x="5256959" y="703792"/>
                  <a:pt x="5204353" y="703792"/>
                </a:cubicBezTo>
                <a:lnTo>
                  <a:pt x="95251" y="703792"/>
                </a:lnTo>
                <a:cubicBezTo>
                  <a:pt x="42645" y="703792"/>
                  <a:pt x="0" y="661146"/>
                  <a:pt x="0" y="608541"/>
                </a:cubicBezTo>
                <a:lnTo>
                  <a:pt x="0" y="95251"/>
                </a:lnTo>
                <a:cubicBezTo>
                  <a:pt x="0" y="42681"/>
                  <a:pt x="42681" y="0"/>
                  <a:pt x="95251" y="0"/>
                </a:cubicBezTo>
                <a:close/>
              </a:path>
            </a:pathLst>
          </a:custGeom>
          <a:solidFill>
            <a:srgbClr val="F1F5F9">
              <a:alpha val="10196"/>
            </a:srgbClr>
          </a:solidFill>
          <a:ln w="8467">
            <a:solidFill>
              <a:srgbClr val="F1F5F9">
                <a:alpha val="2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14042" y="5233460"/>
            <a:ext cx="5103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Traceability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514042" y="5487460"/>
            <a:ext cx="5103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cite sources for transparency and verification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17500" y="6127750"/>
            <a:ext cx="11557000" cy="698500"/>
          </a:xfrm>
          <a:custGeom>
            <a:avLst/>
            <a:gdLst/>
            <a:ahLst/>
            <a:cxnLst/>
            <a:rect l="l" t="t" r="r" b="b"/>
            <a:pathLst>
              <a:path w="11557000" h="698500">
                <a:moveTo>
                  <a:pt x="95247" y="0"/>
                </a:moveTo>
                <a:lnTo>
                  <a:pt x="11461753" y="0"/>
                </a:lnTo>
                <a:cubicBezTo>
                  <a:pt x="11514356" y="0"/>
                  <a:pt x="11557000" y="42644"/>
                  <a:pt x="11557000" y="95247"/>
                </a:cubicBezTo>
                <a:lnTo>
                  <a:pt x="11557000" y="603253"/>
                </a:lnTo>
                <a:cubicBezTo>
                  <a:pt x="11557000" y="655856"/>
                  <a:pt x="11514356" y="698500"/>
                  <a:pt x="11461753" y="698500"/>
                </a:cubicBezTo>
                <a:lnTo>
                  <a:pt x="95247" y="698500"/>
                </a:lnTo>
                <a:cubicBezTo>
                  <a:pt x="42644" y="698500"/>
                  <a:pt x="0" y="655856"/>
                  <a:pt x="0" y="60325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gradFill flip="none" rotWithShape="1">
            <a:gsLst>
              <a:gs pos="0">
                <a:srgbClr val="1A3A5C"/>
              </a:gs>
              <a:gs pos="100000">
                <a:srgbClr val="5A7A96"/>
              </a:gs>
            </a:gsLst>
            <a:lin ang="0" scaled="1"/>
          </a:gradFill>
          <a:ln/>
        </p:spPr>
      </p:sp>
      <p:sp>
        <p:nvSpPr>
          <p:cNvPr id="55" name="Text 53"/>
          <p:cNvSpPr/>
          <p:nvPr/>
        </p:nvSpPr>
        <p:spPr>
          <a:xfrm>
            <a:off x="841375" y="6373813"/>
            <a:ext cx="68421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"RAG significantly improves factual accuracy in knowledge-intensive tasks by grounding responses in retrieved documents."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617564" y="6286500"/>
            <a:ext cx="1095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609627" y="6477000"/>
            <a:ext cx="1103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(Lewis et al., 2020)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88" dirty="0">
                <a:solidFill>
                  <a:srgbClr val="3D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/ Literature Review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A3A5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Voice &amp; Avatar Interaction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101600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Enhancing Accessibility and Engagement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365250"/>
            <a:ext cx="5683250" cy="3714750"/>
          </a:xfrm>
          <a:custGeom>
            <a:avLst/>
            <a:gdLst/>
            <a:ahLst/>
            <a:cxnLst/>
            <a:rect l="l" t="t" r="r" b="b"/>
            <a:pathLst>
              <a:path w="5683250" h="3714750">
                <a:moveTo>
                  <a:pt x="127007" y="0"/>
                </a:moveTo>
                <a:lnTo>
                  <a:pt x="5556243" y="0"/>
                </a:lnTo>
                <a:cubicBezTo>
                  <a:pt x="5626387" y="0"/>
                  <a:pt x="5683250" y="56863"/>
                  <a:pt x="5683250" y="127007"/>
                </a:cubicBezTo>
                <a:lnTo>
                  <a:pt x="5683250" y="3587743"/>
                </a:lnTo>
                <a:cubicBezTo>
                  <a:pt x="5683250" y="3657887"/>
                  <a:pt x="5626387" y="3714750"/>
                  <a:pt x="5556243" y="3714750"/>
                </a:cubicBezTo>
                <a:lnTo>
                  <a:pt x="127007" y="3714750"/>
                </a:lnTo>
                <a:cubicBezTo>
                  <a:pt x="56863" y="3714750"/>
                  <a:pt x="0" y="3657887"/>
                  <a:pt x="0" y="3587743"/>
                </a:cubicBezTo>
                <a:lnTo>
                  <a:pt x="0" y="127007"/>
                </a:lnTo>
                <a:cubicBezTo>
                  <a:pt x="0" y="56910"/>
                  <a:pt x="56910" y="0"/>
                  <a:pt x="1270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98438" dist="158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8000" y="155575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7" name="Shape 5"/>
          <p:cNvSpPr/>
          <p:nvPr/>
        </p:nvSpPr>
        <p:spPr>
          <a:xfrm>
            <a:off x="658813" y="16827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71438" y="0"/>
                </a:moveTo>
                <a:cubicBezTo>
                  <a:pt x="51718" y="0"/>
                  <a:pt x="35719" y="15999"/>
                  <a:pt x="35719" y="35719"/>
                </a:cubicBezTo>
                <a:lnTo>
                  <a:pt x="35719" y="83344"/>
                </a:lnTo>
                <a:cubicBezTo>
                  <a:pt x="35719" y="103063"/>
                  <a:pt x="51718" y="119063"/>
                  <a:pt x="71438" y="119063"/>
                </a:cubicBezTo>
                <a:cubicBezTo>
                  <a:pt x="91157" y="119063"/>
                  <a:pt x="107156" y="103063"/>
                  <a:pt x="107156" y="83344"/>
                </a:cubicBezTo>
                <a:lnTo>
                  <a:pt x="107156" y="35719"/>
                </a:lnTo>
                <a:cubicBezTo>
                  <a:pt x="107156" y="15999"/>
                  <a:pt x="91157" y="0"/>
                  <a:pt x="71438" y="0"/>
                </a:cubicBezTo>
                <a:close/>
                <a:moveTo>
                  <a:pt x="17859" y="68461"/>
                </a:moveTo>
                <a:cubicBezTo>
                  <a:pt x="17859" y="63512"/>
                  <a:pt x="13878" y="59531"/>
                  <a:pt x="8930" y="59531"/>
                </a:cubicBezTo>
                <a:cubicBezTo>
                  <a:pt x="3981" y="59531"/>
                  <a:pt x="0" y="63512"/>
                  <a:pt x="0" y="68461"/>
                </a:cubicBezTo>
                <a:lnTo>
                  <a:pt x="0" y="83344"/>
                </a:lnTo>
                <a:cubicBezTo>
                  <a:pt x="0" y="119769"/>
                  <a:pt x="27273" y="149833"/>
                  <a:pt x="62508" y="154223"/>
                </a:cubicBezTo>
                <a:lnTo>
                  <a:pt x="6250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98227" y="190500"/>
                </a:lnTo>
                <a:cubicBezTo>
                  <a:pt x="103175" y="190500"/>
                  <a:pt x="107156" y="186519"/>
                  <a:pt x="107156" y="181570"/>
                </a:cubicBezTo>
                <a:cubicBezTo>
                  <a:pt x="107156" y="176622"/>
                  <a:pt x="103175" y="172641"/>
                  <a:pt x="98227" y="172641"/>
                </a:cubicBezTo>
                <a:lnTo>
                  <a:pt x="80367" y="172641"/>
                </a:lnTo>
                <a:lnTo>
                  <a:pt x="80367" y="154223"/>
                </a:lnTo>
                <a:cubicBezTo>
                  <a:pt x="115602" y="149833"/>
                  <a:pt x="142875" y="119769"/>
                  <a:pt x="142875" y="83344"/>
                </a:cubicBezTo>
                <a:lnTo>
                  <a:pt x="142875" y="68461"/>
                </a:lnTo>
                <a:cubicBezTo>
                  <a:pt x="142875" y="63512"/>
                  <a:pt x="138894" y="59531"/>
                  <a:pt x="133945" y="59531"/>
                </a:cubicBezTo>
                <a:cubicBezTo>
                  <a:pt x="128997" y="59531"/>
                  <a:pt x="125016" y="63512"/>
                  <a:pt x="125016" y="68461"/>
                </a:cubicBezTo>
                <a:lnTo>
                  <a:pt x="125016" y="83344"/>
                </a:lnTo>
                <a:cubicBezTo>
                  <a:pt x="125016" y="112923"/>
                  <a:pt x="101017" y="136922"/>
                  <a:pt x="71438" y="136922"/>
                </a:cubicBezTo>
                <a:cubicBezTo>
                  <a:pt x="41858" y="136922"/>
                  <a:pt x="17859" y="112923"/>
                  <a:pt x="17859" y="83344"/>
                </a:cubicBezTo>
                <a:lnTo>
                  <a:pt x="17859" y="68461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1651000"/>
            <a:ext cx="158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A3A5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Voice Interaction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8000" y="2159000"/>
            <a:ext cx="5302250" cy="698500"/>
          </a:xfrm>
          <a:custGeom>
            <a:avLst/>
            <a:gdLst/>
            <a:ahLst/>
            <a:cxnLst/>
            <a:rect l="l" t="t" r="r" b="b"/>
            <a:pathLst>
              <a:path w="5302250" h="698500">
                <a:moveTo>
                  <a:pt x="95247" y="0"/>
                </a:moveTo>
                <a:lnTo>
                  <a:pt x="5207003" y="0"/>
                </a:lnTo>
                <a:cubicBezTo>
                  <a:pt x="5259606" y="0"/>
                  <a:pt x="5302250" y="42644"/>
                  <a:pt x="5302250" y="95247"/>
                </a:cubicBezTo>
                <a:lnTo>
                  <a:pt x="5302250" y="603253"/>
                </a:lnTo>
                <a:cubicBezTo>
                  <a:pt x="5302250" y="655856"/>
                  <a:pt x="5259606" y="698500"/>
                  <a:pt x="5207003" y="698500"/>
                </a:cubicBezTo>
                <a:lnTo>
                  <a:pt x="95247" y="698500"/>
                </a:lnTo>
                <a:cubicBezTo>
                  <a:pt x="42644" y="698500"/>
                  <a:pt x="0" y="655856"/>
                  <a:pt x="0" y="60325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3D8B8B">
              <a:alpha val="5098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58813" y="23177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11" name="Text 9"/>
          <p:cNvSpPr/>
          <p:nvPr/>
        </p:nvSpPr>
        <p:spPr>
          <a:xfrm>
            <a:off x="889000" y="2286000"/>
            <a:ext cx="1317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Improved Accessibility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7250" y="2540000"/>
            <a:ext cx="488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Voice-based systems improve usability for diverse user groups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8000" y="2984500"/>
            <a:ext cx="5302250" cy="889000"/>
          </a:xfrm>
          <a:custGeom>
            <a:avLst/>
            <a:gdLst/>
            <a:ahLst/>
            <a:cxnLst/>
            <a:rect l="l" t="t" r="r" b="b"/>
            <a:pathLst>
              <a:path w="5302250" h="889000">
                <a:moveTo>
                  <a:pt x="95247" y="0"/>
                </a:moveTo>
                <a:lnTo>
                  <a:pt x="5207003" y="0"/>
                </a:lnTo>
                <a:cubicBezTo>
                  <a:pt x="5259606" y="0"/>
                  <a:pt x="5302250" y="42644"/>
                  <a:pt x="5302250" y="95247"/>
                </a:cubicBezTo>
                <a:lnTo>
                  <a:pt x="5302250" y="793753"/>
                </a:lnTo>
                <a:cubicBezTo>
                  <a:pt x="5302250" y="846356"/>
                  <a:pt x="5259606" y="889000"/>
                  <a:pt x="5207003" y="889000"/>
                </a:cubicBezTo>
                <a:lnTo>
                  <a:pt x="95247" y="889000"/>
                </a:lnTo>
                <a:cubicBezTo>
                  <a:pt x="42644" y="889000"/>
                  <a:pt x="0" y="846356"/>
                  <a:pt x="0" y="79375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3D8B8B">
              <a:alpha val="5098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58813" y="31432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15" name="Text 13"/>
          <p:cNvSpPr/>
          <p:nvPr/>
        </p:nvSpPr>
        <p:spPr>
          <a:xfrm>
            <a:off x="889000" y="3111500"/>
            <a:ext cx="1563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 Speech Recognition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7250" y="3365500"/>
            <a:ext cx="488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Whisper provides robust recognition across accents and noisy environments (Radford et al., 2023)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8000" y="4000500"/>
            <a:ext cx="5302250" cy="698500"/>
          </a:xfrm>
          <a:custGeom>
            <a:avLst/>
            <a:gdLst/>
            <a:ahLst/>
            <a:cxnLst/>
            <a:rect l="l" t="t" r="r" b="b"/>
            <a:pathLst>
              <a:path w="5302250" h="698500">
                <a:moveTo>
                  <a:pt x="95247" y="0"/>
                </a:moveTo>
                <a:lnTo>
                  <a:pt x="5207003" y="0"/>
                </a:lnTo>
                <a:cubicBezTo>
                  <a:pt x="5259606" y="0"/>
                  <a:pt x="5302250" y="42644"/>
                  <a:pt x="5302250" y="95247"/>
                </a:cubicBezTo>
                <a:lnTo>
                  <a:pt x="5302250" y="603253"/>
                </a:lnTo>
                <a:cubicBezTo>
                  <a:pt x="5302250" y="655856"/>
                  <a:pt x="5259606" y="698500"/>
                  <a:pt x="5207003" y="698500"/>
                </a:cubicBezTo>
                <a:lnTo>
                  <a:pt x="95247" y="698500"/>
                </a:lnTo>
                <a:cubicBezTo>
                  <a:pt x="42644" y="698500"/>
                  <a:pt x="0" y="655856"/>
                  <a:pt x="0" y="60325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3D8B8B">
              <a:alpha val="5098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58813" y="41592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19" name="Text 17"/>
          <p:cNvSpPr/>
          <p:nvPr/>
        </p:nvSpPr>
        <p:spPr>
          <a:xfrm>
            <a:off x="889000" y="4127500"/>
            <a:ext cx="136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Natural Communication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7250" y="4381500"/>
            <a:ext cx="488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Enables hands-free, conversational interaction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91250" y="1365250"/>
            <a:ext cx="5683250" cy="3714750"/>
          </a:xfrm>
          <a:custGeom>
            <a:avLst/>
            <a:gdLst/>
            <a:ahLst/>
            <a:cxnLst/>
            <a:rect l="l" t="t" r="r" b="b"/>
            <a:pathLst>
              <a:path w="5683250" h="3714750">
                <a:moveTo>
                  <a:pt x="127007" y="0"/>
                </a:moveTo>
                <a:lnTo>
                  <a:pt x="5556243" y="0"/>
                </a:lnTo>
                <a:cubicBezTo>
                  <a:pt x="5626387" y="0"/>
                  <a:pt x="5683250" y="56863"/>
                  <a:pt x="5683250" y="127007"/>
                </a:cubicBezTo>
                <a:lnTo>
                  <a:pt x="5683250" y="3587743"/>
                </a:lnTo>
                <a:cubicBezTo>
                  <a:pt x="5683250" y="3657887"/>
                  <a:pt x="5626387" y="3714750"/>
                  <a:pt x="5556243" y="3714750"/>
                </a:cubicBezTo>
                <a:lnTo>
                  <a:pt x="127007" y="3714750"/>
                </a:lnTo>
                <a:cubicBezTo>
                  <a:pt x="56863" y="3714750"/>
                  <a:pt x="0" y="3657887"/>
                  <a:pt x="0" y="3587743"/>
                </a:cubicBezTo>
                <a:lnTo>
                  <a:pt x="0" y="127007"/>
                </a:lnTo>
                <a:cubicBezTo>
                  <a:pt x="0" y="56910"/>
                  <a:pt x="56910" y="0"/>
                  <a:pt x="1270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98438" dist="158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1750" y="155575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23" name="Shape 21"/>
          <p:cNvSpPr/>
          <p:nvPr/>
        </p:nvSpPr>
        <p:spPr>
          <a:xfrm>
            <a:off x="6508750" y="1682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456" y="142949"/>
                </a:moveTo>
                <a:cubicBezTo>
                  <a:pt x="140233" y="128662"/>
                  <a:pt x="124792" y="119063"/>
                  <a:pt x="107156" y="119063"/>
                </a:cubicBezTo>
                <a:lnTo>
                  <a:pt x="83344" y="119063"/>
                </a:lnTo>
                <a:cubicBezTo>
                  <a:pt x="65708" y="119063"/>
                  <a:pt x="50267" y="128662"/>
                  <a:pt x="42044" y="142949"/>
                </a:cubicBezTo>
                <a:cubicBezTo>
                  <a:pt x="55141" y="157535"/>
                  <a:pt x="74116" y="166688"/>
                  <a:pt x="95250" y="166688"/>
                </a:cubicBezTo>
                <a:cubicBezTo>
                  <a:pt x="116384" y="166688"/>
                  <a:pt x="135359" y="157497"/>
                  <a:pt x="148456" y="142949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01203"/>
                </a:moveTo>
                <a:cubicBezTo>
                  <a:pt x="110035" y="101203"/>
                  <a:pt x="122039" y="89199"/>
                  <a:pt x="122039" y="74414"/>
                </a:cubicBezTo>
                <a:cubicBezTo>
                  <a:pt x="122039" y="59629"/>
                  <a:pt x="110035" y="47625"/>
                  <a:pt x="95250" y="47625"/>
                </a:cubicBezTo>
                <a:cubicBezTo>
                  <a:pt x="80465" y="47625"/>
                  <a:pt x="68461" y="59629"/>
                  <a:pt x="68461" y="74414"/>
                </a:cubicBezTo>
                <a:cubicBezTo>
                  <a:pt x="68461" y="89199"/>
                  <a:pt x="80465" y="101203"/>
                  <a:pt x="95250" y="101203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6953250" y="1651000"/>
            <a:ext cx="16589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A3A5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Avatar Interaction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81750" y="2159000"/>
            <a:ext cx="5302250" cy="889000"/>
          </a:xfrm>
          <a:custGeom>
            <a:avLst/>
            <a:gdLst/>
            <a:ahLst/>
            <a:cxnLst/>
            <a:rect l="l" t="t" r="r" b="b"/>
            <a:pathLst>
              <a:path w="5302250" h="889000">
                <a:moveTo>
                  <a:pt x="95247" y="0"/>
                </a:moveTo>
                <a:lnTo>
                  <a:pt x="5207003" y="0"/>
                </a:lnTo>
                <a:cubicBezTo>
                  <a:pt x="5259606" y="0"/>
                  <a:pt x="5302250" y="42644"/>
                  <a:pt x="5302250" y="95247"/>
                </a:cubicBezTo>
                <a:lnTo>
                  <a:pt x="5302250" y="793753"/>
                </a:lnTo>
                <a:cubicBezTo>
                  <a:pt x="5302250" y="846356"/>
                  <a:pt x="5259606" y="889000"/>
                  <a:pt x="5207003" y="889000"/>
                </a:cubicBezTo>
                <a:lnTo>
                  <a:pt x="95247" y="889000"/>
                </a:lnTo>
                <a:cubicBezTo>
                  <a:pt x="42644" y="889000"/>
                  <a:pt x="0" y="846356"/>
                  <a:pt x="0" y="79375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1A3A5C">
              <a:alpha val="5098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32563" y="23177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6762750" y="2286000"/>
            <a:ext cx="1309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Enhanced Engagement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31000" y="2540000"/>
            <a:ext cx="488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Embodied conversational agents increase user engagement compared to text-only systems (Cassell et al., 2000)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81750" y="3175000"/>
            <a:ext cx="5302250" cy="698500"/>
          </a:xfrm>
          <a:custGeom>
            <a:avLst/>
            <a:gdLst/>
            <a:ahLst/>
            <a:cxnLst/>
            <a:rect l="l" t="t" r="r" b="b"/>
            <a:pathLst>
              <a:path w="5302250" h="698500">
                <a:moveTo>
                  <a:pt x="95247" y="0"/>
                </a:moveTo>
                <a:lnTo>
                  <a:pt x="5207003" y="0"/>
                </a:lnTo>
                <a:cubicBezTo>
                  <a:pt x="5259606" y="0"/>
                  <a:pt x="5302250" y="42644"/>
                  <a:pt x="5302250" y="95247"/>
                </a:cubicBezTo>
                <a:lnTo>
                  <a:pt x="5302250" y="603253"/>
                </a:lnTo>
                <a:cubicBezTo>
                  <a:pt x="5302250" y="655856"/>
                  <a:pt x="5259606" y="698500"/>
                  <a:pt x="5207003" y="698500"/>
                </a:cubicBezTo>
                <a:lnTo>
                  <a:pt x="95247" y="698500"/>
                </a:lnTo>
                <a:cubicBezTo>
                  <a:pt x="42644" y="698500"/>
                  <a:pt x="0" y="655856"/>
                  <a:pt x="0" y="60325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1A3A5C">
              <a:alpha val="5098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32563" y="33337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6762750" y="3302000"/>
            <a:ext cx="912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Increased Trust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31000" y="3556000"/>
            <a:ext cx="488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presence builds user confidence and rapport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81750" y="4000500"/>
            <a:ext cx="5302250" cy="889000"/>
          </a:xfrm>
          <a:custGeom>
            <a:avLst/>
            <a:gdLst/>
            <a:ahLst/>
            <a:cxnLst/>
            <a:rect l="l" t="t" r="r" b="b"/>
            <a:pathLst>
              <a:path w="5302250" h="889000">
                <a:moveTo>
                  <a:pt x="95247" y="0"/>
                </a:moveTo>
                <a:lnTo>
                  <a:pt x="5207003" y="0"/>
                </a:lnTo>
                <a:cubicBezTo>
                  <a:pt x="5259606" y="0"/>
                  <a:pt x="5302250" y="42644"/>
                  <a:pt x="5302250" y="95247"/>
                </a:cubicBezTo>
                <a:lnTo>
                  <a:pt x="5302250" y="793753"/>
                </a:lnTo>
                <a:cubicBezTo>
                  <a:pt x="5302250" y="846356"/>
                  <a:pt x="5259606" y="889000"/>
                  <a:pt x="5207003" y="889000"/>
                </a:cubicBezTo>
                <a:lnTo>
                  <a:pt x="95247" y="889000"/>
                </a:lnTo>
                <a:cubicBezTo>
                  <a:pt x="42644" y="889000"/>
                  <a:pt x="0" y="846356"/>
                  <a:pt x="0" y="79375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1A3A5C">
              <a:alpha val="5098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532563" y="41592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6762750" y="4127500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Realism Through Lip Sync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31000" y="4381500"/>
            <a:ext cx="488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Lip synchronisation improves realism by aligning speech with facial movement (Taylor et al., 2017)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17500" y="5207000"/>
            <a:ext cx="11557000" cy="1349375"/>
          </a:xfrm>
          <a:custGeom>
            <a:avLst/>
            <a:gdLst/>
            <a:ahLst/>
            <a:cxnLst/>
            <a:rect l="l" t="t" r="r" b="b"/>
            <a:pathLst>
              <a:path w="11557000" h="1349375">
                <a:moveTo>
                  <a:pt x="127003" y="0"/>
                </a:moveTo>
                <a:lnTo>
                  <a:pt x="11429997" y="0"/>
                </a:lnTo>
                <a:cubicBezTo>
                  <a:pt x="11500139" y="0"/>
                  <a:pt x="11557000" y="56861"/>
                  <a:pt x="11557000" y="127003"/>
                </a:cubicBezTo>
                <a:lnTo>
                  <a:pt x="11557000" y="1222372"/>
                </a:lnTo>
                <a:cubicBezTo>
                  <a:pt x="11557000" y="1292514"/>
                  <a:pt x="11500139" y="1349375"/>
                  <a:pt x="11429997" y="1349375"/>
                </a:cubicBezTo>
                <a:lnTo>
                  <a:pt x="127003" y="1349375"/>
                </a:lnTo>
                <a:cubicBezTo>
                  <a:pt x="56861" y="1349375"/>
                  <a:pt x="0" y="1292514"/>
                  <a:pt x="0" y="1222372"/>
                </a:cubicBezTo>
                <a:lnTo>
                  <a:pt x="0" y="127003"/>
                </a:lnTo>
                <a:cubicBezTo>
                  <a:pt x="0" y="56908"/>
                  <a:pt x="56908" y="0"/>
                  <a:pt x="127003" y="0"/>
                </a:cubicBezTo>
                <a:close/>
              </a:path>
            </a:pathLst>
          </a:custGeom>
          <a:gradFill flip="none" rotWithShape="1">
            <a:gsLst>
              <a:gs pos="0">
                <a:srgbClr val="1A3A5C"/>
              </a:gs>
              <a:gs pos="100000">
                <a:srgbClr val="3D8B8B"/>
              </a:gs>
            </a:gsLst>
            <a:lin ang="0" scaled="1"/>
          </a:gradFill>
          <a:ln/>
          <a:effectLst>
            <a:outerShdw blurRad="198438" dist="158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08000" y="5564188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127000" y="0"/>
                </a:moveTo>
                <a:lnTo>
                  <a:pt x="508000" y="0"/>
                </a:lnTo>
                <a:cubicBezTo>
                  <a:pt x="578093" y="0"/>
                  <a:pt x="635000" y="56907"/>
                  <a:pt x="635000" y="127000"/>
                </a:cubicBezTo>
                <a:lnTo>
                  <a:pt x="635000" y="508000"/>
                </a:lnTo>
                <a:cubicBezTo>
                  <a:pt x="635000" y="578093"/>
                  <a:pt x="578093" y="635000"/>
                  <a:pt x="508000" y="635000"/>
                </a:cubicBezTo>
                <a:lnTo>
                  <a:pt x="127000" y="635000"/>
                </a:lnTo>
                <a:cubicBezTo>
                  <a:pt x="56907" y="635000"/>
                  <a:pt x="0" y="578093"/>
                  <a:pt x="0" y="508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1F5F9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82625" y="573881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5016" y="0"/>
                </a:moveTo>
                <a:cubicBezTo>
                  <a:pt x="144717" y="0"/>
                  <a:pt x="160734" y="11999"/>
                  <a:pt x="160734" y="26789"/>
                </a:cubicBezTo>
                <a:cubicBezTo>
                  <a:pt x="160734" y="32593"/>
                  <a:pt x="158279" y="37951"/>
                  <a:pt x="154037" y="42360"/>
                </a:cubicBezTo>
                <a:cubicBezTo>
                  <a:pt x="150354" y="46211"/>
                  <a:pt x="147340" y="50899"/>
                  <a:pt x="147340" y="56257"/>
                </a:cubicBezTo>
                <a:cubicBezTo>
                  <a:pt x="147340" y="64629"/>
                  <a:pt x="154149" y="71438"/>
                  <a:pt x="162520" y="71438"/>
                </a:cubicBezTo>
                <a:lnTo>
                  <a:pt x="187523" y="71438"/>
                </a:lnTo>
                <a:cubicBezTo>
                  <a:pt x="202313" y="71438"/>
                  <a:pt x="214313" y="83437"/>
                  <a:pt x="214313" y="98227"/>
                </a:cubicBezTo>
                <a:lnTo>
                  <a:pt x="214313" y="123230"/>
                </a:lnTo>
                <a:cubicBezTo>
                  <a:pt x="214313" y="131601"/>
                  <a:pt x="221121" y="138410"/>
                  <a:pt x="229493" y="138410"/>
                </a:cubicBezTo>
                <a:cubicBezTo>
                  <a:pt x="234795" y="138410"/>
                  <a:pt x="239539" y="135396"/>
                  <a:pt x="243390" y="131713"/>
                </a:cubicBezTo>
                <a:cubicBezTo>
                  <a:pt x="247799" y="127527"/>
                  <a:pt x="253157" y="125016"/>
                  <a:pt x="258961" y="125016"/>
                </a:cubicBezTo>
                <a:cubicBezTo>
                  <a:pt x="273751" y="125016"/>
                  <a:pt x="285750" y="141033"/>
                  <a:pt x="285750" y="160734"/>
                </a:cubicBezTo>
                <a:cubicBezTo>
                  <a:pt x="285750" y="180435"/>
                  <a:pt x="273751" y="196453"/>
                  <a:pt x="258961" y="196453"/>
                </a:cubicBezTo>
                <a:cubicBezTo>
                  <a:pt x="253157" y="196453"/>
                  <a:pt x="247743" y="193997"/>
                  <a:pt x="243390" y="189756"/>
                </a:cubicBezTo>
                <a:cubicBezTo>
                  <a:pt x="239539" y="186072"/>
                  <a:pt x="234851" y="183059"/>
                  <a:pt x="229493" y="183059"/>
                </a:cubicBezTo>
                <a:cubicBezTo>
                  <a:pt x="221121" y="183059"/>
                  <a:pt x="214313" y="189867"/>
                  <a:pt x="214313" y="198239"/>
                </a:cubicBezTo>
                <a:lnTo>
                  <a:pt x="214313" y="258961"/>
                </a:lnTo>
                <a:cubicBezTo>
                  <a:pt x="214313" y="273751"/>
                  <a:pt x="202313" y="285750"/>
                  <a:pt x="187523" y="285750"/>
                </a:cubicBezTo>
                <a:lnTo>
                  <a:pt x="155823" y="285750"/>
                </a:lnTo>
                <a:cubicBezTo>
                  <a:pt x="148679" y="285750"/>
                  <a:pt x="142875" y="279946"/>
                  <a:pt x="142875" y="272802"/>
                </a:cubicBezTo>
                <a:cubicBezTo>
                  <a:pt x="142875" y="267667"/>
                  <a:pt x="146112" y="263147"/>
                  <a:pt x="150242" y="260077"/>
                </a:cubicBezTo>
                <a:cubicBezTo>
                  <a:pt x="156716" y="255222"/>
                  <a:pt x="160734" y="248524"/>
                  <a:pt x="160734" y="241102"/>
                </a:cubicBezTo>
                <a:cubicBezTo>
                  <a:pt x="160734" y="226312"/>
                  <a:pt x="144717" y="214313"/>
                  <a:pt x="125016" y="214313"/>
                </a:cubicBezTo>
                <a:cubicBezTo>
                  <a:pt x="105315" y="214313"/>
                  <a:pt x="89297" y="226312"/>
                  <a:pt x="89297" y="241102"/>
                </a:cubicBezTo>
                <a:cubicBezTo>
                  <a:pt x="89297" y="248524"/>
                  <a:pt x="93315" y="255222"/>
                  <a:pt x="99789" y="260077"/>
                </a:cubicBezTo>
                <a:cubicBezTo>
                  <a:pt x="103919" y="263147"/>
                  <a:pt x="107156" y="267612"/>
                  <a:pt x="107156" y="272802"/>
                </a:cubicBezTo>
                <a:cubicBezTo>
                  <a:pt x="107156" y="279946"/>
                  <a:pt x="101352" y="285750"/>
                  <a:pt x="94208" y="285750"/>
                </a:cubicBezTo>
                <a:lnTo>
                  <a:pt x="26789" y="285750"/>
                </a:lnTo>
                <a:cubicBezTo>
                  <a:pt x="11999" y="285750"/>
                  <a:pt x="0" y="273751"/>
                  <a:pt x="0" y="258961"/>
                </a:cubicBezTo>
                <a:lnTo>
                  <a:pt x="0" y="191542"/>
                </a:lnTo>
                <a:cubicBezTo>
                  <a:pt x="0" y="184398"/>
                  <a:pt x="5804" y="178594"/>
                  <a:pt x="12948" y="178594"/>
                </a:cubicBezTo>
                <a:cubicBezTo>
                  <a:pt x="18083" y="178594"/>
                  <a:pt x="22603" y="181831"/>
                  <a:pt x="25673" y="185961"/>
                </a:cubicBezTo>
                <a:cubicBezTo>
                  <a:pt x="30528" y="192435"/>
                  <a:pt x="37226" y="196453"/>
                  <a:pt x="44648" y="196453"/>
                </a:cubicBezTo>
                <a:cubicBezTo>
                  <a:pt x="59438" y="196453"/>
                  <a:pt x="71438" y="180435"/>
                  <a:pt x="71438" y="160734"/>
                </a:cubicBezTo>
                <a:cubicBezTo>
                  <a:pt x="71438" y="141033"/>
                  <a:pt x="59438" y="125016"/>
                  <a:pt x="44648" y="125016"/>
                </a:cubicBezTo>
                <a:cubicBezTo>
                  <a:pt x="37226" y="125016"/>
                  <a:pt x="30528" y="129034"/>
                  <a:pt x="25673" y="135508"/>
                </a:cubicBezTo>
                <a:cubicBezTo>
                  <a:pt x="22603" y="139638"/>
                  <a:pt x="18138" y="142875"/>
                  <a:pt x="12948" y="142875"/>
                </a:cubicBezTo>
                <a:cubicBezTo>
                  <a:pt x="5804" y="142875"/>
                  <a:pt x="0" y="137071"/>
                  <a:pt x="0" y="129927"/>
                </a:cubicBezTo>
                <a:lnTo>
                  <a:pt x="0" y="98227"/>
                </a:lnTo>
                <a:cubicBezTo>
                  <a:pt x="0" y="83437"/>
                  <a:pt x="11999" y="71438"/>
                  <a:pt x="26789" y="71438"/>
                </a:cubicBezTo>
                <a:lnTo>
                  <a:pt x="87511" y="71438"/>
                </a:lnTo>
                <a:cubicBezTo>
                  <a:pt x="95883" y="71438"/>
                  <a:pt x="102691" y="64629"/>
                  <a:pt x="102691" y="56257"/>
                </a:cubicBezTo>
                <a:cubicBezTo>
                  <a:pt x="102691" y="50955"/>
                  <a:pt x="99678" y="46211"/>
                  <a:pt x="95994" y="42360"/>
                </a:cubicBezTo>
                <a:cubicBezTo>
                  <a:pt x="91808" y="37951"/>
                  <a:pt x="89297" y="32593"/>
                  <a:pt x="89297" y="26789"/>
                </a:cubicBezTo>
                <a:cubicBezTo>
                  <a:pt x="89297" y="11999"/>
                  <a:pt x="105315" y="0"/>
                  <a:pt x="125016" y="0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1333500" y="5397500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1F5F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Synergy Effect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333500" y="5746750"/>
            <a:ext cx="6953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Combining </a:t>
            </a:r>
            <a:r>
              <a:rPr lang="en-US" sz="10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 interaction</a:t>
            </a:r>
            <a:r>
              <a:rPr lang="en-US" sz="10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</a:t>
            </a:r>
            <a:r>
              <a:rPr lang="en-US" sz="10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embodied avatars</a:t>
            </a:r>
            <a:r>
              <a:rPr lang="en-US" sz="10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creates a more natural, accessible, and engaging user experience than either technology alone. This multimodal approach is particularly valuable for academic advising, where clear communication and user trust are essential.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361082" y="5675313"/>
            <a:ext cx="3325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b="1" kern="0" spc="44" dirty="0">
                <a:solidFill>
                  <a:srgbClr val="3D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APA Citation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53144" y="5897563"/>
            <a:ext cx="333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(Radford et al., 2023; Cassell et al., 2000; Taylor et al., 2017)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851" y="365851"/>
            <a:ext cx="11524321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b="1" kern="0" spc="101" dirty="0">
                <a:solidFill>
                  <a:srgbClr val="3D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/ Research Gap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851" y="658533"/>
            <a:ext cx="11679808" cy="439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57" b="1" dirty="0">
                <a:solidFill>
                  <a:srgbClr val="1A3A5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Identified Research Gaps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144" y="1243895"/>
            <a:ext cx="5624966" cy="1682917"/>
          </a:xfrm>
          <a:custGeom>
            <a:avLst/>
            <a:gdLst/>
            <a:ahLst/>
            <a:cxnLst/>
            <a:rect l="l" t="t" r="r" b="b"/>
            <a:pathLst>
              <a:path w="5624966" h="1682917">
                <a:moveTo>
                  <a:pt x="36585" y="0"/>
                </a:moveTo>
                <a:lnTo>
                  <a:pt x="5478620" y="0"/>
                </a:lnTo>
                <a:cubicBezTo>
                  <a:pt x="5559445" y="0"/>
                  <a:pt x="5624966" y="65522"/>
                  <a:pt x="5624966" y="146346"/>
                </a:cubicBezTo>
                <a:lnTo>
                  <a:pt x="5624966" y="1536570"/>
                </a:lnTo>
                <a:cubicBezTo>
                  <a:pt x="5624966" y="1617395"/>
                  <a:pt x="5559445" y="1682917"/>
                  <a:pt x="5478620" y="1682917"/>
                </a:cubicBezTo>
                <a:lnTo>
                  <a:pt x="36585" y="1682917"/>
                </a:lnTo>
                <a:cubicBezTo>
                  <a:pt x="16380" y="1682917"/>
                  <a:pt x="0" y="1666537"/>
                  <a:pt x="0" y="1646332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28657" dist="18292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144" y="1243895"/>
            <a:ext cx="36585" cy="1682917"/>
          </a:xfrm>
          <a:custGeom>
            <a:avLst/>
            <a:gdLst/>
            <a:ahLst/>
            <a:cxnLst/>
            <a:rect l="l" t="t" r="r" b="b"/>
            <a:pathLst>
              <a:path w="36585" h="1682917">
                <a:moveTo>
                  <a:pt x="36585" y="0"/>
                </a:moveTo>
                <a:lnTo>
                  <a:pt x="36585" y="0"/>
                </a:lnTo>
                <a:lnTo>
                  <a:pt x="36585" y="1682917"/>
                </a:lnTo>
                <a:lnTo>
                  <a:pt x="36585" y="1682917"/>
                </a:lnTo>
                <a:cubicBezTo>
                  <a:pt x="16380" y="1682917"/>
                  <a:pt x="0" y="1666537"/>
                  <a:pt x="0" y="1646332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6" name="Shape 4"/>
          <p:cNvSpPr/>
          <p:nvPr/>
        </p:nvSpPr>
        <p:spPr>
          <a:xfrm>
            <a:off x="585362" y="1426821"/>
            <a:ext cx="512192" cy="512192"/>
          </a:xfrm>
          <a:custGeom>
            <a:avLst/>
            <a:gdLst/>
            <a:ahLst/>
            <a:cxnLst/>
            <a:rect l="l" t="t" r="r" b="b"/>
            <a:pathLst>
              <a:path w="512192" h="512192">
                <a:moveTo>
                  <a:pt x="109758" y="0"/>
                </a:moveTo>
                <a:lnTo>
                  <a:pt x="402434" y="0"/>
                </a:lnTo>
                <a:cubicBezTo>
                  <a:pt x="463011" y="0"/>
                  <a:pt x="512192" y="49181"/>
                  <a:pt x="512192" y="109758"/>
                </a:cubicBezTo>
                <a:lnTo>
                  <a:pt x="512192" y="402434"/>
                </a:lnTo>
                <a:cubicBezTo>
                  <a:pt x="512192" y="463052"/>
                  <a:pt x="463052" y="512192"/>
                  <a:pt x="402434" y="512192"/>
                </a:cubicBezTo>
                <a:lnTo>
                  <a:pt x="109758" y="512192"/>
                </a:lnTo>
                <a:cubicBezTo>
                  <a:pt x="49181" y="512192"/>
                  <a:pt x="0" y="463011"/>
                  <a:pt x="0" y="402434"/>
                </a:cubicBezTo>
                <a:lnTo>
                  <a:pt x="0" y="109758"/>
                </a:lnTo>
                <a:cubicBezTo>
                  <a:pt x="0" y="49181"/>
                  <a:pt x="49181" y="0"/>
                  <a:pt x="109758" y="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7" name="Shape 5"/>
          <p:cNvSpPr/>
          <p:nvPr/>
        </p:nvSpPr>
        <p:spPr>
          <a:xfrm>
            <a:off x="731703" y="1573161"/>
            <a:ext cx="219511" cy="219511"/>
          </a:xfrm>
          <a:custGeom>
            <a:avLst/>
            <a:gdLst/>
            <a:ahLst/>
            <a:cxnLst/>
            <a:rect l="l" t="t" r="r" b="b"/>
            <a:pathLst>
              <a:path w="219511" h="219511">
                <a:moveTo>
                  <a:pt x="109755" y="0"/>
                </a:moveTo>
                <a:cubicBezTo>
                  <a:pt x="116058" y="0"/>
                  <a:pt x="121846" y="3473"/>
                  <a:pt x="124847" y="9003"/>
                </a:cubicBezTo>
                <a:lnTo>
                  <a:pt x="217453" y="180496"/>
                </a:lnTo>
                <a:cubicBezTo>
                  <a:pt x="220325" y="185813"/>
                  <a:pt x="220197" y="192244"/>
                  <a:pt x="217110" y="197431"/>
                </a:cubicBezTo>
                <a:cubicBezTo>
                  <a:pt x="214023" y="202619"/>
                  <a:pt x="208407" y="205791"/>
                  <a:pt x="202362" y="205791"/>
                </a:cubicBezTo>
                <a:lnTo>
                  <a:pt x="17149" y="205791"/>
                </a:lnTo>
                <a:cubicBezTo>
                  <a:pt x="11104" y="205791"/>
                  <a:pt x="5531" y="202619"/>
                  <a:pt x="2401" y="197431"/>
                </a:cubicBezTo>
                <a:cubicBezTo>
                  <a:pt x="-729" y="192244"/>
                  <a:pt x="-815" y="185813"/>
                  <a:pt x="2058" y="180496"/>
                </a:cubicBezTo>
                <a:lnTo>
                  <a:pt x="94664" y="9003"/>
                </a:lnTo>
                <a:cubicBezTo>
                  <a:pt x="97665" y="3473"/>
                  <a:pt x="103453" y="0"/>
                  <a:pt x="109755" y="0"/>
                </a:cubicBezTo>
                <a:close/>
                <a:moveTo>
                  <a:pt x="109755" y="72027"/>
                </a:moveTo>
                <a:cubicBezTo>
                  <a:pt x="104053" y="72027"/>
                  <a:pt x="99466" y="76614"/>
                  <a:pt x="99466" y="82317"/>
                </a:cubicBezTo>
                <a:lnTo>
                  <a:pt x="99466" y="130335"/>
                </a:lnTo>
                <a:cubicBezTo>
                  <a:pt x="99466" y="136037"/>
                  <a:pt x="104053" y="140624"/>
                  <a:pt x="109755" y="140624"/>
                </a:cubicBezTo>
                <a:cubicBezTo>
                  <a:pt x="115458" y="140624"/>
                  <a:pt x="120045" y="136037"/>
                  <a:pt x="120045" y="130335"/>
                </a:cubicBezTo>
                <a:lnTo>
                  <a:pt x="120045" y="82317"/>
                </a:lnTo>
                <a:cubicBezTo>
                  <a:pt x="120045" y="76614"/>
                  <a:pt x="115458" y="72027"/>
                  <a:pt x="109755" y="72027"/>
                </a:cubicBezTo>
                <a:close/>
                <a:moveTo>
                  <a:pt x="121203" y="164633"/>
                </a:moveTo>
                <a:cubicBezTo>
                  <a:pt x="121463" y="160384"/>
                  <a:pt x="119344" y="156342"/>
                  <a:pt x="115702" y="154138"/>
                </a:cubicBezTo>
                <a:cubicBezTo>
                  <a:pt x="112059" y="151935"/>
                  <a:pt x="107495" y="151935"/>
                  <a:pt x="103852" y="154138"/>
                </a:cubicBezTo>
                <a:cubicBezTo>
                  <a:pt x="100210" y="156342"/>
                  <a:pt x="98091" y="160384"/>
                  <a:pt x="98351" y="164633"/>
                </a:cubicBezTo>
                <a:cubicBezTo>
                  <a:pt x="98091" y="168882"/>
                  <a:pt x="100210" y="172925"/>
                  <a:pt x="103852" y="175128"/>
                </a:cubicBezTo>
                <a:cubicBezTo>
                  <a:pt x="107495" y="177331"/>
                  <a:pt x="112059" y="177331"/>
                  <a:pt x="115702" y="175128"/>
                </a:cubicBezTo>
                <a:cubicBezTo>
                  <a:pt x="119344" y="172925"/>
                  <a:pt x="121463" y="168882"/>
                  <a:pt x="121203" y="164633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1243895" y="1426821"/>
            <a:ext cx="4673752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 Hallucination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3895" y="1756087"/>
            <a:ext cx="4655460" cy="47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2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 Language Models alone are prone to generating hallucinated or incorrect information when applied to domain-specific tasks.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43895" y="2341449"/>
            <a:ext cx="4582290" cy="402437"/>
          </a:xfrm>
          <a:custGeom>
            <a:avLst/>
            <a:gdLst/>
            <a:ahLst/>
            <a:cxnLst/>
            <a:rect l="l" t="t" r="r" b="b"/>
            <a:pathLst>
              <a:path w="4582290" h="402437">
                <a:moveTo>
                  <a:pt x="73171" y="0"/>
                </a:moveTo>
                <a:lnTo>
                  <a:pt x="4509119" y="0"/>
                </a:lnTo>
                <a:cubicBezTo>
                  <a:pt x="4549530" y="0"/>
                  <a:pt x="4582290" y="32760"/>
                  <a:pt x="4582290" y="73171"/>
                </a:cubicBezTo>
                <a:lnTo>
                  <a:pt x="4582290" y="329266"/>
                </a:lnTo>
                <a:cubicBezTo>
                  <a:pt x="4582290" y="369677"/>
                  <a:pt x="4549530" y="402437"/>
                  <a:pt x="4509119" y="402437"/>
                </a:cubicBezTo>
                <a:lnTo>
                  <a:pt x="73171" y="402437"/>
                </a:lnTo>
                <a:cubicBezTo>
                  <a:pt x="32760" y="402437"/>
                  <a:pt x="0" y="369677"/>
                  <a:pt x="0" y="329266"/>
                </a:cubicBezTo>
                <a:lnTo>
                  <a:pt x="0" y="73171"/>
                </a:lnTo>
                <a:cubicBezTo>
                  <a:pt x="0" y="32787"/>
                  <a:pt x="32787" y="0"/>
                  <a:pt x="73171" y="0"/>
                </a:cubicBezTo>
                <a:close/>
              </a:path>
            </a:pathLst>
          </a:custGeom>
          <a:solidFill>
            <a:srgbClr val="1A3A5C">
              <a:alpha val="5098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371943" y="2475598"/>
            <a:ext cx="128048" cy="128048"/>
          </a:xfrm>
          <a:custGeom>
            <a:avLst/>
            <a:gdLst/>
            <a:ahLst/>
            <a:cxnLst/>
            <a:rect l="l" t="t" r="r" b="b"/>
            <a:pathLst>
              <a:path w="128048" h="128048">
                <a:moveTo>
                  <a:pt x="125697" y="69676"/>
                </a:moveTo>
                <a:cubicBezTo>
                  <a:pt x="128823" y="66550"/>
                  <a:pt x="128823" y="61473"/>
                  <a:pt x="125697" y="58347"/>
                </a:cubicBezTo>
                <a:lnTo>
                  <a:pt x="85682" y="18332"/>
                </a:lnTo>
                <a:cubicBezTo>
                  <a:pt x="82556" y="15206"/>
                  <a:pt x="77479" y="15206"/>
                  <a:pt x="74353" y="18332"/>
                </a:cubicBezTo>
                <a:cubicBezTo>
                  <a:pt x="71227" y="21458"/>
                  <a:pt x="71227" y="26535"/>
                  <a:pt x="74353" y="29661"/>
                </a:cubicBezTo>
                <a:lnTo>
                  <a:pt x="100713" y="56021"/>
                </a:lnTo>
                <a:lnTo>
                  <a:pt x="8003" y="56021"/>
                </a:lnTo>
                <a:cubicBezTo>
                  <a:pt x="3576" y="56021"/>
                  <a:pt x="0" y="59597"/>
                  <a:pt x="0" y="64024"/>
                </a:cubicBezTo>
                <a:cubicBezTo>
                  <a:pt x="0" y="68451"/>
                  <a:pt x="3576" y="72027"/>
                  <a:pt x="8003" y="72027"/>
                </a:cubicBezTo>
                <a:lnTo>
                  <a:pt x="100713" y="72027"/>
                </a:lnTo>
                <a:lnTo>
                  <a:pt x="74353" y="98387"/>
                </a:lnTo>
                <a:cubicBezTo>
                  <a:pt x="71227" y="101513"/>
                  <a:pt x="71227" y="106590"/>
                  <a:pt x="74353" y="109716"/>
                </a:cubicBezTo>
                <a:cubicBezTo>
                  <a:pt x="77479" y="112842"/>
                  <a:pt x="82556" y="112842"/>
                  <a:pt x="85682" y="109716"/>
                </a:cubicBezTo>
                <a:lnTo>
                  <a:pt x="125697" y="69701"/>
                </a:ln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12" name="Text 10"/>
          <p:cNvSpPr/>
          <p:nvPr/>
        </p:nvSpPr>
        <p:spPr>
          <a:xfrm>
            <a:off x="1570979" y="2451205"/>
            <a:ext cx="4209474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Solution: RAG Pipeline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07280" y="1243895"/>
            <a:ext cx="5624966" cy="1682917"/>
          </a:xfrm>
          <a:custGeom>
            <a:avLst/>
            <a:gdLst/>
            <a:ahLst/>
            <a:cxnLst/>
            <a:rect l="l" t="t" r="r" b="b"/>
            <a:pathLst>
              <a:path w="5624966" h="1682917">
                <a:moveTo>
                  <a:pt x="36585" y="0"/>
                </a:moveTo>
                <a:lnTo>
                  <a:pt x="5478620" y="0"/>
                </a:lnTo>
                <a:cubicBezTo>
                  <a:pt x="5559445" y="0"/>
                  <a:pt x="5624966" y="65522"/>
                  <a:pt x="5624966" y="146346"/>
                </a:cubicBezTo>
                <a:lnTo>
                  <a:pt x="5624966" y="1536570"/>
                </a:lnTo>
                <a:cubicBezTo>
                  <a:pt x="5624966" y="1617395"/>
                  <a:pt x="5559445" y="1682917"/>
                  <a:pt x="5478620" y="1682917"/>
                </a:cubicBezTo>
                <a:lnTo>
                  <a:pt x="36585" y="1682917"/>
                </a:lnTo>
                <a:cubicBezTo>
                  <a:pt x="16380" y="1682917"/>
                  <a:pt x="0" y="1666537"/>
                  <a:pt x="0" y="1646332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28657" dist="18292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07280" y="1243895"/>
            <a:ext cx="36585" cy="1682917"/>
          </a:xfrm>
          <a:custGeom>
            <a:avLst/>
            <a:gdLst/>
            <a:ahLst/>
            <a:cxnLst/>
            <a:rect l="l" t="t" r="r" b="b"/>
            <a:pathLst>
              <a:path w="36585" h="1682917">
                <a:moveTo>
                  <a:pt x="36585" y="0"/>
                </a:moveTo>
                <a:lnTo>
                  <a:pt x="36585" y="0"/>
                </a:lnTo>
                <a:lnTo>
                  <a:pt x="36585" y="1682917"/>
                </a:lnTo>
                <a:lnTo>
                  <a:pt x="36585" y="1682917"/>
                </a:lnTo>
                <a:cubicBezTo>
                  <a:pt x="16380" y="1682917"/>
                  <a:pt x="0" y="1666537"/>
                  <a:pt x="0" y="1646332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5A7A96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8498" y="1426821"/>
            <a:ext cx="512192" cy="512192"/>
          </a:xfrm>
          <a:custGeom>
            <a:avLst/>
            <a:gdLst/>
            <a:ahLst/>
            <a:cxnLst/>
            <a:rect l="l" t="t" r="r" b="b"/>
            <a:pathLst>
              <a:path w="512192" h="512192">
                <a:moveTo>
                  <a:pt x="109758" y="0"/>
                </a:moveTo>
                <a:lnTo>
                  <a:pt x="402434" y="0"/>
                </a:lnTo>
                <a:cubicBezTo>
                  <a:pt x="463011" y="0"/>
                  <a:pt x="512192" y="49181"/>
                  <a:pt x="512192" y="109758"/>
                </a:cubicBezTo>
                <a:lnTo>
                  <a:pt x="512192" y="402434"/>
                </a:lnTo>
                <a:cubicBezTo>
                  <a:pt x="512192" y="463052"/>
                  <a:pt x="463052" y="512192"/>
                  <a:pt x="402434" y="512192"/>
                </a:cubicBezTo>
                <a:lnTo>
                  <a:pt x="109758" y="512192"/>
                </a:lnTo>
                <a:cubicBezTo>
                  <a:pt x="49181" y="512192"/>
                  <a:pt x="0" y="463011"/>
                  <a:pt x="0" y="402434"/>
                </a:cubicBezTo>
                <a:lnTo>
                  <a:pt x="0" y="109758"/>
                </a:lnTo>
                <a:cubicBezTo>
                  <a:pt x="0" y="49181"/>
                  <a:pt x="49181" y="0"/>
                  <a:pt x="109758" y="0"/>
                </a:cubicBezTo>
                <a:close/>
              </a:path>
            </a:pathLst>
          </a:custGeom>
          <a:solidFill>
            <a:srgbClr val="5A7A96"/>
          </a:solidFill>
          <a:ln/>
        </p:spPr>
      </p:sp>
      <p:sp>
        <p:nvSpPr>
          <p:cNvPr id="16" name="Shape 14"/>
          <p:cNvSpPr/>
          <p:nvPr/>
        </p:nvSpPr>
        <p:spPr>
          <a:xfrm>
            <a:off x="6554839" y="1573161"/>
            <a:ext cx="219511" cy="219511"/>
          </a:xfrm>
          <a:custGeom>
            <a:avLst/>
            <a:gdLst/>
            <a:ahLst/>
            <a:cxnLst/>
            <a:rect l="l" t="t" r="r" b="b"/>
            <a:pathLst>
              <a:path w="219511" h="219511">
                <a:moveTo>
                  <a:pt x="109755" y="219511"/>
                </a:moveTo>
                <a:cubicBezTo>
                  <a:pt x="170331" y="219511"/>
                  <a:pt x="219511" y="170331"/>
                  <a:pt x="219511" y="109755"/>
                </a:cubicBezTo>
                <a:cubicBezTo>
                  <a:pt x="219511" y="49180"/>
                  <a:pt x="170331" y="0"/>
                  <a:pt x="109755" y="0"/>
                </a:cubicBezTo>
                <a:cubicBezTo>
                  <a:pt x="49180" y="0"/>
                  <a:pt x="0" y="49180"/>
                  <a:pt x="0" y="109755"/>
                </a:cubicBezTo>
                <a:cubicBezTo>
                  <a:pt x="0" y="170331"/>
                  <a:pt x="49180" y="219511"/>
                  <a:pt x="109755" y="219511"/>
                </a:cubicBezTo>
                <a:close/>
                <a:moveTo>
                  <a:pt x="71598" y="71598"/>
                </a:moveTo>
                <a:cubicBezTo>
                  <a:pt x="75628" y="67568"/>
                  <a:pt x="82145" y="67568"/>
                  <a:pt x="86132" y="71598"/>
                </a:cubicBezTo>
                <a:lnTo>
                  <a:pt x="109713" y="95179"/>
                </a:lnTo>
                <a:lnTo>
                  <a:pt x="133293" y="71598"/>
                </a:lnTo>
                <a:cubicBezTo>
                  <a:pt x="137323" y="67568"/>
                  <a:pt x="143840" y="67568"/>
                  <a:pt x="147827" y="71598"/>
                </a:cubicBezTo>
                <a:cubicBezTo>
                  <a:pt x="151814" y="75628"/>
                  <a:pt x="151857" y="82145"/>
                  <a:pt x="147827" y="86132"/>
                </a:cubicBezTo>
                <a:lnTo>
                  <a:pt x="124247" y="109713"/>
                </a:lnTo>
                <a:lnTo>
                  <a:pt x="147827" y="133293"/>
                </a:lnTo>
                <a:cubicBezTo>
                  <a:pt x="151857" y="137323"/>
                  <a:pt x="151857" y="143840"/>
                  <a:pt x="147827" y="147827"/>
                </a:cubicBezTo>
                <a:cubicBezTo>
                  <a:pt x="143797" y="151814"/>
                  <a:pt x="137280" y="151857"/>
                  <a:pt x="133293" y="147827"/>
                </a:cubicBezTo>
                <a:lnTo>
                  <a:pt x="109713" y="124247"/>
                </a:lnTo>
                <a:lnTo>
                  <a:pt x="86132" y="147827"/>
                </a:lnTo>
                <a:cubicBezTo>
                  <a:pt x="82102" y="151857"/>
                  <a:pt x="75585" y="151857"/>
                  <a:pt x="71598" y="147827"/>
                </a:cubicBezTo>
                <a:cubicBezTo>
                  <a:pt x="67611" y="143797"/>
                  <a:pt x="67568" y="137280"/>
                  <a:pt x="71598" y="133293"/>
                </a:cubicBezTo>
                <a:lnTo>
                  <a:pt x="95179" y="109713"/>
                </a:lnTo>
                <a:lnTo>
                  <a:pt x="71598" y="86132"/>
                </a:lnTo>
                <a:cubicBezTo>
                  <a:pt x="67568" y="82102"/>
                  <a:pt x="67568" y="75585"/>
                  <a:pt x="71598" y="71598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7067031" y="1426821"/>
            <a:ext cx="4673752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Fine-Tuning Limitations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67031" y="1756087"/>
            <a:ext cx="4655460" cy="47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2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Fine-tuning improves language behavior but does not guarantee factual grounding or adaptability to changing policies.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067031" y="2341449"/>
            <a:ext cx="4582290" cy="402437"/>
          </a:xfrm>
          <a:custGeom>
            <a:avLst/>
            <a:gdLst/>
            <a:ahLst/>
            <a:cxnLst/>
            <a:rect l="l" t="t" r="r" b="b"/>
            <a:pathLst>
              <a:path w="4582290" h="402437">
                <a:moveTo>
                  <a:pt x="73171" y="0"/>
                </a:moveTo>
                <a:lnTo>
                  <a:pt x="4509119" y="0"/>
                </a:lnTo>
                <a:cubicBezTo>
                  <a:pt x="4549530" y="0"/>
                  <a:pt x="4582290" y="32760"/>
                  <a:pt x="4582290" y="73171"/>
                </a:cubicBezTo>
                <a:lnTo>
                  <a:pt x="4582290" y="329266"/>
                </a:lnTo>
                <a:cubicBezTo>
                  <a:pt x="4582290" y="369677"/>
                  <a:pt x="4549530" y="402437"/>
                  <a:pt x="4509119" y="402437"/>
                </a:cubicBezTo>
                <a:lnTo>
                  <a:pt x="73171" y="402437"/>
                </a:lnTo>
                <a:cubicBezTo>
                  <a:pt x="32760" y="402437"/>
                  <a:pt x="0" y="369677"/>
                  <a:pt x="0" y="329266"/>
                </a:cubicBezTo>
                <a:lnTo>
                  <a:pt x="0" y="73171"/>
                </a:lnTo>
                <a:cubicBezTo>
                  <a:pt x="0" y="32787"/>
                  <a:pt x="32787" y="0"/>
                  <a:pt x="73171" y="0"/>
                </a:cubicBezTo>
                <a:close/>
              </a:path>
            </a:pathLst>
          </a:custGeom>
          <a:solidFill>
            <a:srgbClr val="5A7A96">
              <a:alpha val="5098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195079" y="2475598"/>
            <a:ext cx="128048" cy="128048"/>
          </a:xfrm>
          <a:custGeom>
            <a:avLst/>
            <a:gdLst/>
            <a:ahLst/>
            <a:cxnLst/>
            <a:rect l="l" t="t" r="r" b="b"/>
            <a:pathLst>
              <a:path w="128048" h="128048">
                <a:moveTo>
                  <a:pt x="125697" y="69676"/>
                </a:moveTo>
                <a:cubicBezTo>
                  <a:pt x="128823" y="66550"/>
                  <a:pt x="128823" y="61473"/>
                  <a:pt x="125697" y="58347"/>
                </a:cubicBezTo>
                <a:lnTo>
                  <a:pt x="85682" y="18332"/>
                </a:lnTo>
                <a:cubicBezTo>
                  <a:pt x="82556" y="15206"/>
                  <a:pt x="77479" y="15206"/>
                  <a:pt x="74353" y="18332"/>
                </a:cubicBezTo>
                <a:cubicBezTo>
                  <a:pt x="71227" y="21458"/>
                  <a:pt x="71227" y="26535"/>
                  <a:pt x="74353" y="29661"/>
                </a:cubicBezTo>
                <a:lnTo>
                  <a:pt x="100713" y="56021"/>
                </a:lnTo>
                <a:lnTo>
                  <a:pt x="8003" y="56021"/>
                </a:lnTo>
                <a:cubicBezTo>
                  <a:pt x="3576" y="56021"/>
                  <a:pt x="0" y="59597"/>
                  <a:pt x="0" y="64024"/>
                </a:cubicBezTo>
                <a:cubicBezTo>
                  <a:pt x="0" y="68451"/>
                  <a:pt x="3576" y="72027"/>
                  <a:pt x="8003" y="72027"/>
                </a:cubicBezTo>
                <a:lnTo>
                  <a:pt x="100713" y="72027"/>
                </a:lnTo>
                <a:lnTo>
                  <a:pt x="74353" y="98387"/>
                </a:lnTo>
                <a:cubicBezTo>
                  <a:pt x="71227" y="101513"/>
                  <a:pt x="71227" y="106590"/>
                  <a:pt x="74353" y="109716"/>
                </a:cubicBezTo>
                <a:cubicBezTo>
                  <a:pt x="77479" y="112842"/>
                  <a:pt x="82556" y="112842"/>
                  <a:pt x="85682" y="109716"/>
                </a:cubicBezTo>
                <a:lnTo>
                  <a:pt x="125697" y="69701"/>
                </a:ln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21" name="Text 19"/>
          <p:cNvSpPr/>
          <p:nvPr/>
        </p:nvSpPr>
        <p:spPr>
          <a:xfrm>
            <a:off x="7394115" y="2451205"/>
            <a:ext cx="4209474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Solution: Document Retrieval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4144" y="3109737"/>
            <a:ext cx="5624966" cy="1682917"/>
          </a:xfrm>
          <a:custGeom>
            <a:avLst/>
            <a:gdLst/>
            <a:ahLst/>
            <a:cxnLst/>
            <a:rect l="l" t="t" r="r" b="b"/>
            <a:pathLst>
              <a:path w="5624966" h="1682917">
                <a:moveTo>
                  <a:pt x="36585" y="0"/>
                </a:moveTo>
                <a:lnTo>
                  <a:pt x="5478620" y="0"/>
                </a:lnTo>
                <a:cubicBezTo>
                  <a:pt x="5559445" y="0"/>
                  <a:pt x="5624966" y="65522"/>
                  <a:pt x="5624966" y="146346"/>
                </a:cubicBezTo>
                <a:lnTo>
                  <a:pt x="5624966" y="1536570"/>
                </a:lnTo>
                <a:cubicBezTo>
                  <a:pt x="5624966" y="1617395"/>
                  <a:pt x="5559445" y="1682917"/>
                  <a:pt x="5478620" y="1682917"/>
                </a:cubicBezTo>
                <a:lnTo>
                  <a:pt x="36585" y="1682917"/>
                </a:lnTo>
                <a:cubicBezTo>
                  <a:pt x="16380" y="1682917"/>
                  <a:pt x="0" y="1666537"/>
                  <a:pt x="0" y="1646332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28657" dist="18292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144" y="3109737"/>
            <a:ext cx="36585" cy="1682917"/>
          </a:xfrm>
          <a:custGeom>
            <a:avLst/>
            <a:gdLst/>
            <a:ahLst/>
            <a:cxnLst/>
            <a:rect l="l" t="t" r="r" b="b"/>
            <a:pathLst>
              <a:path w="36585" h="1682917">
                <a:moveTo>
                  <a:pt x="36585" y="0"/>
                </a:moveTo>
                <a:lnTo>
                  <a:pt x="36585" y="0"/>
                </a:lnTo>
                <a:lnTo>
                  <a:pt x="36585" y="1682917"/>
                </a:lnTo>
                <a:lnTo>
                  <a:pt x="36585" y="1682917"/>
                </a:lnTo>
                <a:cubicBezTo>
                  <a:pt x="16380" y="1682917"/>
                  <a:pt x="0" y="1666537"/>
                  <a:pt x="0" y="1646332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24" name="Shape 22"/>
          <p:cNvSpPr/>
          <p:nvPr/>
        </p:nvSpPr>
        <p:spPr>
          <a:xfrm>
            <a:off x="585362" y="3292663"/>
            <a:ext cx="512192" cy="512192"/>
          </a:xfrm>
          <a:custGeom>
            <a:avLst/>
            <a:gdLst/>
            <a:ahLst/>
            <a:cxnLst/>
            <a:rect l="l" t="t" r="r" b="b"/>
            <a:pathLst>
              <a:path w="512192" h="512192">
                <a:moveTo>
                  <a:pt x="109758" y="0"/>
                </a:moveTo>
                <a:lnTo>
                  <a:pt x="402434" y="0"/>
                </a:lnTo>
                <a:cubicBezTo>
                  <a:pt x="463011" y="0"/>
                  <a:pt x="512192" y="49181"/>
                  <a:pt x="512192" y="109758"/>
                </a:cubicBezTo>
                <a:lnTo>
                  <a:pt x="512192" y="402434"/>
                </a:lnTo>
                <a:cubicBezTo>
                  <a:pt x="512192" y="463052"/>
                  <a:pt x="463052" y="512192"/>
                  <a:pt x="402434" y="512192"/>
                </a:cubicBezTo>
                <a:lnTo>
                  <a:pt x="109758" y="512192"/>
                </a:lnTo>
                <a:cubicBezTo>
                  <a:pt x="49181" y="512192"/>
                  <a:pt x="0" y="463011"/>
                  <a:pt x="0" y="402434"/>
                </a:cubicBezTo>
                <a:lnTo>
                  <a:pt x="0" y="109758"/>
                </a:lnTo>
                <a:cubicBezTo>
                  <a:pt x="0" y="49181"/>
                  <a:pt x="49181" y="0"/>
                  <a:pt x="109758" y="0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25" name="Shape 23"/>
          <p:cNvSpPr/>
          <p:nvPr/>
        </p:nvSpPr>
        <p:spPr>
          <a:xfrm>
            <a:off x="717983" y="3439004"/>
            <a:ext cx="246950" cy="219511"/>
          </a:xfrm>
          <a:custGeom>
            <a:avLst/>
            <a:gdLst/>
            <a:ahLst/>
            <a:cxnLst/>
            <a:rect l="l" t="t" r="r" b="b"/>
            <a:pathLst>
              <a:path w="246950" h="219511">
                <a:moveTo>
                  <a:pt x="17578" y="-10675"/>
                </a:moveTo>
                <a:cubicBezTo>
                  <a:pt x="13548" y="-14706"/>
                  <a:pt x="7031" y="-14706"/>
                  <a:pt x="3044" y="-10675"/>
                </a:cubicBezTo>
                <a:cubicBezTo>
                  <a:pt x="-943" y="-6645"/>
                  <a:pt x="-986" y="-129"/>
                  <a:pt x="3001" y="3901"/>
                </a:cubicBezTo>
                <a:lnTo>
                  <a:pt x="229372" y="230272"/>
                </a:lnTo>
                <a:cubicBezTo>
                  <a:pt x="233402" y="234302"/>
                  <a:pt x="239919" y="234302"/>
                  <a:pt x="243906" y="230272"/>
                </a:cubicBezTo>
                <a:cubicBezTo>
                  <a:pt x="247893" y="226242"/>
                  <a:pt x="247936" y="219725"/>
                  <a:pt x="243906" y="215738"/>
                </a:cubicBezTo>
                <a:lnTo>
                  <a:pt x="191600" y="163433"/>
                </a:lnTo>
                <a:cubicBezTo>
                  <a:pt x="193401" y="161975"/>
                  <a:pt x="195159" y="160389"/>
                  <a:pt x="196788" y="158760"/>
                </a:cubicBezTo>
                <a:lnTo>
                  <a:pt x="227271" y="128277"/>
                </a:lnTo>
                <a:cubicBezTo>
                  <a:pt x="239833" y="115715"/>
                  <a:pt x="246907" y="98651"/>
                  <a:pt x="246907" y="80859"/>
                </a:cubicBezTo>
                <a:cubicBezTo>
                  <a:pt x="246907" y="43816"/>
                  <a:pt x="216896" y="13762"/>
                  <a:pt x="179810" y="13762"/>
                </a:cubicBezTo>
                <a:cubicBezTo>
                  <a:pt x="163819" y="13762"/>
                  <a:pt x="148470" y="19464"/>
                  <a:pt x="136380" y="29711"/>
                </a:cubicBezTo>
                <a:cubicBezTo>
                  <a:pt x="145083" y="34041"/>
                  <a:pt x="152972" y="39786"/>
                  <a:pt x="159746" y="46646"/>
                </a:cubicBezTo>
                <a:cubicBezTo>
                  <a:pt x="165791" y="43088"/>
                  <a:pt x="172693" y="41201"/>
                  <a:pt x="179810" y="41201"/>
                </a:cubicBezTo>
                <a:cubicBezTo>
                  <a:pt x="201718" y="41201"/>
                  <a:pt x="219468" y="58951"/>
                  <a:pt x="219468" y="80859"/>
                </a:cubicBezTo>
                <a:cubicBezTo>
                  <a:pt x="219468" y="91363"/>
                  <a:pt x="215309" y="101438"/>
                  <a:pt x="207849" y="108898"/>
                </a:cubicBezTo>
                <a:lnTo>
                  <a:pt x="177367" y="139381"/>
                </a:lnTo>
                <a:cubicBezTo>
                  <a:pt x="175694" y="141053"/>
                  <a:pt x="173894" y="142553"/>
                  <a:pt x="171964" y="143883"/>
                </a:cubicBezTo>
                <a:lnTo>
                  <a:pt x="151600" y="123518"/>
                </a:lnTo>
                <a:cubicBezTo>
                  <a:pt x="158674" y="123132"/>
                  <a:pt x="164333" y="117344"/>
                  <a:pt x="164547" y="110184"/>
                </a:cubicBezTo>
                <a:cubicBezTo>
                  <a:pt x="164547" y="109627"/>
                  <a:pt x="164547" y="109069"/>
                  <a:pt x="164547" y="108512"/>
                </a:cubicBezTo>
                <a:cubicBezTo>
                  <a:pt x="164547" y="71513"/>
                  <a:pt x="134579" y="41244"/>
                  <a:pt x="97451" y="41244"/>
                </a:cubicBezTo>
                <a:cubicBezTo>
                  <a:pt x="89219" y="41244"/>
                  <a:pt x="81202" y="42745"/>
                  <a:pt x="73656" y="45617"/>
                </a:cubicBezTo>
                <a:lnTo>
                  <a:pt x="17578" y="-10675"/>
                </a:lnTo>
                <a:close/>
                <a:moveTo>
                  <a:pt x="96851" y="68597"/>
                </a:moveTo>
                <a:cubicBezTo>
                  <a:pt x="97108" y="68597"/>
                  <a:pt x="97322" y="68597"/>
                  <a:pt x="97579" y="68597"/>
                </a:cubicBezTo>
                <a:cubicBezTo>
                  <a:pt x="104053" y="68597"/>
                  <a:pt x="110227" y="70183"/>
                  <a:pt x="115629" y="72970"/>
                </a:cubicBezTo>
                <a:cubicBezTo>
                  <a:pt x="116401" y="73485"/>
                  <a:pt x="117173" y="73956"/>
                  <a:pt x="117987" y="74299"/>
                </a:cubicBezTo>
                <a:cubicBezTo>
                  <a:pt x="129477" y="81288"/>
                  <a:pt x="137194" y="93978"/>
                  <a:pt x="137194" y="108426"/>
                </a:cubicBezTo>
                <a:cubicBezTo>
                  <a:pt x="137194" y="108598"/>
                  <a:pt x="137194" y="108769"/>
                  <a:pt x="137194" y="108941"/>
                </a:cubicBezTo>
                <a:lnTo>
                  <a:pt x="96851" y="68597"/>
                </a:lnTo>
                <a:close/>
                <a:moveTo>
                  <a:pt x="148427" y="178353"/>
                </a:moveTo>
                <a:lnTo>
                  <a:pt x="82317" y="112242"/>
                </a:lnTo>
                <a:cubicBezTo>
                  <a:pt x="82831" y="148513"/>
                  <a:pt x="112156" y="177795"/>
                  <a:pt x="148384" y="178310"/>
                </a:cubicBezTo>
                <a:close/>
                <a:moveTo>
                  <a:pt x="59894" y="89819"/>
                </a:moveTo>
                <a:lnTo>
                  <a:pt x="40472" y="70398"/>
                </a:lnTo>
                <a:lnTo>
                  <a:pt x="19636" y="91234"/>
                </a:lnTo>
                <a:cubicBezTo>
                  <a:pt x="7074" y="103796"/>
                  <a:pt x="0" y="120860"/>
                  <a:pt x="0" y="138652"/>
                </a:cubicBezTo>
                <a:cubicBezTo>
                  <a:pt x="0" y="175694"/>
                  <a:pt x="30011" y="205749"/>
                  <a:pt x="67097" y="205749"/>
                </a:cubicBezTo>
                <a:cubicBezTo>
                  <a:pt x="83045" y="205749"/>
                  <a:pt x="98437" y="200046"/>
                  <a:pt x="110527" y="189800"/>
                </a:cubicBezTo>
                <a:cubicBezTo>
                  <a:pt x="101824" y="185470"/>
                  <a:pt x="93892" y="179725"/>
                  <a:pt x="87118" y="172865"/>
                </a:cubicBezTo>
                <a:cubicBezTo>
                  <a:pt x="81116" y="176380"/>
                  <a:pt x="74214" y="178267"/>
                  <a:pt x="67097" y="178267"/>
                </a:cubicBezTo>
                <a:cubicBezTo>
                  <a:pt x="45188" y="178267"/>
                  <a:pt x="27439" y="160517"/>
                  <a:pt x="27439" y="138609"/>
                </a:cubicBezTo>
                <a:cubicBezTo>
                  <a:pt x="27439" y="128105"/>
                  <a:pt x="31598" y="118030"/>
                  <a:pt x="39058" y="110570"/>
                </a:cubicBezTo>
                <a:lnTo>
                  <a:pt x="59894" y="89734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1243895" y="3292663"/>
            <a:ext cx="4673752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RAG-Avatar Disconnect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43895" y="3621929"/>
            <a:ext cx="4655460" cy="47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2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RAG systems that improve accuracy are rarely combined with avatar interfaces for enhanced user experience.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43895" y="4207292"/>
            <a:ext cx="4582290" cy="402437"/>
          </a:xfrm>
          <a:custGeom>
            <a:avLst/>
            <a:gdLst/>
            <a:ahLst/>
            <a:cxnLst/>
            <a:rect l="l" t="t" r="r" b="b"/>
            <a:pathLst>
              <a:path w="4582290" h="402437">
                <a:moveTo>
                  <a:pt x="73171" y="0"/>
                </a:moveTo>
                <a:lnTo>
                  <a:pt x="4509119" y="0"/>
                </a:lnTo>
                <a:cubicBezTo>
                  <a:pt x="4549530" y="0"/>
                  <a:pt x="4582290" y="32760"/>
                  <a:pt x="4582290" y="73171"/>
                </a:cubicBezTo>
                <a:lnTo>
                  <a:pt x="4582290" y="329266"/>
                </a:lnTo>
                <a:cubicBezTo>
                  <a:pt x="4582290" y="369677"/>
                  <a:pt x="4549530" y="402437"/>
                  <a:pt x="4509119" y="402437"/>
                </a:cubicBezTo>
                <a:lnTo>
                  <a:pt x="73171" y="402437"/>
                </a:lnTo>
                <a:cubicBezTo>
                  <a:pt x="32760" y="402437"/>
                  <a:pt x="0" y="369677"/>
                  <a:pt x="0" y="329266"/>
                </a:cubicBezTo>
                <a:lnTo>
                  <a:pt x="0" y="73171"/>
                </a:lnTo>
                <a:cubicBezTo>
                  <a:pt x="0" y="32787"/>
                  <a:pt x="32787" y="0"/>
                  <a:pt x="73171" y="0"/>
                </a:cubicBezTo>
                <a:close/>
              </a:path>
            </a:pathLst>
          </a:custGeom>
          <a:solidFill>
            <a:srgbClr val="3D8B8B">
              <a:alpha val="5098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371943" y="4341440"/>
            <a:ext cx="128048" cy="128048"/>
          </a:xfrm>
          <a:custGeom>
            <a:avLst/>
            <a:gdLst/>
            <a:ahLst/>
            <a:cxnLst/>
            <a:rect l="l" t="t" r="r" b="b"/>
            <a:pathLst>
              <a:path w="128048" h="128048">
                <a:moveTo>
                  <a:pt x="125697" y="69676"/>
                </a:moveTo>
                <a:cubicBezTo>
                  <a:pt x="128823" y="66550"/>
                  <a:pt x="128823" y="61473"/>
                  <a:pt x="125697" y="58347"/>
                </a:cubicBezTo>
                <a:lnTo>
                  <a:pt x="85682" y="18332"/>
                </a:lnTo>
                <a:cubicBezTo>
                  <a:pt x="82556" y="15206"/>
                  <a:pt x="77479" y="15206"/>
                  <a:pt x="74353" y="18332"/>
                </a:cubicBezTo>
                <a:cubicBezTo>
                  <a:pt x="71227" y="21458"/>
                  <a:pt x="71227" y="26535"/>
                  <a:pt x="74353" y="29661"/>
                </a:cubicBezTo>
                <a:lnTo>
                  <a:pt x="100713" y="56021"/>
                </a:lnTo>
                <a:lnTo>
                  <a:pt x="8003" y="56021"/>
                </a:lnTo>
                <a:cubicBezTo>
                  <a:pt x="3576" y="56021"/>
                  <a:pt x="0" y="59597"/>
                  <a:pt x="0" y="64024"/>
                </a:cubicBezTo>
                <a:cubicBezTo>
                  <a:pt x="0" y="68451"/>
                  <a:pt x="3576" y="72027"/>
                  <a:pt x="8003" y="72027"/>
                </a:cubicBezTo>
                <a:lnTo>
                  <a:pt x="100713" y="72027"/>
                </a:lnTo>
                <a:lnTo>
                  <a:pt x="74353" y="98387"/>
                </a:lnTo>
                <a:cubicBezTo>
                  <a:pt x="71227" y="101513"/>
                  <a:pt x="71227" y="106590"/>
                  <a:pt x="74353" y="109716"/>
                </a:cubicBezTo>
                <a:cubicBezTo>
                  <a:pt x="77479" y="112842"/>
                  <a:pt x="82556" y="112842"/>
                  <a:pt x="85682" y="109716"/>
                </a:cubicBezTo>
                <a:lnTo>
                  <a:pt x="125697" y="69701"/>
                </a:ln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30" name="Text 28"/>
          <p:cNvSpPr/>
          <p:nvPr/>
        </p:nvSpPr>
        <p:spPr>
          <a:xfrm>
            <a:off x="1570979" y="4317047"/>
            <a:ext cx="4209474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Solution: Unity Integration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07280" y="3109737"/>
            <a:ext cx="5624966" cy="1682917"/>
          </a:xfrm>
          <a:custGeom>
            <a:avLst/>
            <a:gdLst/>
            <a:ahLst/>
            <a:cxnLst/>
            <a:rect l="l" t="t" r="r" b="b"/>
            <a:pathLst>
              <a:path w="5624966" h="1682917">
                <a:moveTo>
                  <a:pt x="36585" y="0"/>
                </a:moveTo>
                <a:lnTo>
                  <a:pt x="5478620" y="0"/>
                </a:lnTo>
                <a:cubicBezTo>
                  <a:pt x="5559445" y="0"/>
                  <a:pt x="5624966" y="65522"/>
                  <a:pt x="5624966" y="146346"/>
                </a:cubicBezTo>
                <a:lnTo>
                  <a:pt x="5624966" y="1536570"/>
                </a:lnTo>
                <a:cubicBezTo>
                  <a:pt x="5624966" y="1617395"/>
                  <a:pt x="5559445" y="1682917"/>
                  <a:pt x="5478620" y="1682917"/>
                </a:cubicBezTo>
                <a:lnTo>
                  <a:pt x="36585" y="1682917"/>
                </a:lnTo>
                <a:cubicBezTo>
                  <a:pt x="16380" y="1682917"/>
                  <a:pt x="0" y="1666537"/>
                  <a:pt x="0" y="1646332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28657" dist="18292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07280" y="3109737"/>
            <a:ext cx="36585" cy="1682917"/>
          </a:xfrm>
          <a:custGeom>
            <a:avLst/>
            <a:gdLst/>
            <a:ahLst/>
            <a:cxnLst/>
            <a:rect l="l" t="t" r="r" b="b"/>
            <a:pathLst>
              <a:path w="36585" h="1682917">
                <a:moveTo>
                  <a:pt x="36585" y="0"/>
                </a:moveTo>
                <a:lnTo>
                  <a:pt x="36585" y="0"/>
                </a:lnTo>
                <a:lnTo>
                  <a:pt x="36585" y="1682917"/>
                </a:lnTo>
                <a:lnTo>
                  <a:pt x="36585" y="1682917"/>
                </a:lnTo>
                <a:cubicBezTo>
                  <a:pt x="16380" y="1682917"/>
                  <a:pt x="0" y="1666537"/>
                  <a:pt x="0" y="1646332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33" name="Shape 31"/>
          <p:cNvSpPr/>
          <p:nvPr/>
        </p:nvSpPr>
        <p:spPr>
          <a:xfrm>
            <a:off x="6408498" y="3292663"/>
            <a:ext cx="512192" cy="512192"/>
          </a:xfrm>
          <a:custGeom>
            <a:avLst/>
            <a:gdLst/>
            <a:ahLst/>
            <a:cxnLst/>
            <a:rect l="l" t="t" r="r" b="b"/>
            <a:pathLst>
              <a:path w="512192" h="512192">
                <a:moveTo>
                  <a:pt x="109758" y="0"/>
                </a:moveTo>
                <a:lnTo>
                  <a:pt x="402434" y="0"/>
                </a:lnTo>
                <a:cubicBezTo>
                  <a:pt x="463011" y="0"/>
                  <a:pt x="512192" y="49181"/>
                  <a:pt x="512192" y="109758"/>
                </a:cubicBezTo>
                <a:lnTo>
                  <a:pt x="512192" y="402434"/>
                </a:lnTo>
                <a:cubicBezTo>
                  <a:pt x="512192" y="463052"/>
                  <a:pt x="463052" y="512192"/>
                  <a:pt x="402434" y="512192"/>
                </a:cubicBezTo>
                <a:lnTo>
                  <a:pt x="109758" y="512192"/>
                </a:lnTo>
                <a:cubicBezTo>
                  <a:pt x="49181" y="512192"/>
                  <a:pt x="0" y="463011"/>
                  <a:pt x="0" y="402434"/>
                </a:cubicBezTo>
                <a:lnTo>
                  <a:pt x="0" y="109758"/>
                </a:lnTo>
                <a:cubicBezTo>
                  <a:pt x="0" y="49181"/>
                  <a:pt x="49181" y="0"/>
                  <a:pt x="109758" y="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34" name="Shape 32"/>
          <p:cNvSpPr/>
          <p:nvPr/>
        </p:nvSpPr>
        <p:spPr>
          <a:xfrm>
            <a:off x="6554839" y="3439004"/>
            <a:ext cx="219511" cy="219511"/>
          </a:xfrm>
          <a:custGeom>
            <a:avLst/>
            <a:gdLst/>
            <a:ahLst/>
            <a:cxnLst/>
            <a:rect l="l" t="t" r="r" b="b"/>
            <a:pathLst>
              <a:path w="219511" h="219511">
                <a:moveTo>
                  <a:pt x="96036" y="0"/>
                </a:moveTo>
                <a:cubicBezTo>
                  <a:pt x="111170" y="0"/>
                  <a:pt x="123475" y="9218"/>
                  <a:pt x="123475" y="20579"/>
                </a:cubicBezTo>
                <a:cubicBezTo>
                  <a:pt x="123475" y="25038"/>
                  <a:pt x="121588" y="29154"/>
                  <a:pt x="118330" y="32541"/>
                </a:cubicBezTo>
                <a:cubicBezTo>
                  <a:pt x="115500" y="35499"/>
                  <a:pt x="113185" y="39100"/>
                  <a:pt x="113185" y="43216"/>
                </a:cubicBezTo>
                <a:cubicBezTo>
                  <a:pt x="113185" y="49647"/>
                  <a:pt x="118416" y="54878"/>
                  <a:pt x="124847" y="54878"/>
                </a:cubicBezTo>
                <a:lnTo>
                  <a:pt x="144054" y="54878"/>
                </a:lnTo>
                <a:cubicBezTo>
                  <a:pt x="155415" y="54878"/>
                  <a:pt x="164633" y="64095"/>
                  <a:pt x="164633" y="75457"/>
                </a:cubicBezTo>
                <a:lnTo>
                  <a:pt x="164633" y="94664"/>
                </a:lnTo>
                <a:cubicBezTo>
                  <a:pt x="164633" y="101095"/>
                  <a:pt x="169864" y="106326"/>
                  <a:pt x="176295" y="106326"/>
                </a:cubicBezTo>
                <a:cubicBezTo>
                  <a:pt x="180368" y="106326"/>
                  <a:pt x="184012" y="104010"/>
                  <a:pt x="186970" y="101181"/>
                </a:cubicBezTo>
                <a:cubicBezTo>
                  <a:pt x="190357" y="97965"/>
                  <a:pt x="194473" y="96036"/>
                  <a:pt x="198932" y="96036"/>
                </a:cubicBezTo>
                <a:cubicBezTo>
                  <a:pt x="210293" y="96036"/>
                  <a:pt x="219511" y="108341"/>
                  <a:pt x="219511" y="123475"/>
                </a:cubicBezTo>
                <a:cubicBezTo>
                  <a:pt x="219511" y="138609"/>
                  <a:pt x="210293" y="150914"/>
                  <a:pt x="198932" y="150914"/>
                </a:cubicBezTo>
                <a:cubicBezTo>
                  <a:pt x="194473" y="150914"/>
                  <a:pt x="190314" y="149027"/>
                  <a:pt x="186970" y="145769"/>
                </a:cubicBezTo>
                <a:cubicBezTo>
                  <a:pt x="184012" y="142939"/>
                  <a:pt x="180411" y="140624"/>
                  <a:pt x="176295" y="140624"/>
                </a:cubicBezTo>
                <a:cubicBezTo>
                  <a:pt x="169864" y="140624"/>
                  <a:pt x="164633" y="145855"/>
                  <a:pt x="164633" y="152286"/>
                </a:cubicBezTo>
                <a:lnTo>
                  <a:pt x="164633" y="198932"/>
                </a:lnTo>
                <a:cubicBezTo>
                  <a:pt x="164633" y="210293"/>
                  <a:pt x="155415" y="219511"/>
                  <a:pt x="144054" y="219511"/>
                </a:cubicBezTo>
                <a:lnTo>
                  <a:pt x="119702" y="219511"/>
                </a:lnTo>
                <a:cubicBezTo>
                  <a:pt x="114214" y="219511"/>
                  <a:pt x="109755" y="215052"/>
                  <a:pt x="109755" y="209564"/>
                </a:cubicBezTo>
                <a:cubicBezTo>
                  <a:pt x="109755" y="205620"/>
                  <a:pt x="112242" y="202147"/>
                  <a:pt x="115415" y="199789"/>
                </a:cubicBezTo>
                <a:cubicBezTo>
                  <a:pt x="120388" y="196059"/>
                  <a:pt x="123475" y="190914"/>
                  <a:pt x="123475" y="185212"/>
                </a:cubicBezTo>
                <a:cubicBezTo>
                  <a:pt x="123475" y="173851"/>
                  <a:pt x="111170" y="164633"/>
                  <a:pt x="96036" y="164633"/>
                </a:cubicBezTo>
                <a:cubicBezTo>
                  <a:pt x="80902" y="164633"/>
                  <a:pt x="68597" y="173851"/>
                  <a:pt x="68597" y="185212"/>
                </a:cubicBezTo>
                <a:cubicBezTo>
                  <a:pt x="68597" y="190914"/>
                  <a:pt x="71684" y="196059"/>
                  <a:pt x="76657" y="199789"/>
                </a:cubicBezTo>
                <a:cubicBezTo>
                  <a:pt x="79830" y="202147"/>
                  <a:pt x="82317" y="205577"/>
                  <a:pt x="82317" y="209564"/>
                </a:cubicBezTo>
                <a:cubicBezTo>
                  <a:pt x="82317" y="215052"/>
                  <a:pt x="77858" y="219511"/>
                  <a:pt x="72370" y="219511"/>
                </a:cubicBezTo>
                <a:lnTo>
                  <a:pt x="20579" y="219511"/>
                </a:lnTo>
                <a:cubicBezTo>
                  <a:pt x="9218" y="219511"/>
                  <a:pt x="0" y="210293"/>
                  <a:pt x="0" y="198932"/>
                </a:cubicBezTo>
                <a:lnTo>
                  <a:pt x="0" y="147141"/>
                </a:lnTo>
                <a:cubicBezTo>
                  <a:pt x="0" y="141653"/>
                  <a:pt x="4459" y="137194"/>
                  <a:pt x="9947" y="137194"/>
                </a:cubicBezTo>
                <a:cubicBezTo>
                  <a:pt x="13891" y="137194"/>
                  <a:pt x="17364" y="139681"/>
                  <a:pt x="19722" y="142854"/>
                </a:cubicBezTo>
                <a:cubicBezTo>
                  <a:pt x="23452" y="147827"/>
                  <a:pt x="28596" y="150914"/>
                  <a:pt x="34299" y="150914"/>
                </a:cubicBezTo>
                <a:cubicBezTo>
                  <a:pt x="45660" y="150914"/>
                  <a:pt x="54878" y="138609"/>
                  <a:pt x="54878" y="123475"/>
                </a:cubicBezTo>
                <a:cubicBezTo>
                  <a:pt x="54878" y="108341"/>
                  <a:pt x="45660" y="96036"/>
                  <a:pt x="34299" y="96036"/>
                </a:cubicBezTo>
                <a:cubicBezTo>
                  <a:pt x="28596" y="96036"/>
                  <a:pt x="23452" y="99123"/>
                  <a:pt x="19722" y="104096"/>
                </a:cubicBezTo>
                <a:cubicBezTo>
                  <a:pt x="17364" y="107269"/>
                  <a:pt x="13934" y="109755"/>
                  <a:pt x="9947" y="109755"/>
                </a:cubicBezTo>
                <a:cubicBezTo>
                  <a:pt x="4459" y="109755"/>
                  <a:pt x="0" y="105297"/>
                  <a:pt x="0" y="99809"/>
                </a:cubicBezTo>
                <a:lnTo>
                  <a:pt x="0" y="75457"/>
                </a:lnTo>
                <a:cubicBezTo>
                  <a:pt x="0" y="64095"/>
                  <a:pt x="9218" y="54878"/>
                  <a:pt x="20579" y="54878"/>
                </a:cubicBezTo>
                <a:lnTo>
                  <a:pt x="67225" y="54878"/>
                </a:lnTo>
                <a:cubicBezTo>
                  <a:pt x="73656" y="54878"/>
                  <a:pt x="78887" y="49647"/>
                  <a:pt x="78887" y="43216"/>
                </a:cubicBezTo>
                <a:cubicBezTo>
                  <a:pt x="78887" y="39143"/>
                  <a:pt x="76572" y="35499"/>
                  <a:pt x="73742" y="32541"/>
                </a:cubicBezTo>
                <a:cubicBezTo>
                  <a:pt x="70526" y="29154"/>
                  <a:pt x="68597" y="25038"/>
                  <a:pt x="68597" y="20579"/>
                </a:cubicBezTo>
                <a:cubicBezTo>
                  <a:pt x="68597" y="9218"/>
                  <a:pt x="80902" y="0"/>
                  <a:pt x="96036" y="0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35" name="Text 33"/>
          <p:cNvSpPr/>
          <p:nvPr/>
        </p:nvSpPr>
        <p:spPr>
          <a:xfrm>
            <a:off x="7067031" y="3292663"/>
            <a:ext cx="4673752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Gap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67031" y="3621929"/>
            <a:ext cx="4655460" cy="47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2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Few systems integrate LLM + RAG + voice interaction + lip-synchronised avatars for academic advising.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067031" y="4207292"/>
            <a:ext cx="4582290" cy="402437"/>
          </a:xfrm>
          <a:custGeom>
            <a:avLst/>
            <a:gdLst/>
            <a:ahLst/>
            <a:cxnLst/>
            <a:rect l="l" t="t" r="r" b="b"/>
            <a:pathLst>
              <a:path w="4582290" h="402437">
                <a:moveTo>
                  <a:pt x="73171" y="0"/>
                </a:moveTo>
                <a:lnTo>
                  <a:pt x="4509119" y="0"/>
                </a:lnTo>
                <a:cubicBezTo>
                  <a:pt x="4549530" y="0"/>
                  <a:pt x="4582290" y="32760"/>
                  <a:pt x="4582290" y="73171"/>
                </a:cubicBezTo>
                <a:lnTo>
                  <a:pt x="4582290" y="329266"/>
                </a:lnTo>
                <a:cubicBezTo>
                  <a:pt x="4582290" y="369677"/>
                  <a:pt x="4549530" y="402437"/>
                  <a:pt x="4509119" y="402437"/>
                </a:cubicBezTo>
                <a:lnTo>
                  <a:pt x="73171" y="402437"/>
                </a:lnTo>
                <a:cubicBezTo>
                  <a:pt x="32760" y="402437"/>
                  <a:pt x="0" y="369677"/>
                  <a:pt x="0" y="329266"/>
                </a:cubicBezTo>
                <a:lnTo>
                  <a:pt x="0" y="73171"/>
                </a:lnTo>
                <a:cubicBezTo>
                  <a:pt x="0" y="32787"/>
                  <a:pt x="32787" y="0"/>
                  <a:pt x="73171" y="0"/>
                </a:cubicBezTo>
                <a:close/>
              </a:path>
            </a:pathLst>
          </a:custGeom>
          <a:solidFill>
            <a:srgbClr val="1A3A5C">
              <a:alpha val="5098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195079" y="4341440"/>
            <a:ext cx="128048" cy="128048"/>
          </a:xfrm>
          <a:custGeom>
            <a:avLst/>
            <a:gdLst/>
            <a:ahLst/>
            <a:cxnLst/>
            <a:rect l="l" t="t" r="r" b="b"/>
            <a:pathLst>
              <a:path w="128048" h="128048">
                <a:moveTo>
                  <a:pt x="125697" y="69676"/>
                </a:moveTo>
                <a:cubicBezTo>
                  <a:pt x="128823" y="66550"/>
                  <a:pt x="128823" y="61473"/>
                  <a:pt x="125697" y="58347"/>
                </a:cubicBezTo>
                <a:lnTo>
                  <a:pt x="85682" y="18332"/>
                </a:lnTo>
                <a:cubicBezTo>
                  <a:pt x="82556" y="15206"/>
                  <a:pt x="77479" y="15206"/>
                  <a:pt x="74353" y="18332"/>
                </a:cubicBezTo>
                <a:cubicBezTo>
                  <a:pt x="71227" y="21458"/>
                  <a:pt x="71227" y="26535"/>
                  <a:pt x="74353" y="29661"/>
                </a:cubicBezTo>
                <a:lnTo>
                  <a:pt x="100713" y="56021"/>
                </a:lnTo>
                <a:lnTo>
                  <a:pt x="8003" y="56021"/>
                </a:lnTo>
                <a:cubicBezTo>
                  <a:pt x="3576" y="56021"/>
                  <a:pt x="0" y="59597"/>
                  <a:pt x="0" y="64024"/>
                </a:cubicBezTo>
                <a:cubicBezTo>
                  <a:pt x="0" y="68451"/>
                  <a:pt x="3576" y="72027"/>
                  <a:pt x="8003" y="72027"/>
                </a:cubicBezTo>
                <a:lnTo>
                  <a:pt x="100713" y="72027"/>
                </a:lnTo>
                <a:lnTo>
                  <a:pt x="74353" y="98387"/>
                </a:lnTo>
                <a:cubicBezTo>
                  <a:pt x="71227" y="101513"/>
                  <a:pt x="71227" y="106590"/>
                  <a:pt x="74353" y="109716"/>
                </a:cubicBezTo>
                <a:cubicBezTo>
                  <a:pt x="77479" y="112842"/>
                  <a:pt x="82556" y="112842"/>
                  <a:pt x="85682" y="109716"/>
                </a:cubicBezTo>
                <a:lnTo>
                  <a:pt x="125697" y="69701"/>
                </a:ln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39" name="Text 37"/>
          <p:cNvSpPr/>
          <p:nvPr/>
        </p:nvSpPr>
        <p:spPr>
          <a:xfrm>
            <a:off x="7394115" y="4317047"/>
            <a:ext cx="4209474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Solution: Comprehensive System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65851" y="4938995"/>
            <a:ext cx="11460297" cy="1317065"/>
          </a:xfrm>
          <a:custGeom>
            <a:avLst/>
            <a:gdLst/>
            <a:ahLst/>
            <a:cxnLst/>
            <a:rect l="l" t="t" r="r" b="b"/>
            <a:pathLst>
              <a:path w="11460297" h="1317065">
                <a:moveTo>
                  <a:pt x="146339" y="0"/>
                </a:moveTo>
                <a:lnTo>
                  <a:pt x="11313958" y="0"/>
                </a:lnTo>
                <a:cubicBezTo>
                  <a:pt x="11394779" y="0"/>
                  <a:pt x="11460297" y="65518"/>
                  <a:pt x="11460297" y="146339"/>
                </a:cubicBezTo>
                <a:lnTo>
                  <a:pt x="11460297" y="1170726"/>
                </a:lnTo>
                <a:cubicBezTo>
                  <a:pt x="11460297" y="1251547"/>
                  <a:pt x="11394779" y="1317065"/>
                  <a:pt x="11313958" y="1317065"/>
                </a:cubicBezTo>
                <a:lnTo>
                  <a:pt x="146339" y="1317065"/>
                </a:lnTo>
                <a:cubicBezTo>
                  <a:pt x="65518" y="1317065"/>
                  <a:pt x="0" y="1251547"/>
                  <a:pt x="0" y="1170726"/>
                </a:cubicBezTo>
                <a:lnTo>
                  <a:pt x="0" y="146339"/>
                </a:lnTo>
                <a:cubicBezTo>
                  <a:pt x="0" y="65572"/>
                  <a:pt x="65572" y="0"/>
                  <a:pt x="146339" y="0"/>
                </a:cubicBezTo>
                <a:close/>
              </a:path>
            </a:pathLst>
          </a:custGeom>
          <a:gradFill flip="none" rotWithShape="1">
            <a:gsLst>
              <a:gs pos="0">
                <a:srgbClr val="1A3A5C"/>
              </a:gs>
              <a:gs pos="100000">
                <a:srgbClr val="3D8B8B"/>
              </a:gs>
            </a:gsLst>
            <a:lin ang="0" scaled="1"/>
          </a:gradFill>
          <a:ln/>
          <a:effectLst>
            <a:outerShdw blurRad="228657" dist="18292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85362" y="5231676"/>
            <a:ext cx="731703" cy="731703"/>
          </a:xfrm>
          <a:custGeom>
            <a:avLst/>
            <a:gdLst/>
            <a:ahLst/>
            <a:cxnLst/>
            <a:rect l="l" t="t" r="r" b="b"/>
            <a:pathLst>
              <a:path w="731703" h="731703">
                <a:moveTo>
                  <a:pt x="146341" y="0"/>
                </a:moveTo>
                <a:lnTo>
                  <a:pt x="585362" y="0"/>
                </a:lnTo>
                <a:cubicBezTo>
                  <a:pt x="666184" y="0"/>
                  <a:pt x="731703" y="65519"/>
                  <a:pt x="731703" y="146341"/>
                </a:cubicBezTo>
                <a:lnTo>
                  <a:pt x="731703" y="585362"/>
                </a:lnTo>
                <a:cubicBezTo>
                  <a:pt x="731703" y="666184"/>
                  <a:pt x="666184" y="731703"/>
                  <a:pt x="585362" y="731703"/>
                </a:cubicBezTo>
                <a:lnTo>
                  <a:pt x="146341" y="731703"/>
                </a:lnTo>
                <a:cubicBezTo>
                  <a:pt x="65519" y="731703"/>
                  <a:pt x="0" y="666184"/>
                  <a:pt x="0" y="585362"/>
                </a:cubicBezTo>
                <a:lnTo>
                  <a:pt x="0" y="146341"/>
                </a:lnTo>
                <a:cubicBezTo>
                  <a:pt x="0" y="65573"/>
                  <a:pt x="65573" y="0"/>
                  <a:pt x="146341" y="0"/>
                </a:cubicBezTo>
                <a:close/>
              </a:path>
            </a:pathLst>
          </a:custGeom>
          <a:solidFill>
            <a:srgbClr val="F1F5F9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86581" y="5432894"/>
            <a:ext cx="329266" cy="329266"/>
          </a:xfrm>
          <a:custGeom>
            <a:avLst/>
            <a:gdLst/>
            <a:ahLst/>
            <a:cxnLst/>
            <a:rect l="l" t="t" r="r" b="b"/>
            <a:pathLst>
              <a:path w="329266" h="329266">
                <a:moveTo>
                  <a:pt x="288108" y="164633"/>
                </a:moveTo>
                <a:cubicBezTo>
                  <a:pt x="288108" y="96486"/>
                  <a:pt x="232781" y="41158"/>
                  <a:pt x="164633" y="41158"/>
                </a:cubicBezTo>
                <a:cubicBezTo>
                  <a:pt x="96486" y="41158"/>
                  <a:pt x="41158" y="96486"/>
                  <a:pt x="41158" y="164633"/>
                </a:cubicBezTo>
                <a:cubicBezTo>
                  <a:pt x="41158" y="232781"/>
                  <a:pt x="96486" y="288108"/>
                  <a:pt x="164633" y="288108"/>
                </a:cubicBezTo>
                <a:cubicBezTo>
                  <a:pt x="232781" y="288108"/>
                  <a:pt x="288108" y="232781"/>
                  <a:pt x="288108" y="164633"/>
                </a:cubicBezTo>
                <a:close/>
                <a:moveTo>
                  <a:pt x="0" y="164633"/>
                </a:moveTo>
                <a:cubicBezTo>
                  <a:pt x="0" y="73770"/>
                  <a:pt x="73770" y="0"/>
                  <a:pt x="164633" y="0"/>
                </a:cubicBezTo>
                <a:cubicBezTo>
                  <a:pt x="255497" y="0"/>
                  <a:pt x="329266" y="73770"/>
                  <a:pt x="329266" y="164633"/>
                </a:cubicBezTo>
                <a:cubicBezTo>
                  <a:pt x="329266" y="255497"/>
                  <a:pt x="255497" y="329266"/>
                  <a:pt x="164633" y="329266"/>
                </a:cubicBezTo>
                <a:cubicBezTo>
                  <a:pt x="73770" y="329266"/>
                  <a:pt x="0" y="255497"/>
                  <a:pt x="0" y="164633"/>
                </a:cubicBezTo>
                <a:close/>
                <a:moveTo>
                  <a:pt x="164633" y="216081"/>
                </a:moveTo>
                <a:cubicBezTo>
                  <a:pt x="193028" y="216081"/>
                  <a:pt x="216081" y="193028"/>
                  <a:pt x="216081" y="164633"/>
                </a:cubicBezTo>
                <a:cubicBezTo>
                  <a:pt x="216081" y="136238"/>
                  <a:pt x="193028" y="113185"/>
                  <a:pt x="164633" y="113185"/>
                </a:cubicBezTo>
                <a:cubicBezTo>
                  <a:pt x="136238" y="113185"/>
                  <a:pt x="113185" y="136238"/>
                  <a:pt x="113185" y="164633"/>
                </a:cubicBezTo>
                <a:cubicBezTo>
                  <a:pt x="113185" y="193028"/>
                  <a:pt x="136238" y="216081"/>
                  <a:pt x="164633" y="216081"/>
                </a:cubicBezTo>
                <a:close/>
                <a:moveTo>
                  <a:pt x="164633" y="72027"/>
                </a:moveTo>
                <a:cubicBezTo>
                  <a:pt x="215744" y="72027"/>
                  <a:pt x="257239" y="113522"/>
                  <a:pt x="257239" y="164633"/>
                </a:cubicBezTo>
                <a:cubicBezTo>
                  <a:pt x="257239" y="215744"/>
                  <a:pt x="215744" y="257239"/>
                  <a:pt x="164633" y="257239"/>
                </a:cubicBezTo>
                <a:cubicBezTo>
                  <a:pt x="113522" y="257239"/>
                  <a:pt x="72027" y="215744"/>
                  <a:pt x="72027" y="164633"/>
                </a:cubicBezTo>
                <a:cubicBezTo>
                  <a:pt x="72027" y="113522"/>
                  <a:pt x="113522" y="72027"/>
                  <a:pt x="164633" y="72027"/>
                </a:cubicBezTo>
                <a:close/>
                <a:moveTo>
                  <a:pt x="144054" y="164633"/>
                </a:moveTo>
                <a:cubicBezTo>
                  <a:pt x="144054" y="153275"/>
                  <a:pt x="153275" y="144054"/>
                  <a:pt x="164633" y="144054"/>
                </a:cubicBezTo>
                <a:cubicBezTo>
                  <a:pt x="175991" y="144054"/>
                  <a:pt x="185212" y="153275"/>
                  <a:pt x="185212" y="164633"/>
                </a:cubicBezTo>
                <a:cubicBezTo>
                  <a:pt x="185212" y="175991"/>
                  <a:pt x="175991" y="185212"/>
                  <a:pt x="164633" y="185212"/>
                </a:cubicBezTo>
                <a:cubicBezTo>
                  <a:pt x="153275" y="185212"/>
                  <a:pt x="144054" y="175991"/>
                  <a:pt x="144054" y="164633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43" name="Text 41"/>
          <p:cNvSpPr/>
          <p:nvPr/>
        </p:nvSpPr>
        <p:spPr>
          <a:xfrm>
            <a:off x="1536576" y="5158506"/>
            <a:ext cx="10179817" cy="292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8" b="1" dirty="0">
                <a:solidFill>
                  <a:srgbClr val="F1F5F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Project Contribution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536576" y="5560942"/>
            <a:ext cx="10143232" cy="47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2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project addresses these gaps through an </a:t>
            </a:r>
            <a:r>
              <a:rPr lang="en-US" sz="1152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integrated academic advising system</a:t>
            </a:r>
            <a:r>
              <a:rPr lang="en-US" sz="1152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combines fine-tuned LLMs, RAG for factual accuracy, voice interaction for accessibility, and Unity-based avatars with lip synchronisation for enhanced engagement—creating a comprehensive solution not found in existing research.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6644" y="326644"/>
            <a:ext cx="11595874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kern="0" spc="90" dirty="0">
                <a:solidFill>
                  <a:srgbClr val="3D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/ System Design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6644" y="587960"/>
            <a:ext cx="11734698" cy="391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86" b="1" dirty="0">
                <a:solidFill>
                  <a:srgbClr val="1A3A5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System Architecture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6644" y="1045262"/>
            <a:ext cx="11620372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Modular and Scalable Design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6644" y="1404571"/>
            <a:ext cx="6965691" cy="4997658"/>
          </a:xfrm>
          <a:custGeom>
            <a:avLst/>
            <a:gdLst/>
            <a:ahLst/>
            <a:cxnLst/>
            <a:rect l="l" t="t" r="r" b="b"/>
            <a:pathLst>
              <a:path w="6965691" h="4997658">
                <a:moveTo>
                  <a:pt x="130639" y="0"/>
                </a:moveTo>
                <a:lnTo>
                  <a:pt x="6835052" y="0"/>
                </a:lnTo>
                <a:cubicBezTo>
                  <a:pt x="6907202" y="0"/>
                  <a:pt x="6965691" y="58489"/>
                  <a:pt x="6965691" y="130639"/>
                </a:cubicBezTo>
                <a:lnTo>
                  <a:pt x="6965691" y="4867020"/>
                </a:lnTo>
                <a:cubicBezTo>
                  <a:pt x="6965691" y="4939169"/>
                  <a:pt x="6907202" y="4997658"/>
                  <a:pt x="6835052" y="4997658"/>
                </a:cubicBezTo>
                <a:lnTo>
                  <a:pt x="130639" y="4997658"/>
                </a:lnTo>
                <a:cubicBezTo>
                  <a:pt x="58489" y="4997658"/>
                  <a:pt x="0" y="4939169"/>
                  <a:pt x="0" y="4867020"/>
                </a:cubicBezTo>
                <a:lnTo>
                  <a:pt x="0" y="130639"/>
                </a:lnTo>
                <a:cubicBezTo>
                  <a:pt x="0" y="58537"/>
                  <a:pt x="58537" y="0"/>
                  <a:pt x="13063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04153" dist="16332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3634" y="1600557"/>
            <a:ext cx="6671711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43" b="1" dirty="0">
                <a:solidFill>
                  <a:srgbClr val="1A3A5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System Components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22631" y="2025195"/>
            <a:ext cx="6573717" cy="718618"/>
          </a:xfrm>
          <a:custGeom>
            <a:avLst/>
            <a:gdLst/>
            <a:ahLst/>
            <a:cxnLst/>
            <a:rect l="l" t="t" r="r" b="b"/>
            <a:pathLst>
              <a:path w="6573717" h="718618">
                <a:moveTo>
                  <a:pt x="97991" y="0"/>
                </a:moveTo>
                <a:lnTo>
                  <a:pt x="6475727" y="0"/>
                </a:lnTo>
                <a:cubicBezTo>
                  <a:pt x="6529845" y="0"/>
                  <a:pt x="6573717" y="43872"/>
                  <a:pt x="6573717" y="97991"/>
                </a:cubicBezTo>
                <a:lnTo>
                  <a:pt x="6573717" y="620627"/>
                </a:lnTo>
                <a:cubicBezTo>
                  <a:pt x="6573717" y="674746"/>
                  <a:pt x="6529845" y="718618"/>
                  <a:pt x="6475727" y="718618"/>
                </a:cubicBezTo>
                <a:lnTo>
                  <a:pt x="97991" y="718618"/>
                </a:lnTo>
                <a:cubicBezTo>
                  <a:pt x="43908" y="718618"/>
                  <a:pt x="0" y="674709"/>
                  <a:pt x="0" y="620627"/>
                </a:cubicBezTo>
                <a:lnTo>
                  <a:pt x="0" y="97991"/>
                </a:lnTo>
                <a:cubicBezTo>
                  <a:pt x="0" y="43908"/>
                  <a:pt x="43908" y="0"/>
                  <a:pt x="97991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B8B"/>
              </a:gs>
              <a:gs pos="100000">
                <a:srgbClr val="5A7A96"/>
              </a:gs>
            </a:gsLst>
            <a:lin ang="0" scaled="1"/>
          </a:gradFill>
          <a:ln/>
          <a:effectLst>
            <a:outerShdw blurRad="122492" dist="8166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3289" y="2188517"/>
            <a:ext cx="391973" cy="391973"/>
          </a:xfrm>
          <a:custGeom>
            <a:avLst/>
            <a:gdLst/>
            <a:ahLst/>
            <a:cxnLst/>
            <a:rect l="l" t="t" r="r" b="b"/>
            <a:pathLst>
              <a:path w="391973" h="391973">
                <a:moveTo>
                  <a:pt x="97993" y="0"/>
                </a:moveTo>
                <a:lnTo>
                  <a:pt x="293980" y="0"/>
                </a:lnTo>
                <a:cubicBezTo>
                  <a:pt x="348064" y="0"/>
                  <a:pt x="391973" y="43909"/>
                  <a:pt x="391973" y="97993"/>
                </a:cubicBezTo>
                <a:lnTo>
                  <a:pt x="391973" y="293980"/>
                </a:lnTo>
                <a:cubicBezTo>
                  <a:pt x="391973" y="348064"/>
                  <a:pt x="348064" y="391973"/>
                  <a:pt x="293980" y="391973"/>
                </a:cubicBezTo>
                <a:lnTo>
                  <a:pt x="97993" y="391973"/>
                </a:lnTo>
                <a:cubicBezTo>
                  <a:pt x="43909" y="391973"/>
                  <a:pt x="0" y="348064"/>
                  <a:pt x="0" y="293980"/>
                </a:cubicBezTo>
                <a:lnTo>
                  <a:pt x="0" y="97993"/>
                </a:lnTo>
                <a:cubicBezTo>
                  <a:pt x="0" y="43909"/>
                  <a:pt x="43909" y="0"/>
                  <a:pt x="97993" y="0"/>
                </a:cubicBezTo>
                <a:close/>
              </a:path>
            </a:pathLst>
          </a:custGeom>
          <a:solidFill>
            <a:srgbClr val="F1F5F9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67614" y="2302843"/>
            <a:ext cx="163322" cy="163322"/>
          </a:xfrm>
          <a:custGeom>
            <a:avLst/>
            <a:gdLst/>
            <a:ahLst/>
            <a:cxnLst/>
            <a:rect l="l" t="t" r="r" b="b"/>
            <a:pathLst>
              <a:path w="163322" h="163322">
                <a:moveTo>
                  <a:pt x="20415" y="10208"/>
                </a:moveTo>
                <a:cubicBezTo>
                  <a:pt x="9155" y="10208"/>
                  <a:pt x="0" y="19363"/>
                  <a:pt x="0" y="30623"/>
                </a:cubicBezTo>
                <a:lnTo>
                  <a:pt x="0" y="112284"/>
                </a:lnTo>
                <a:cubicBezTo>
                  <a:pt x="0" y="123544"/>
                  <a:pt x="9155" y="132699"/>
                  <a:pt x="20415" y="132699"/>
                </a:cubicBezTo>
                <a:lnTo>
                  <a:pt x="66350" y="132699"/>
                </a:lnTo>
                <a:lnTo>
                  <a:pt x="61246" y="148011"/>
                </a:lnTo>
                <a:lnTo>
                  <a:pt x="38279" y="148011"/>
                </a:lnTo>
                <a:cubicBezTo>
                  <a:pt x="34036" y="148011"/>
                  <a:pt x="30623" y="151424"/>
                  <a:pt x="30623" y="155666"/>
                </a:cubicBezTo>
                <a:cubicBezTo>
                  <a:pt x="30623" y="159909"/>
                  <a:pt x="34036" y="163322"/>
                  <a:pt x="38279" y="163322"/>
                </a:cubicBezTo>
                <a:lnTo>
                  <a:pt x="125044" y="163322"/>
                </a:lnTo>
                <a:cubicBezTo>
                  <a:pt x="129286" y="163322"/>
                  <a:pt x="132699" y="159909"/>
                  <a:pt x="132699" y="155666"/>
                </a:cubicBezTo>
                <a:cubicBezTo>
                  <a:pt x="132699" y="151424"/>
                  <a:pt x="129286" y="148011"/>
                  <a:pt x="125044" y="148011"/>
                </a:cubicBezTo>
                <a:lnTo>
                  <a:pt x="102076" y="148011"/>
                </a:lnTo>
                <a:lnTo>
                  <a:pt x="96973" y="132699"/>
                </a:lnTo>
                <a:lnTo>
                  <a:pt x="142907" y="132699"/>
                </a:lnTo>
                <a:cubicBezTo>
                  <a:pt x="154167" y="132699"/>
                  <a:pt x="163322" y="123544"/>
                  <a:pt x="163322" y="112284"/>
                </a:cubicBezTo>
                <a:lnTo>
                  <a:pt x="163322" y="30623"/>
                </a:lnTo>
                <a:cubicBezTo>
                  <a:pt x="163322" y="19363"/>
                  <a:pt x="154167" y="10208"/>
                  <a:pt x="142907" y="10208"/>
                </a:cubicBezTo>
                <a:lnTo>
                  <a:pt x="20415" y="10208"/>
                </a:lnTo>
                <a:close/>
                <a:moveTo>
                  <a:pt x="30623" y="30623"/>
                </a:moveTo>
                <a:lnTo>
                  <a:pt x="132699" y="30623"/>
                </a:lnTo>
                <a:cubicBezTo>
                  <a:pt x="138345" y="30623"/>
                  <a:pt x="142907" y="35184"/>
                  <a:pt x="142907" y="40831"/>
                </a:cubicBezTo>
                <a:lnTo>
                  <a:pt x="142907" y="91869"/>
                </a:lnTo>
                <a:cubicBezTo>
                  <a:pt x="142907" y="97515"/>
                  <a:pt x="138345" y="102076"/>
                  <a:pt x="132699" y="102076"/>
                </a:cubicBezTo>
                <a:lnTo>
                  <a:pt x="30623" y="102076"/>
                </a:lnTo>
                <a:cubicBezTo>
                  <a:pt x="24977" y="102076"/>
                  <a:pt x="20415" y="97515"/>
                  <a:pt x="20415" y="91869"/>
                </a:cubicBezTo>
                <a:lnTo>
                  <a:pt x="20415" y="40831"/>
                </a:lnTo>
                <a:cubicBezTo>
                  <a:pt x="20415" y="35184"/>
                  <a:pt x="24977" y="30623"/>
                  <a:pt x="30623" y="30623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1175920" y="2155853"/>
            <a:ext cx="5863266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Voice-Enabled Frontend Interface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5920" y="2417168"/>
            <a:ext cx="5855100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Unity-based avatar with speech input/output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35144" y="2841806"/>
            <a:ext cx="146990" cy="195987"/>
          </a:xfrm>
          <a:custGeom>
            <a:avLst/>
            <a:gdLst/>
            <a:ahLst/>
            <a:cxnLst/>
            <a:rect l="l" t="t" r="r" b="b"/>
            <a:pathLst>
              <a:path w="146990" h="195987">
                <a:moveTo>
                  <a:pt x="64844" y="192388"/>
                </a:moveTo>
                <a:cubicBezTo>
                  <a:pt x="69629" y="197173"/>
                  <a:pt x="77399" y="197173"/>
                  <a:pt x="82184" y="192388"/>
                </a:cubicBezTo>
                <a:lnTo>
                  <a:pt x="143430" y="131143"/>
                </a:lnTo>
                <a:cubicBezTo>
                  <a:pt x="148215" y="126358"/>
                  <a:pt x="148215" y="118587"/>
                  <a:pt x="143430" y="113802"/>
                </a:cubicBezTo>
                <a:cubicBezTo>
                  <a:pt x="138645" y="109018"/>
                  <a:pt x="130875" y="109018"/>
                  <a:pt x="126090" y="113802"/>
                </a:cubicBezTo>
                <a:lnTo>
                  <a:pt x="85744" y="154148"/>
                </a:lnTo>
                <a:lnTo>
                  <a:pt x="85744" y="12249"/>
                </a:lnTo>
                <a:cubicBezTo>
                  <a:pt x="85744" y="5474"/>
                  <a:pt x="80270" y="0"/>
                  <a:pt x="73495" y="0"/>
                </a:cubicBezTo>
                <a:cubicBezTo>
                  <a:pt x="66720" y="0"/>
                  <a:pt x="61246" y="5474"/>
                  <a:pt x="61246" y="12249"/>
                </a:cubicBezTo>
                <a:lnTo>
                  <a:pt x="61246" y="154148"/>
                </a:lnTo>
                <a:lnTo>
                  <a:pt x="20900" y="113802"/>
                </a:lnTo>
                <a:cubicBezTo>
                  <a:pt x="16115" y="109018"/>
                  <a:pt x="8345" y="109018"/>
                  <a:pt x="3560" y="113802"/>
                </a:cubicBezTo>
                <a:cubicBezTo>
                  <a:pt x="-1225" y="118587"/>
                  <a:pt x="-1225" y="126358"/>
                  <a:pt x="3560" y="131143"/>
                </a:cubicBezTo>
                <a:lnTo>
                  <a:pt x="64806" y="192388"/>
                </a:ln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13" name="Shape 11"/>
          <p:cNvSpPr/>
          <p:nvPr/>
        </p:nvSpPr>
        <p:spPr>
          <a:xfrm>
            <a:off x="522631" y="3135786"/>
            <a:ext cx="6573717" cy="718618"/>
          </a:xfrm>
          <a:custGeom>
            <a:avLst/>
            <a:gdLst/>
            <a:ahLst/>
            <a:cxnLst/>
            <a:rect l="l" t="t" r="r" b="b"/>
            <a:pathLst>
              <a:path w="6573717" h="718618">
                <a:moveTo>
                  <a:pt x="97991" y="0"/>
                </a:moveTo>
                <a:lnTo>
                  <a:pt x="6475727" y="0"/>
                </a:lnTo>
                <a:cubicBezTo>
                  <a:pt x="6529845" y="0"/>
                  <a:pt x="6573717" y="43872"/>
                  <a:pt x="6573717" y="97991"/>
                </a:cubicBezTo>
                <a:lnTo>
                  <a:pt x="6573717" y="620627"/>
                </a:lnTo>
                <a:cubicBezTo>
                  <a:pt x="6573717" y="674746"/>
                  <a:pt x="6529845" y="718618"/>
                  <a:pt x="6475727" y="718618"/>
                </a:cubicBezTo>
                <a:lnTo>
                  <a:pt x="97991" y="718618"/>
                </a:lnTo>
                <a:cubicBezTo>
                  <a:pt x="43908" y="718618"/>
                  <a:pt x="0" y="674709"/>
                  <a:pt x="0" y="620627"/>
                </a:cubicBezTo>
                <a:lnTo>
                  <a:pt x="0" y="97991"/>
                </a:lnTo>
                <a:cubicBezTo>
                  <a:pt x="0" y="43908"/>
                  <a:pt x="43908" y="0"/>
                  <a:pt x="97991" y="0"/>
                </a:cubicBezTo>
                <a:close/>
              </a:path>
            </a:pathLst>
          </a:custGeom>
          <a:gradFill flip="none" rotWithShape="1">
            <a:gsLst>
              <a:gs pos="0">
                <a:srgbClr val="5A7A96"/>
              </a:gs>
              <a:gs pos="100000">
                <a:srgbClr val="1A3A5C"/>
              </a:gs>
            </a:gsLst>
            <a:lin ang="0" scaled="1"/>
          </a:gradFill>
          <a:ln/>
          <a:effectLst>
            <a:outerShdw blurRad="122492" dist="8166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3289" y="3299108"/>
            <a:ext cx="391973" cy="391973"/>
          </a:xfrm>
          <a:custGeom>
            <a:avLst/>
            <a:gdLst/>
            <a:ahLst/>
            <a:cxnLst/>
            <a:rect l="l" t="t" r="r" b="b"/>
            <a:pathLst>
              <a:path w="391973" h="391973">
                <a:moveTo>
                  <a:pt x="97993" y="0"/>
                </a:moveTo>
                <a:lnTo>
                  <a:pt x="293980" y="0"/>
                </a:lnTo>
                <a:cubicBezTo>
                  <a:pt x="348064" y="0"/>
                  <a:pt x="391973" y="43909"/>
                  <a:pt x="391973" y="97993"/>
                </a:cubicBezTo>
                <a:lnTo>
                  <a:pt x="391973" y="293980"/>
                </a:lnTo>
                <a:cubicBezTo>
                  <a:pt x="391973" y="348064"/>
                  <a:pt x="348064" y="391973"/>
                  <a:pt x="293980" y="391973"/>
                </a:cubicBezTo>
                <a:lnTo>
                  <a:pt x="97993" y="391973"/>
                </a:lnTo>
                <a:cubicBezTo>
                  <a:pt x="43909" y="391973"/>
                  <a:pt x="0" y="348064"/>
                  <a:pt x="0" y="293980"/>
                </a:cubicBezTo>
                <a:lnTo>
                  <a:pt x="0" y="97993"/>
                </a:lnTo>
                <a:cubicBezTo>
                  <a:pt x="0" y="43909"/>
                  <a:pt x="43909" y="0"/>
                  <a:pt x="97993" y="0"/>
                </a:cubicBezTo>
                <a:close/>
              </a:path>
            </a:pathLst>
          </a:custGeom>
          <a:solidFill>
            <a:srgbClr val="F1F5F9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77822" y="3413433"/>
            <a:ext cx="142907" cy="163322"/>
          </a:xfrm>
          <a:custGeom>
            <a:avLst/>
            <a:gdLst/>
            <a:ahLst/>
            <a:cxnLst/>
            <a:rect l="l" t="t" r="r" b="b"/>
            <a:pathLst>
              <a:path w="142907" h="163322">
                <a:moveTo>
                  <a:pt x="20415" y="10208"/>
                </a:moveTo>
                <a:cubicBezTo>
                  <a:pt x="9155" y="10208"/>
                  <a:pt x="0" y="19363"/>
                  <a:pt x="0" y="30623"/>
                </a:cubicBezTo>
                <a:lnTo>
                  <a:pt x="0" y="51038"/>
                </a:lnTo>
                <a:cubicBezTo>
                  <a:pt x="0" y="62298"/>
                  <a:pt x="9155" y="71453"/>
                  <a:pt x="20415" y="71453"/>
                </a:cubicBezTo>
                <a:lnTo>
                  <a:pt x="122492" y="71453"/>
                </a:lnTo>
                <a:cubicBezTo>
                  <a:pt x="133752" y="71453"/>
                  <a:pt x="142907" y="62298"/>
                  <a:pt x="142907" y="51038"/>
                </a:cubicBezTo>
                <a:lnTo>
                  <a:pt x="142907" y="30623"/>
                </a:lnTo>
                <a:cubicBezTo>
                  <a:pt x="142907" y="19363"/>
                  <a:pt x="133752" y="10208"/>
                  <a:pt x="122492" y="10208"/>
                </a:cubicBezTo>
                <a:lnTo>
                  <a:pt x="20415" y="10208"/>
                </a:lnTo>
                <a:close/>
                <a:moveTo>
                  <a:pt x="89317" y="33175"/>
                </a:moveTo>
                <a:cubicBezTo>
                  <a:pt x="93542" y="33175"/>
                  <a:pt x="96973" y="36605"/>
                  <a:pt x="96973" y="40831"/>
                </a:cubicBezTo>
                <a:cubicBezTo>
                  <a:pt x="96973" y="45056"/>
                  <a:pt x="93542" y="48486"/>
                  <a:pt x="89317" y="48486"/>
                </a:cubicBezTo>
                <a:cubicBezTo>
                  <a:pt x="85092" y="48486"/>
                  <a:pt x="81661" y="45056"/>
                  <a:pt x="81661" y="40831"/>
                </a:cubicBezTo>
                <a:cubicBezTo>
                  <a:pt x="81661" y="36605"/>
                  <a:pt x="85092" y="33175"/>
                  <a:pt x="89317" y="33175"/>
                </a:cubicBezTo>
                <a:close/>
                <a:moveTo>
                  <a:pt x="107180" y="40831"/>
                </a:moveTo>
                <a:cubicBezTo>
                  <a:pt x="107180" y="36605"/>
                  <a:pt x="110611" y="33175"/>
                  <a:pt x="114836" y="33175"/>
                </a:cubicBezTo>
                <a:cubicBezTo>
                  <a:pt x="119061" y="33175"/>
                  <a:pt x="122492" y="36605"/>
                  <a:pt x="122492" y="40831"/>
                </a:cubicBezTo>
                <a:cubicBezTo>
                  <a:pt x="122492" y="45056"/>
                  <a:pt x="119061" y="48486"/>
                  <a:pt x="114836" y="48486"/>
                </a:cubicBezTo>
                <a:cubicBezTo>
                  <a:pt x="110611" y="48486"/>
                  <a:pt x="107180" y="45056"/>
                  <a:pt x="107180" y="40831"/>
                </a:cubicBezTo>
                <a:close/>
                <a:moveTo>
                  <a:pt x="20415" y="91869"/>
                </a:moveTo>
                <a:cubicBezTo>
                  <a:pt x="9155" y="91869"/>
                  <a:pt x="0" y="101024"/>
                  <a:pt x="0" y="112284"/>
                </a:cubicBezTo>
                <a:lnTo>
                  <a:pt x="0" y="132699"/>
                </a:lnTo>
                <a:cubicBezTo>
                  <a:pt x="0" y="143960"/>
                  <a:pt x="9155" y="153115"/>
                  <a:pt x="20415" y="153115"/>
                </a:cubicBezTo>
                <a:lnTo>
                  <a:pt x="122492" y="153115"/>
                </a:lnTo>
                <a:cubicBezTo>
                  <a:pt x="133752" y="153115"/>
                  <a:pt x="142907" y="143960"/>
                  <a:pt x="142907" y="132699"/>
                </a:cubicBezTo>
                <a:lnTo>
                  <a:pt x="142907" y="112284"/>
                </a:lnTo>
                <a:cubicBezTo>
                  <a:pt x="142907" y="101024"/>
                  <a:pt x="133752" y="91869"/>
                  <a:pt x="122492" y="91869"/>
                </a:cubicBezTo>
                <a:lnTo>
                  <a:pt x="20415" y="91869"/>
                </a:lnTo>
                <a:close/>
                <a:moveTo>
                  <a:pt x="89317" y="114836"/>
                </a:moveTo>
                <a:cubicBezTo>
                  <a:pt x="93542" y="114836"/>
                  <a:pt x="96973" y="118266"/>
                  <a:pt x="96973" y="122492"/>
                </a:cubicBezTo>
                <a:cubicBezTo>
                  <a:pt x="96973" y="126717"/>
                  <a:pt x="93542" y="130147"/>
                  <a:pt x="89317" y="130147"/>
                </a:cubicBezTo>
                <a:cubicBezTo>
                  <a:pt x="85092" y="130147"/>
                  <a:pt x="81661" y="126717"/>
                  <a:pt x="81661" y="122492"/>
                </a:cubicBezTo>
                <a:cubicBezTo>
                  <a:pt x="81661" y="118266"/>
                  <a:pt x="85092" y="114836"/>
                  <a:pt x="89317" y="114836"/>
                </a:cubicBezTo>
                <a:close/>
                <a:moveTo>
                  <a:pt x="107180" y="122492"/>
                </a:moveTo>
                <a:cubicBezTo>
                  <a:pt x="107180" y="118266"/>
                  <a:pt x="110611" y="114836"/>
                  <a:pt x="114836" y="114836"/>
                </a:cubicBezTo>
                <a:cubicBezTo>
                  <a:pt x="119061" y="114836"/>
                  <a:pt x="122492" y="118266"/>
                  <a:pt x="122492" y="122492"/>
                </a:cubicBezTo>
                <a:cubicBezTo>
                  <a:pt x="122492" y="126717"/>
                  <a:pt x="119061" y="130147"/>
                  <a:pt x="114836" y="130147"/>
                </a:cubicBezTo>
                <a:cubicBezTo>
                  <a:pt x="110611" y="130147"/>
                  <a:pt x="107180" y="126717"/>
                  <a:pt x="107180" y="122492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1175920" y="3266443"/>
            <a:ext cx="5863266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API Server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5920" y="3527759"/>
            <a:ext cx="5855100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RESTful API handling requests and responses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35144" y="3952397"/>
            <a:ext cx="146990" cy="195987"/>
          </a:xfrm>
          <a:custGeom>
            <a:avLst/>
            <a:gdLst/>
            <a:ahLst/>
            <a:cxnLst/>
            <a:rect l="l" t="t" r="r" b="b"/>
            <a:pathLst>
              <a:path w="146990" h="195987">
                <a:moveTo>
                  <a:pt x="64844" y="192388"/>
                </a:moveTo>
                <a:cubicBezTo>
                  <a:pt x="69629" y="197173"/>
                  <a:pt x="77399" y="197173"/>
                  <a:pt x="82184" y="192388"/>
                </a:cubicBezTo>
                <a:lnTo>
                  <a:pt x="143430" y="131143"/>
                </a:lnTo>
                <a:cubicBezTo>
                  <a:pt x="148215" y="126358"/>
                  <a:pt x="148215" y="118587"/>
                  <a:pt x="143430" y="113802"/>
                </a:cubicBezTo>
                <a:cubicBezTo>
                  <a:pt x="138645" y="109018"/>
                  <a:pt x="130875" y="109018"/>
                  <a:pt x="126090" y="113802"/>
                </a:cubicBezTo>
                <a:lnTo>
                  <a:pt x="85744" y="154148"/>
                </a:lnTo>
                <a:lnTo>
                  <a:pt x="85744" y="12249"/>
                </a:lnTo>
                <a:cubicBezTo>
                  <a:pt x="85744" y="5474"/>
                  <a:pt x="80270" y="0"/>
                  <a:pt x="73495" y="0"/>
                </a:cubicBezTo>
                <a:cubicBezTo>
                  <a:pt x="66720" y="0"/>
                  <a:pt x="61246" y="5474"/>
                  <a:pt x="61246" y="12249"/>
                </a:cubicBezTo>
                <a:lnTo>
                  <a:pt x="61246" y="154148"/>
                </a:lnTo>
                <a:lnTo>
                  <a:pt x="20900" y="113802"/>
                </a:lnTo>
                <a:cubicBezTo>
                  <a:pt x="16115" y="109018"/>
                  <a:pt x="8345" y="109018"/>
                  <a:pt x="3560" y="113802"/>
                </a:cubicBezTo>
                <a:cubicBezTo>
                  <a:pt x="-1225" y="118587"/>
                  <a:pt x="-1225" y="126358"/>
                  <a:pt x="3560" y="131143"/>
                </a:cubicBezTo>
                <a:lnTo>
                  <a:pt x="64806" y="192388"/>
                </a:ln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19" name="Shape 17"/>
          <p:cNvSpPr/>
          <p:nvPr/>
        </p:nvSpPr>
        <p:spPr>
          <a:xfrm>
            <a:off x="522631" y="4246376"/>
            <a:ext cx="3217447" cy="849275"/>
          </a:xfrm>
          <a:custGeom>
            <a:avLst/>
            <a:gdLst/>
            <a:ahLst/>
            <a:cxnLst/>
            <a:rect l="l" t="t" r="r" b="b"/>
            <a:pathLst>
              <a:path w="3217447" h="849275">
                <a:moveTo>
                  <a:pt x="97989" y="0"/>
                </a:moveTo>
                <a:lnTo>
                  <a:pt x="3119457" y="0"/>
                </a:lnTo>
                <a:cubicBezTo>
                  <a:pt x="3173575" y="0"/>
                  <a:pt x="3217447" y="43871"/>
                  <a:pt x="3217447" y="97989"/>
                </a:cubicBezTo>
                <a:lnTo>
                  <a:pt x="3217447" y="751286"/>
                </a:lnTo>
                <a:cubicBezTo>
                  <a:pt x="3217447" y="805404"/>
                  <a:pt x="3173575" y="849275"/>
                  <a:pt x="3119457" y="849275"/>
                </a:cubicBezTo>
                <a:lnTo>
                  <a:pt x="97989" y="849275"/>
                </a:lnTo>
                <a:cubicBezTo>
                  <a:pt x="43871" y="849275"/>
                  <a:pt x="0" y="805404"/>
                  <a:pt x="0" y="751286"/>
                </a:cubicBezTo>
                <a:lnTo>
                  <a:pt x="0" y="97989"/>
                </a:lnTo>
                <a:cubicBezTo>
                  <a:pt x="0" y="43871"/>
                  <a:pt x="43871" y="0"/>
                  <a:pt x="97989" y="0"/>
                </a:cubicBezTo>
                <a:close/>
              </a:path>
            </a:pathLst>
          </a:custGeom>
          <a:solidFill>
            <a:srgbClr val="1A3A5C"/>
          </a:solidFill>
          <a:ln/>
          <a:effectLst>
            <a:outerShdw blurRad="122492" dist="8166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289" y="4377034"/>
            <a:ext cx="326644" cy="326644"/>
          </a:xfrm>
          <a:custGeom>
            <a:avLst/>
            <a:gdLst/>
            <a:ahLst/>
            <a:cxnLst/>
            <a:rect l="l" t="t" r="r" b="b"/>
            <a:pathLst>
              <a:path w="326644" h="326644">
                <a:moveTo>
                  <a:pt x="65329" y="0"/>
                </a:moveTo>
                <a:lnTo>
                  <a:pt x="261315" y="0"/>
                </a:lnTo>
                <a:cubicBezTo>
                  <a:pt x="297396" y="0"/>
                  <a:pt x="326644" y="29249"/>
                  <a:pt x="326644" y="65329"/>
                </a:cubicBezTo>
                <a:lnTo>
                  <a:pt x="326644" y="261315"/>
                </a:lnTo>
                <a:cubicBezTo>
                  <a:pt x="326644" y="297396"/>
                  <a:pt x="297396" y="326644"/>
                  <a:pt x="261315" y="326644"/>
                </a:cubicBezTo>
                <a:lnTo>
                  <a:pt x="65329" y="326644"/>
                </a:lnTo>
                <a:cubicBezTo>
                  <a:pt x="29249" y="326644"/>
                  <a:pt x="0" y="297396"/>
                  <a:pt x="0" y="261315"/>
                </a:cubicBezTo>
                <a:lnTo>
                  <a:pt x="0" y="65329"/>
                </a:lnTo>
                <a:cubicBezTo>
                  <a:pt x="0" y="29273"/>
                  <a:pt x="29273" y="0"/>
                  <a:pt x="65329" y="0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21" name="Shape 19"/>
          <p:cNvSpPr/>
          <p:nvPr/>
        </p:nvSpPr>
        <p:spPr>
          <a:xfrm>
            <a:off x="751282" y="4475027"/>
            <a:ext cx="130658" cy="130658"/>
          </a:xfrm>
          <a:custGeom>
            <a:avLst/>
            <a:gdLst/>
            <a:ahLst/>
            <a:cxnLst/>
            <a:rect l="l" t="t" r="r" b="b"/>
            <a:pathLst>
              <a:path w="130658" h="130658">
                <a:moveTo>
                  <a:pt x="106159" y="53080"/>
                </a:moveTo>
                <a:cubicBezTo>
                  <a:pt x="106159" y="64793"/>
                  <a:pt x="102357" y="75613"/>
                  <a:pt x="95952" y="84392"/>
                </a:cubicBezTo>
                <a:lnTo>
                  <a:pt x="128259" y="116724"/>
                </a:lnTo>
                <a:cubicBezTo>
                  <a:pt x="131449" y="119914"/>
                  <a:pt x="131449" y="125095"/>
                  <a:pt x="128259" y="128284"/>
                </a:cubicBezTo>
                <a:cubicBezTo>
                  <a:pt x="125069" y="131474"/>
                  <a:pt x="119889" y="131474"/>
                  <a:pt x="116699" y="128284"/>
                </a:cubicBezTo>
                <a:lnTo>
                  <a:pt x="84392" y="95952"/>
                </a:lnTo>
                <a:cubicBezTo>
                  <a:pt x="75613" y="102357"/>
                  <a:pt x="64793" y="106159"/>
                  <a:pt x="53080" y="106159"/>
                </a:cubicBezTo>
                <a:cubicBezTo>
                  <a:pt x="23758" y="106159"/>
                  <a:pt x="0" y="82401"/>
                  <a:pt x="0" y="53080"/>
                </a:cubicBezTo>
                <a:cubicBezTo>
                  <a:pt x="0" y="23758"/>
                  <a:pt x="23758" y="0"/>
                  <a:pt x="53080" y="0"/>
                </a:cubicBezTo>
                <a:cubicBezTo>
                  <a:pt x="82401" y="0"/>
                  <a:pt x="106159" y="23758"/>
                  <a:pt x="106159" y="53080"/>
                </a:cubicBezTo>
                <a:close/>
                <a:moveTo>
                  <a:pt x="53080" y="89827"/>
                </a:moveTo>
                <a:cubicBezTo>
                  <a:pt x="73361" y="89827"/>
                  <a:pt x="89827" y="73361"/>
                  <a:pt x="89827" y="53080"/>
                </a:cubicBezTo>
                <a:cubicBezTo>
                  <a:pt x="89827" y="32798"/>
                  <a:pt x="73361" y="16332"/>
                  <a:pt x="53080" y="16332"/>
                </a:cubicBezTo>
                <a:cubicBezTo>
                  <a:pt x="32798" y="16332"/>
                  <a:pt x="16332" y="32798"/>
                  <a:pt x="16332" y="53080"/>
                </a:cubicBezTo>
                <a:cubicBezTo>
                  <a:pt x="16332" y="73361"/>
                  <a:pt x="32798" y="89827"/>
                  <a:pt x="53080" y="89827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1077926" y="4442363"/>
            <a:ext cx="808445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 Pipeline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289" y="4769007"/>
            <a:ext cx="3021460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 retrieval and context injection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73968" y="4246376"/>
            <a:ext cx="3217447" cy="849275"/>
          </a:xfrm>
          <a:custGeom>
            <a:avLst/>
            <a:gdLst/>
            <a:ahLst/>
            <a:cxnLst/>
            <a:rect l="l" t="t" r="r" b="b"/>
            <a:pathLst>
              <a:path w="3217447" h="849275">
                <a:moveTo>
                  <a:pt x="97989" y="0"/>
                </a:moveTo>
                <a:lnTo>
                  <a:pt x="3119457" y="0"/>
                </a:lnTo>
                <a:cubicBezTo>
                  <a:pt x="3173575" y="0"/>
                  <a:pt x="3217447" y="43871"/>
                  <a:pt x="3217447" y="97989"/>
                </a:cubicBezTo>
                <a:lnTo>
                  <a:pt x="3217447" y="751286"/>
                </a:lnTo>
                <a:cubicBezTo>
                  <a:pt x="3217447" y="805404"/>
                  <a:pt x="3173575" y="849275"/>
                  <a:pt x="3119457" y="849275"/>
                </a:cubicBezTo>
                <a:lnTo>
                  <a:pt x="97989" y="849275"/>
                </a:lnTo>
                <a:cubicBezTo>
                  <a:pt x="43871" y="849275"/>
                  <a:pt x="0" y="805404"/>
                  <a:pt x="0" y="751286"/>
                </a:cubicBezTo>
                <a:lnTo>
                  <a:pt x="0" y="97989"/>
                </a:lnTo>
                <a:cubicBezTo>
                  <a:pt x="0" y="43871"/>
                  <a:pt x="43871" y="0"/>
                  <a:pt x="97989" y="0"/>
                </a:cubicBezTo>
                <a:close/>
              </a:path>
            </a:pathLst>
          </a:custGeom>
          <a:solidFill>
            <a:srgbClr val="1A3A5C"/>
          </a:solidFill>
          <a:ln/>
          <a:effectLst>
            <a:outerShdw blurRad="122492" dist="8166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004626" y="4377034"/>
            <a:ext cx="326644" cy="326644"/>
          </a:xfrm>
          <a:custGeom>
            <a:avLst/>
            <a:gdLst/>
            <a:ahLst/>
            <a:cxnLst/>
            <a:rect l="l" t="t" r="r" b="b"/>
            <a:pathLst>
              <a:path w="326644" h="326644">
                <a:moveTo>
                  <a:pt x="65329" y="0"/>
                </a:moveTo>
                <a:lnTo>
                  <a:pt x="261315" y="0"/>
                </a:lnTo>
                <a:cubicBezTo>
                  <a:pt x="297396" y="0"/>
                  <a:pt x="326644" y="29249"/>
                  <a:pt x="326644" y="65329"/>
                </a:cubicBezTo>
                <a:lnTo>
                  <a:pt x="326644" y="261315"/>
                </a:lnTo>
                <a:cubicBezTo>
                  <a:pt x="326644" y="297396"/>
                  <a:pt x="297396" y="326644"/>
                  <a:pt x="261315" y="326644"/>
                </a:cubicBezTo>
                <a:lnTo>
                  <a:pt x="65329" y="326644"/>
                </a:lnTo>
                <a:cubicBezTo>
                  <a:pt x="29249" y="326644"/>
                  <a:pt x="0" y="297396"/>
                  <a:pt x="0" y="261315"/>
                </a:cubicBezTo>
                <a:lnTo>
                  <a:pt x="0" y="65329"/>
                </a:lnTo>
                <a:cubicBezTo>
                  <a:pt x="0" y="29273"/>
                  <a:pt x="29273" y="0"/>
                  <a:pt x="65329" y="0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26" name="Shape 24"/>
          <p:cNvSpPr/>
          <p:nvPr/>
        </p:nvSpPr>
        <p:spPr>
          <a:xfrm>
            <a:off x="4102619" y="4475027"/>
            <a:ext cx="130658" cy="130658"/>
          </a:xfrm>
          <a:custGeom>
            <a:avLst/>
            <a:gdLst/>
            <a:ahLst/>
            <a:cxnLst/>
            <a:rect l="l" t="t" r="r" b="b"/>
            <a:pathLst>
              <a:path w="130658" h="130658">
                <a:moveTo>
                  <a:pt x="30623" y="14291"/>
                </a:moveTo>
                <a:cubicBezTo>
                  <a:pt x="30623" y="6405"/>
                  <a:pt x="37028" y="0"/>
                  <a:pt x="44914" y="0"/>
                </a:cubicBezTo>
                <a:lnTo>
                  <a:pt x="51038" y="0"/>
                </a:lnTo>
                <a:cubicBezTo>
                  <a:pt x="55555" y="0"/>
                  <a:pt x="59204" y="3649"/>
                  <a:pt x="59204" y="8166"/>
                </a:cubicBezTo>
                <a:lnTo>
                  <a:pt x="59204" y="122492"/>
                </a:lnTo>
                <a:cubicBezTo>
                  <a:pt x="59204" y="127009"/>
                  <a:pt x="55555" y="130658"/>
                  <a:pt x="51038" y="130658"/>
                </a:cubicBezTo>
                <a:lnTo>
                  <a:pt x="42872" y="130658"/>
                </a:lnTo>
                <a:cubicBezTo>
                  <a:pt x="35267" y="130658"/>
                  <a:pt x="28862" y="125452"/>
                  <a:pt x="27050" y="118409"/>
                </a:cubicBezTo>
                <a:cubicBezTo>
                  <a:pt x="26872" y="118409"/>
                  <a:pt x="26718" y="118409"/>
                  <a:pt x="26540" y="118409"/>
                </a:cubicBezTo>
                <a:cubicBezTo>
                  <a:pt x="15260" y="118409"/>
                  <a:pt x="6125" y="109273"/>
                  <a:pt x="6125" y="97993"/>
                </a:cubicBezTo>
                <a:cubicBezTo>
                  <a:pt x="6125" y="93400"/>
                  <a:pt x="7656" y="89164"/>
                  <a:pt x="10208" y="85744"/>
                </a:cubicBezTo>
                <a:cubicBezTo>
                  <a:pt x="5257" y="82018"/>
                  <a:pt x="2042" y="76098"/>
                  <a:pt x="2042" y="69412"/>
                </a:cubicBezTo>
                <a:cubicBezTo>
                  <a:pt x="2042" y="61527"/>
                  <a:pt x="6533" y="54662"/>
                  <a:pt x="13066" y="51268"/>
                </a:cubicBezTo>
                <a:cubicBezTo>
                  <a:pt x="11254" y="48206"/>
                  <a:pt x="10208" y="44633"/>
                  <a:pt x="10208" y="40831"/>
                </a:cubicBezTo>
                <a:cubicBezTo>
                  <a:pt x="10208" y="29551"/>
                  <a:pt x="19343" y="20415"/>
                  <a:pt x="30623" y="20415"/>
                </a:cubicBezTo>
                <a:lnTo>
                  <a:pt x="30623" y="14291"/>
                </a:lnTo>
                <a:close/>
                <a:moveTo>
                  <a:pt x="100035" y="14291"/>
                </a:moveTo>
                <a:lnTo>
                  <a:pt x="100035" y="20415"/>
                </a:lnTo>
                <a:cubicBezTo>
                  <a:pt x="111314" y="20415"/>
                  <a:pt x="120450" y="29551"/>
                  <a:pt x="120450" y="40831"/>
                </a:cubicBezTo>
                <a:cubicBezTo>
                  <a:pt x="120450" y="44658"/>
                  <a:pt x="119404" y="48231"/>
                  <a:pt x="117592" y="51268"/>
                </a:cubicBezTo>
                <a:cubicBezTo>
                  <a:pt x="124150" y="54662"/>
                  <a:pt x="128616" y="61501"/>
                  <a:pt x="128616" y="69412"/>
                </a:cubicBezTo>
                <a:cubicBezTo>
                  <a:pt x="128616" y="76098"/>
                  <a:pt x="125401" y="82018"/>
                  <a:pt x="120450" y="85744"/>
                </a:cubicBezTo>
                <a:cubicBezTo>
                  <a:pt x="123002" y="89164"/>
                  <a:pt x="124533" y="93400"/>
                  <a:pt x="124533" y="97993"/>
                </a:cubicBezTo>
                <a:cubicBezTo>
                  <a:pt x="124533" y="109273"/>
                  <a:pt x="115397" y="118409"/>
                  <a:pt x="104118" y="118409"/>
                </a:cubicBezTo>
                <a:cubicBezTo>
                  <a:pt x="103939" y="118409"/>
                  <a:pt x="103786" y="118409"/>
                  <a:pt x="103608" y="118409"/>
                </a:cubicBezTo>
                <a:cubicBezTo>
                  <a:pt x="101796" y="125452"/>
                  <a:pt x="95390" y="130658"/>
                  <a:pt x="87786" y="130658"/>
                </a:cubicBezTo>
                <a:lnTo>
                  <a:pt x="79620" y="130658"/>
                </a:lnTo>
                <a:cubicBezTo>
                  <a:pt x="75103" y="130658"/>
                  <a:pt x="71453" y="127009"/>
                  <a:pt x="71453" y="122492"/>
                </a:cubicBezTo>
                <a:lnTo>
                  <a:pt x="71453" y="8166"/>
                </a:lnTo>
                <a:cubicBezTo>
                  <a:pt x="71453" y="3649"/>
                  <a:pt x="75103" y="0"/>
                  <a:pt x="79620" y="0"/>
                </a:cubicBezTo>
                <a:lnTo>
                  <a:pt x="85744" y="0"/>
                </a:lnTo>
                <a:cubicBezTo>
                  <a:pt x="93630" y="0"/>
                  <a:pt x="100035" y="6405"/>
                  <a:pt x="100035" y="14291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4429264" y="4442363"/>
            <a:ext cx="1020764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Fine-Tuned LLM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004626" y="4769007"/>
            <a:ext cx="3021460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Domain-specific response generation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735144" y="5193645"/>
            <a:ext cx="146990" cy="195987"/>
          </a:xfrm>
          <a:custGeom>
            <a:avLst/>
            <a:gdLst/>
            <a:ahLst/>
            <a:cxnLst/>
            <a:rect l="l" t="t" r="r" b="b"/>
            <a:pathLst>
              <a:path w="146990" h="195987">
                <a:moveTo>
                  <a:pt x="64844" y="192388"/>
                </a:moveTo>
                <a:cubicBezTo>
                  <a:pt x="69629" y="197173"/>
                  <a:pt x="77399" y="197173"/>
                  <a:pt x="82184" y="192388"/>
                </a:cubicBezTo>
                <a:lnTo>
                  <a:pt x="143430" y="131143"/>
                </a:lnTo>
                <a:cubicBezTo>
                  <a:pt x="148215" y="126358"/>
                  <a:pt x="148215" y="118587"/>
                  <a:pt x="143430" y="113802"/>
                </a:cubicBezTo>
                <a:cubicBezTo>
                  <a:pt x="138645" y="109018"/>
                  <a:pt x="130875" y="109018"/>
                  <a:pt x="126090" y="113802"/>
                </a:cubicBezTo>
                <a:lnTo>
                  <a:pt x="85744" y="154148"/>
                </a:lnTo>
                <a:lnTo>
                  <a:pt x="85744" y="12249"/>
                </a:lnTo>
                <a:cubicBezTo>
                  <a:pt x="85744" y="5474"/>
                  <a:pt x="80270" y="0"/>
                  <a:pt x="73495" y="0"/>
                </a:cubicBezTo>
                <a:cubicBezTo>
                  <a:pt x="66720" y="0"/>
                  <a:pt x="61246" y="5474"/>
                  <a:pt x="61246" y="12249"/>
                </a:cubicBezTo>
                <a:lnTo>
                  <a:pt x="61246" y="154148"/>
                </a:lnTo>
                <a:lnTo>
                  <a:pt x="20900" y="113802"/>
                </a:lnTo>
                <a:cubicBezTo>
                  <a:pt x="16115" y="109018"/>
                  <a:pt x="8345" y="109018"/>
                  <a:pt x="3560" y="113802"/>
                </a:cubicBezTo>
                <a:cubicBezTo>
                  <a:pt x="-1225" y="118587"/>
                  <a:pt x="-1225" y="126358"/>
                  <a:pt x="3560" y="131143"/>
                </a:cubicBezTo>
                <a:lnTo>
                  <a:pt x="64806" y="192388"/>
                </a:ln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30" name="Shape 28"/>
          <p:cNvSpPr/>
          <p:nvPr/>
        </p:nvSpPr>
        <p:spPr>
          <a:xfrm>
            <a:off x="522631" y="5487625"/>
            <a:ext cx="6573717" cy="718618"/>
          </a:xfrm>
          <a:custGeom>
            <a:avLst/>
            <a:gdLst/>
            <a:ahLst/>
            <a:cxnLst/>
            <a:rect l="l" t="t" r="r" b="b"/>
            <a:pathLst>
              <a:path w="6573717" h="718618">
                <a:moveTo>
                  <a:pt x="97991" y="0"/>
                </a:moveTo>
                <a:lnTo>
                  <a:pt x="6475727" y="0"/>
                </a:lnTo>
                <a:cubicBezTo>
                  <a:pt x="6529845" y="0"/>
                  <a:pt x="6573717" y="43872"/>
                  <a:pt x="6573717" y="97991"/>
                </a:cubicBezTo>
                <a:lnTo>
                  <a:pt x="6573717" y="620627"/>
                </a:lnTo>
                <a:cubicBezTo>
                  <a:pt x="6573717" y="674746"/>
                  <a:pt x="6529845" y="718618"/>
                  <a:pt x="6475727" y="718618"/>
                </a:cubicBezTo>
                <a:lnTo>
                  <a:pt x="97991" y="718618"/>
                </a:lnTo>
                <a:cubicBezTo>
                  <a:pt x="43908" y="718618"/>
                  <a:pt x="0" y="674709"/>
                  <a:pt x="0" y="620627"/>
                </a:cubicBezTo>
                <a:lnTo>
                  <a:pt x="0" y="97991"/>
                </a:lnTo>
                <a:cubicBezTo>
                  <a:pt x="0" y="43908"/>
                  <a:pt x="43908" y="0"/>
                  <a:pt x="97991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B8B"/>
              </a:gs>
              <a:gs pos="100000">
                <a:srgbClr val="5A7A96"/>
              </a:gs>
            </a:gsLst>
            <a:lin ang="0" scaled="1"/>
          </a:gradFill>
          <a:ln/>
          <a:effectLst>
            <a:outerShdw blurRad="122492" dist="8166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3289" y="5650947"/>
            <a:ext cx="391973" cy="391973"/>
          </a:xfrm>
          <a:custGeom>
            <a:avLst/>
            <a:gdLst/>
            <a:ahLst/>
            <a:cxnLst/>
            <a:rect l="l" t="t" r="r" b="b"/>
            <a:pathLst>
              <a:path w="391973" h="391973">
                <a:moveTo>
                  <a:pt x="97993" y="0"/>
                </a:moveTo>
                <a:lnTo>
                  <a:pt x="293980" y="0"/>
                </a:lnTo>
                <a:cubicBezTo>
                  <a:pt x="348064" y="0"/>
                  <a:pt x="391973" y="43909"/>
                  <a:pt x="391973" y="97993"/>
                </a:cubicBezTo>
                <a:lnTo>
                  <a:pt x="391973" y="293980"/>
                </a:lnTo>
                <a:cubicBezTo>
                  <a:pt x="391973" y="348064"/>
                  <a:pt x="348064" y="391973"/>
                  <a:pt x="293980" y="391973"/>
                </a:cubicBezTo>
                <a:lnTo>
                  <a:pt x="97993" y="391973"/>
                </a:lnTo>
                <a:cubicBezTo>
                  <a:pt x="43909" y="391973"/>
                  <a:pt x="0" y="348064"/>
                  <a:pt x="0" y="293980"/>
                </a:cubicBezTo>
                <a:lnTo>
                  <a:pt x="0" y="97993"/>
                </a:lnTo>
                <a:cubicBezTo>
                  <a:pt x="0" y="43909"/>
                  <a:pt x="43909" y="0"/>
                  <a:pt x="97993" y="0"/>
                </a:cubicBezTo>
                <a:close/>
              </a:path>
            </a:pathLst>
          </a:custGeom>
          <a:solidFill>
            <a:srgbClr val="F1F5F9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77822" y="5765273"/>
            <a:ext cx="142907" cy="163322"/>
          </a:xfrm>
          <a:custGeom>
            <a:avLst/>
            <a:gdLst/>
            <a:ahLst/>
            <a:cxnLst/>
            <a:rect l="l" t="t" r="r" b="b"/>
            <a:pathLst>
              <a:path w="142907" h="163322">
                <a:moveTo>
                  <a:pt x="71453" y="107180"/>
                </a:moveTo>
                <a:cubicBezTo>
                  <a:pt x="95250" y="107180"/>
                  <a:pt x="115601" y="92379"/>
                  <a:pt x="123768" y="71453"/>
                </a:cubicBezTo>
                <a:lnTo>
                  <a:pt x="125044" y="71453"/>
                </a:lnTo>
                <a:cubicBezTo>
                  <a:pt x="129286" y="71453"/>
                  <a:pt x="132699" y="68040"/>
                  <a:pt x="132699" y="63798"/>
                </a:cubicBezTo>
                <a:lnTo>
                  <a:pt x="132699" y="38279"/>
                </a:lnTo>
                <a:cubicBezTo>
                  <a:pt x="132699" y="34036"/>
                  <a:pt x="129286" y="30623"/>
                  <a:pt x="125044" y="30623"/>
                </a:cubicBezTo>
                <a:lnTo>
                  <a:pt x="123768" y="30623"/>
                </a:lnTo>
                <a:cubicBezTo>
                  <a:pt x="115601" y="9697"/>
                  <a:pt x="95250" y="-5104"/>
                  <a:pt x="71453" y="-5104"/>
                </a:cubicBezTo>
                <a:cubicBezTo>
                  <a:pt x="47657" y="-5104"/>
                  <a:pt x="27305" y="9697"/>
                  <a:pt x="19139" y="30623"/>
                </a:cubicBezTo>
                <a:lnTo>
                  <a:pt x="17863" y="30623"/>
                </a:lnTo>
                <a:cubicBezTo>
                  <a:pt x="13621" y="30623"/>
                  <a:pt x="10208" y="34036"/>
                  <a:pt x="10208" y="38279"/>
                </a:cubicBezTo>
                <a:lnTo>
                  <a:pt x="10208" y="63798"/>
                </a:lnTo>
                <a:cubicBezTo>
                  <a:pt x="10208" y="68040"/>
                  <a:pt x="13621" y="71453"/>
                  <a:pt x="17863" y="71453"/>
                </a:cubicBezTo>
                <a:lnTo>
                  <a:pt x="19139" y="71453"/>
                </a:lnTo>
                <a:cubicBezTo>
                  <a:pt x="27305" y="92379"/>
                  <a:pt x="47657" y="107180"/>
                  <a:pt x="71453" y="107180"/>
                </a:cubicBezTo>
                <a:close/>
                <a:moveTo>
                  <a:pt x="66350" y="25519"/>
                </a:moveTo>
                <a:lnTo>
                  <a:pt x="76557" y="25519"/>
                </a:lnTo>
                <a:cubicBezTo>
                  <a:pt x="93464" y="25519"/>
                  <a:pt x="107180" y="39236"/>
                  <a:pt x="107180" y="56142"/>
                </a:cubicBezTo>
                <a:cubicBezTo>
                  <a:pt x="107180" y="73048"/>
                  <a:pt x="93464" y="86765"/>
                  <a:pt x="76557" y="86765"/>
                </a:cubicBezTo>
                <a:lnTo>
                  <a:pt x="66350" y="86765"/>
                </a:lnTo>
                <a:cubicBezTo>
                  <a:pt x="49443" y="86765"/>
                  <a:pt x="35727" y="73048"/>
                  <a:pt x="35727" y="56142"/>
                </a:cubicBezTo>
                <a:cubicBezTo>
                  <a:pt x="35727" y="39236"/>
                  <a:pt x="49443" y="25519"/>
                  <a:pt x="66350" y="25519"/>
                </a:cubicBezTo>
                <a:close/>
                <a:moveTo>
                  <a:pt x="5104" y="154582"/>
                </a:moveTo>
                <a:cubicBezTo>
                  <a:pt x="5104" y="159399"/>
                  <a:pt x="9027" y="163322"/>
                  <a:pt x="13844" y="163322"/>
                </a:cubicBezTo>
                <a:lnTo>
                  <a:pt x="30623" y="163322"/>
                </a:lnTo>
                <a:lnTo>
                  <a:pt x="30623" y="148011"/>
                </a:lnTo>
                <a:cubicBezTo>
                  <a:pt x="30623" y="142365"/>
                  <a:pt x="35184" y="137803"/>
                  <a:pt x="40831" y="137803"/>
                </a:cubicBezTo>
                <a:lnTo>
                  <a:pt x="102076" y="137803"/>
                </a:lnTo>
                <a:cubicBezTo>
                  <a:pt x="107722" y="137803"/>
                  <a:pt x="112284" y="142365"/>
                  <a:pt x="112284" y="148011"/>
                </a:cubicBezTo>
                <a:lnTo>
                  <a:pt x="112284" y="163322"/>
                </a:lnTo>
                <a:lnTo>
                  <a:pt x="129063" y="163322"/>
                </a:lnTo>
                <a:cubicBezTo>
                  <a:pt x="133880" y="163322"/>
                  <a:pt x="137803" y="159399"/>
                  <a:pt x="137803" y="154582"/>
                </a:cubicBezTo>
                <a:cubicBezTo>
                  <a:pt x="137803" y="135506"/>
                  <a:pt x="127627" y="118791"/>
                  <a:pt x="112412" y="109604"/>
                </a:cubicBezTo>
                <a:cubicBezTo>
                  <a:pt x="100800" y="117739"/>
                  <a:pt x="86701" y="122492"/>
                  <a:pt x="71453" y="122492"/>
                </a:cubicBezTo>
                <a:cubicBezTo>
                  <a:pt x="56206" y="122492"/>
                  <a:pt x="42106" y="117739"/>
                  <a:pt x="30495" y="109604"/>
                </a:cubicBezTo>
                <a:cubicBezTo>
                  <a:pt x="15280" y="118791"/>
                  <a:pt x="5104" y="135506"/>
                  <a:pt x="5104" y="154582"/>
                </a:cubicBezTo>
                <a:close/>
                <a:moveTo>
                  <a:pt x="58471" y="45137"/>
                </a:moveTo>
                <a:cubicBezTo>
                  <a:pt x="58184" y="44084"/>
                  <a:pt x="57227" y="43382"/>
                  <a:pt x="56142" y="43382"/>
                </a:cubicBezTo>
                <a:cubicBezTo>
                  <a:pt x="55057" y="43382"/>
                  <a:pt x="54100" y="44084"/>
                  <a:pt x="53813" y="45137"/>
                </a:cubicBezTo>
                <a:lnTo>
                  <a:pt x="51899" y="51899"/>
                </a:lnTo>
                <a:lnTo>
                  <a:pt x="45137" y="53813"/>
                </a:lnTo>
                <a:cubicBezTo>
                  <a:pt x="44084" y="54100"/>
                  <a:pt x="43382" y="55057"/>
                  <a:pt x="43382" y="56142"/>
                </a:cubicBezTo>
                <a:cubicBezTo>
                  <a:pt x="43382" y="57227"/>
                  <a:pt x="44084" y="58184"/>
                  <a:pt x="45137" y="58471"/>
                </a:cubicBezTo>
                <a:lnTo>
                  <a:pt x="51899" y="60385"/>
                </a:lnTo>
                <a:lnTo>
                  <a:pt x="53813" y="67147"/>
                </a:lnTo>
                <a:cubicBezTo>
                  <a:pt x="54100" y="68200"/>
                  <a:pt x="55057" y="68902"/>
                  <a:pt x="56142" y="68902"/>
                </a:cubicBezTo>
                <a:cubicBezTo>
                  <a:pt x="57227" y="68902"/>
                  <a:pt x="58184" y="68200"/>
                  <a:pt x="58471" y="67147"/>
                </a:cubicBezTo>
                <a:lnTo>
                  <a:pt x="60385" y="60385"/>
                </a:lnTo>
                <a:lnTo>
                  <a:pt x="67147" y="58471"/>
                </a:lnTo>
                <a:cubicBezTo>
                  <a:pt x="68200" y="58184"/>
                  <a:pt x="68902" y="57227"/>
                  <a:pt x="68902" y="56142"/>
                </a:cubicBezTo>
                <a:cubicBezTo>
                  <a:pt x="68902" y="55057"/>
                  <a:pt x="68200" y="54100"/>
                  <a:pt x="67147" y="53813"/>
                </a:cubicBezTo>
                <a:lnTo>
                  <a:pt x="60385" y="51899"/>
                </a:lnTo>
                <a:lnTo>
                  <a:pt x="58471" y="45137"/>
                </a:lnTo>
                <a:close/>
                <a:moveTo>
                  <a:pt x="48486" y="155666"/>
                </a:moveTo>
                <a:lnTo>
                  <a:pt x="48486" y="163322"/>
                </a:lnTo>
                <a:lnTo>
                  <a:pt x="63798" y="163322"/>
                </a:lnTo>
                <a:lnTo>
                  <a:pt x="63798" y="155666"/>
                </a:lnTo>
                <a:cubicBezTo>
                  <a:pt x="63798" y="151424"/>
                  <a:pt x="60385" y="148011"/>
                  <a:pt x="56142" y="148011"/>
                </a:cubicBezTo>
                <a:cubicBezTo>
                  <a:pt x="51899" y="148011"/>
                  <a:pt x="48486" y="151424"/>
                  <a:pt x="48486" y="155666"/>
                </a:cubicBezTo>
                <a:close/>
                <a:moveTo>
                  <a:pt x="86765" y="148011"/>
                </a:moveTo>
                <a:cubicBezTo>
                  <a:pt x="82522" y="148011"/>
                  <a:pt x="79109" y="151424"/>
                  <a:pt x="79109" y="155666"/>
                </a:cubicBezTo>
                <a:lnTo>
                  <a:pt x="79109" y="163322"/>
                </a:lnTo>
                <a:lnTo>
                  <a:pt x="94421" y="163322"/>
                </a:lnTo>
                <a:lnTo>
                  <a:pt x="94421" y="155666"/>
                </a:lnTo>
                <a:cubicBezTo>
                  <a:pt x="94421" y="151424"/>
                  <a:pt x="91007" y="148011"/>
                  <a:pt x="86765" y="148011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33" name="Text 31"/>
          <p:cNvSpPr/>
          <p:nvPr/>
        </p:nvSpPr>
        <p:spPr>
          <a:xfrm>
            <a:off x="1175920" y="5618283"/>
            <a:ext cx="5863266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Unity-Based AI Avatar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75920" y="5879598"/>
            <a:ext cx="5855100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3D avatar with real-time lip synchronisation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486706" y="1404571"/>
            <a:ext cx="4385200" cy="3266443"/>
          </a:xfrm>
          <a:custGeom>
            <a:avLst/>
            <a:gdLst/>
            <a:ahLst/>
            <a:cxnLst/>
            <a:rect l="l" t="t" r="r" b="b"/>
            <a:pathLst>
              <a:path w="4385200" h="3266443">
                <a:moveTo>
                  <a:pt x="130658" y="0"/>
                </a:moveTo>
                <a:lnTo>
                  <a:pt x="4254543" y="0"/>
                </a:lnTo>
                <a:cubicBezTo>
                  <a:pt x="4326703" y="0"/>
                  <a:pt x="4385200" y="58497"/>
                  <a:pt x="4385200" y="130658"/>
                </a:cubicBezTo>
                <a:lnTo>
                  <a:pt x="4385200" y="3135786"/>
                </a:lnTo>
                <a:cubicBezTo>
                  <a:pt x="4385200" y="3207946"/>
                  <a:pt x="4326703" y="3266443"/>
                  <a:pt x="4254543" y="3266443"/>
                </a:cubicBezTo>
                <a:lnTo>
                  <a:pt x="130658" y="3266443"/>
                </a:lnTo>
                <a:cubicBezTo>
                  <a:pt x="58497" y="3266443"/>
                  <a:pt x="0" y="3207946"/>
                  <a:pt x="0" y="3135786"/>
                </a:cubicBezTo>
                <a:lnTo>
                  <a:pt x="0" y="130658"/>
                </a:lnTo>
                <a:cubicBezTo>
                  <a:pt x="0" y="58546"/>
                  <a:pt x="58546" y="0"/>
                  <a:pt x="130658" y="0"/>
                </a:cubicBezTo>
                <a:close/>
              </a:path>
            </a:pathLst>
          </a:custGeom>
          <a:gradFill flip="none" rotWithShape="1">
            <a:gsLst>
              <a:gs pos="0">
                <a:srgbClr val="1A3A5C"/>
              </a:gs>
              <a:gs pos="100000">
                <a:srgbClr val="5A7A96"/>
              </a:gs>
            </a:gsLst>
            <a:lin ang="2700000" scaled="1"/>
          </a:gradFill>
          <a:ln/>
          <a:effectLst>
            <a:outerShdw blurRad="204153" dist="16332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707191" y="1633222"/>
            <a:ext cx="195987" cy="195987"/>
          </a:xfrm>
          <a:custGeom>
            <a:avLst/>
            <a:gdLst/>
            <a:ahLst/>
            <a:cxnLst/>
            <a:rect l="l" t="t" r="r" b="b"/>
            <a:pathLst>
              <a:path w="195987" h="195987">
                <a:moveTo>
                  <a:pt x="108711" y="-498"/>
                </a:moveTo>
                <a:cubicBezTo>
                  <a:pt x="102089" y="-4325"/>
                  <a:pt x="93897" y="-4325"/>
                  <a:pt x="87275" y="-498"/>
                </a:cubicBezTo>
                <a:lnTo>
                  <a:pt x="55045" y="18106"/>
                </a:lnTo>
                <a:cubicBezTo>
                  <a:pt x="48422" y="21934"/>
                  <a:pt x="44327" y="29015"/>
                  <a:pt x="44327" y="36671"/>
                </a:cubicBezTo>
                <a:lnTo>
                  <a:pt x="44327" y="75677"/>
                </a:lnTo>
                <a:lnTo>
                  <a:pt x="10527" y="95199"/>
                </a:lnTo>
                <a:cubicBezTo>
                  <a:pt x="3904" y="99027"/>
                  <a:pt x="-191" y="106108"/>
                  <a:pt x="-191" y="113764"/>
                </a:cubicBezTo>
                <a:lnTo>
                  <a:pt x="-191" y="151009"/>
                </a:lnTo>
                <a:cubicBezTo>
                  <a:pt x="-191" y="158665"/>
                  <a:pt x="3904" y="165746"/>
                  <a:pt x="10527" y="169574"/>
                </a:cubicBezTo>
                <a:lnTo>
                  <a:pt x="42796" y="188178"/>
                </a:lnTo>
                <a:cubicBezTo>
                  <a:pt x="49418" y="192006"/>
                  <a:pt x="57609" y="192006"/>
                  <a:pt x="64232" y="188178"/>
                </a:cubicBezTo>
                <a:lnTo>
                  <a:pt x="98032" y="168656"/>
                </a:lnTo>
                <a:lnTo>
                  <a:pt x="131832" y="188178"/>
                </a:lnTo>
                <a:cubicBezTo>
                  <a:pt x="138454" y="192006"/>
                  <a:pt x="146645" y="192006"/>
                  <a:pt x="153268" y="188178"/>
                </a:cubicBezTo>
                <a:lnTo>
                  <a:pt x="185460" y="169574"/>
                </a:lnTo>
                <a:cubicBezTo>
                  <a:pt x="192082" y="165746"/>
                  <a:pt x="196178" y="158665"/>
                  <a:pt x="196178" y="151009"/>
                </a:cubicBezTo>
                <a:lnTo>
                  <a:pt x="196178" y="113764"/>
                </a:lnTo>
                <a:cubicBezTo>
                  <a:pt x="196178" y="106108"/>
                  <a:pt x="192082" y="99027"/>
                  <a:pt x="185460" y="95199"/>
                </a:cubicBezTo>
                <a:lnTo>
                  <a:pt x="151660" y="75677"/>
                </a:lnTo>
                <a:lnTo>
                  <a:pt x="151660" y="36671"/>
                </a:lnTo>
                <a:cubicBezTo>
                  <a:pt x="151660" y="29015"/>
                  <a:pt x="147564" y="21934"/>
                  <a:pt x="140942" y="18106"/>
                </a:cubicBezTo>
                <a:lnTo>
                  <a:pt x="108711" y="-498"/>
                </a:lnTo>
                <a:close/>
                <a:moveTo>
                  <a:pt x="88806" y="112003"/>
                </a:moveTo>
                <a:lnTo>
                  <a:pt x="88806" y="152770"/>
                </a:lnTo>
                <a:lnTo>
                  <a:pt x="55006" y="172292"/>
                </a:lnTo>
                <a:cubicBezTo>
                  <a:pt x="54547" y="172560"/>
                  <a:pt x="54011" y="172713"/>
                  <a:pt x="53475" y="172713"/>
                </a:cubicBezTo>
                <a:lnTo>
                  <a:pt x="53475" y="132406"/>
                </a:lnTo>
                <a:lnTo>
                  <a:pt x="88806" y="112003"/>
                </a:lnTo>
                <a:close/>
                <a:moveTo>
                  <a:pt x="177383" y="112233"/>
                </a:moveTo>
                <a:cubicBezTo>
                  <a:pt x="177651" y="112692"/>
                  <a:pt x="177804" y="113228"/>
                  <a:pt x="177804" y="113764"/>
                </a:cubicBezTo>
                <a:lnTo>
                  <a:pt x="177804" y="151009"/>
                </a:lnTo>
                <a:cubicBezTo>
                  <a:pt x="177804" y="152119"/>
                  <a:pt x="177230" y="153115"/>
                  <a:pt x="176273" y="153650"/>
                </a:cubicBezTo>
                <a:lnTo>
                  <a:pt x="144004" y="172254"/>
                </a:lnTo>
                <a:cubicBezTo>
                  <a:pt x="143545" y="172522"/>
                  <a:pt x="143009" y="172675"/>
                  <a:pt x="142473" y="172675"/>
                </a:cubicBezTo>
                <a:lnTo>
                  <a:pt x="142473" y="132368"/>
                </a:lnTo>
                <a:lnTo>
                  <a:pt x="177383" y="112233"/>
                </a:lnTo>
                <a:close/>
                <a:moveTo>
                  <a:pt x="133324" y="36671"/>
                </a:moveTo>
                <a:lnTo>
                  <a:pt x="133324" y="75677"/>
                </a:lnTo>
                <a:lnTo>
                  <a:pt x="97993" y="96079"/>
                </a:lnTo>
                <a:lnTo>
                  <a:pt x="97993" y="55313"/>
                </a:lnTo>
                <a:lnTo>
                  <a:pt x="132903" y="35178"/>
                </a:lnTo>
                <a:cubicBezTo>
                  <a:pt x="133171" y="35637"/>
                  <a:pt x="133324" y="36173"/>
                  <a:pt x="133324" y="36709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37" name="Text 35"/>
          <p:cNvSpPr/>
          <p:nvPr/>
        </p:nvSpPr>
        <p:spPr>
          <a:xfrm>
            <a:off x="7927675" y="1600557"/>
            <a:ext cx="3846237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3" b="1" dirty="0">
                <a:solidFill>
                  <a:srgbClr val="F1F5F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685414" y="2027917"/>
            <a:ext cx="3982339" cy="724062"/>
          </a:xfrm>
          <a:custGeom>
            <a:avLst/>
            <a:gdLst/>
            <a:ahLst/>
            <a:cxnLst/>
            <a:rect l="l" t="t" r="r" b="b"/>
            <a:pathLst>
              <a:path w="3982339" h="724062">
                <a:moveTo>
                  <a:pt x="97995" y="0"/>
                </a:moveTo>
                <a:lnTo>
                  <a:pt x="3884344" y="0"/>
                </a:lnTo>
                <a:cubicBezTo>
                  <a:pt x="3938465" y="0"/>
                  <a:pt x="3982339" y="43874"/>
                  <a:pt x="3982339" y="97995"/>
                </a:cubicBezTo>
                <a:lnTo>
                  <a:pt x="3982339" y="626067"/>
                </a:lnTo>
                <a:cubicBezTo>
                  <a:pt x="3982339" y="680188"/>
                  <a:pt x="3938465" y="724062"/>
                  <a:pt x="3884344" y="724062"/>
                </a:cubicBezTo>
                <a:lnTo>
                  <a:pt x="97995" y="724062"/>
                </a:lnTo>
                <a:cubicBezTo>
                  <a:pt x="43874" y="724062"/>
                  <a:pt x="0" y="680188"/>
                  <a:pt x="0" y="626067"/>
                </a:cubicBezTo>
                <a:lnTo>
                  <a:pt x="0" y="97995"/>
                </a:lnTo>
                <a:cubicBezTo>
                  <a:pt x="0" y="43910"/>
                  <a:pt x="43910" y="0"/>
                  <a:pt x="97995" y="0"/>
                </a:cubicBezTo>
                <a:close/>
              </a:path>
            </a:pathLst>
          </a:custGeom>
          <a:solidFill>
            <a:srgbClr val="F1F5F9">
              <a:alpha val="10196"/>
            </a:srgbClr>
          </a:solidFill>
          <a:ln w="8467">
            <a:solidFill>
              <a:srgbClr val="F1F5F9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39209" y="2185794"/>
            <a:ext cx="146990" cy="146990"/>
          </a:xfrm>
          <a:custGeom>
            <a:avLst/>
            <a:gdLst/>
            <a:ahLst/>
            <a:cxnLst/>
            <a:rect l="l" t="t" r="r" b="b"/>
            <a:pathLst>
              <a:path w="146990" h="146990">
                <a:moveTo>
                  <a:pt x="73495" y="146990"/>
                </a:moveTo>
                <a:cubicBezTo>
                  <a:pt x="114058" y="146990"/>
                  <a:pt x="146990" y="114058"/>
                  <a:pt x="146990" y="73495"/>
                </a:cubicBezTo>
                <a:cubicBezTo>
                  <a:pt x="146990" y="32932"/>
                  <a:pt x="114058" y="0"/>
                  <a:pt x="73495" y="0"/>
                </a:cubicBezTo>
                <a:cubicBezTo>
                  <a:pt x="32932" y="0"/>
                  <a:pt x="0" y="32932"/>
                  <a:pt x="0" y="73495"/>
                </a:cubicBezTo>
                <a:cubicBezTo>
                  <a:pt x="0" y="114058"/>
                  <a:pt x="32932" y="146990"/>
                  <a:pt x="73495" y="146990"/>
                </a:cubicBezTo>
                <a:close/>
                <a:moveTo>
                  <a:pt x="97725" y="61064"/>
                </a:moveTo>
                <a:lnTo>
                  <a:pt x="74758" y="97811"/>
                </a:lnTo>
                <a:cubicBezTo>
                  <a:pt x="73552" y="99735"/>
                  <a:pt x="71485" y="100941"/>
                  <a:pt x="69217" y="101056"/>
                </a:cubicBezTo>
                <a:cubicBezTo>
                  <a:pt x="66949" y="101170"/>
                  <a:pt x="64767" y="100137"/>
                  <a:pt x="63418" y="98300"/>
                </a:cubicBezTo>
                <a:lnTo>
                  <a:pt x="49638" y="79926"/>
                </a:lnTo>
                <a:cubicBezTo>
                  <a:pt x="47341" y="76883"/>
                  <a:pt x="47973" y="72576"/>
                  <a:pt x="51016" y="70280"/>
                </a:cubicBezTo>
                <a:cubicBezTo>
                  <a:pt x="54059" y="67983"/>
                  <a:pt x="58365" y="68614"/>
                  <a:pt x="60662" y="71658"/>
                </a:cubicBezTo>
                <a:lnTo>
                  <a:pt x="68413" y="81993"/>
                </a:lnTo>
                <a:lnTo>
                  <a:pt x="86041" y="53772"/>
                </a:lnTo>
                <a:cubicBezTo>
                  <a:pt x="88050" y="50557"/>
                  <a:pt x="92299" y="49552"/>
                  <a:pt x="95543" y="51590"/>
                </a:cubicBezTo>
                <a:cubicBezTo>
                  <a:pt x="98788" y="53628"/>
                  <a:pt x="99764" y="57849"/>
                  <a:pt x="97725" y="61093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40" name="Text 38"/>
          <p:cNvSpPr/>
          <p:nvPr/>
        </p:nvSpPr>
        <p:spPr>
          <a:xfrm>
            <a:off x="8100524" y="2161295"/>
            <a:ext cx="955435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Modular Design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080109" y="2422611"/>
            <a:ext cx="3519593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component can be updated independently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685414" y="2888078"/>
            <a:ext cx="3982339" cy="724062"/>
          </a:xfrm>
          <a:custGeom>
            <a:avLst/>
            <a:gdLst/>
            <a:ahLst/>
            <a:cxnLst/>
            <a:rect l="l" t="t" r="r" b="b"/>
            <a:pathLst>
              <a:path w="3982339" h="724062">
                <a:moveTo>
                  <a:pt x="97995" y="0"/>
                </a:moveTo>
                <a:lnTo>
                  <a:pt x="3884344" y="0"/>
                </a:lnTo>
                <a:cubicBezTo>
                  <a:pt x="3938465" y="0"/>
                  <a:pt x="3982339" y="43874"/>
                  <a:pt x="3982339" y="97995"/>
                </a:cubicBezTo>
                <a:lnTo>
                  <a:pt x="3982339" y="626067"/>
                </a:lnTo>
                <a:cubicBezTo>
                  <a:pt x="3982339" y="680188"/>
                  <a:pt x="3938465" y="724062"/>
                  <a:pt x="3884344" y="724062"/>
                </a:cubicBezTo>
                <a:lnTo>
                  <a:pt x="97995" y="724062"/>
                </a:lnTo>
                <a:cubicBezTo>
                  <a:pt x="43874" y="724062"/>
                  <a:pt x="0" y="680188"/>
                  <a:pt x="0" y="626067"/>
                </a:cubicBezTo>
                <a:lnTo>
                  <a:pt x="0" y="97995"/>
                </a:lnTo>
                <a:cubicBezTo>
                  <a:pt x="0" y="43910"/>
                  <a:pt x="43910" y="0"/>
                  <a:pt x="97995" y="0"/>
                </a:cubicBezTo>
                <a:close/>
              </a:path>
            </a:pathLst>
          </a:custGeom>
          <a:solidFill>
            <a:srgbClr val="F1F5F9">
              <a:alpha val="10196"/>
            </a:srgbClr>
          </a:solidFill>
          <a:ln w="8467">
            <a:solidFill>
              <a:srgbClr val="F1F5F9">
                <a:alpha val="2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39209" y="3045958"/>
            <a:ext cx="146990" cy="146990"/>
          </a:xfrm>
          <a:custGeom>
            <a:avLst/>
            <a:gdLst/>
            <a:ahLst/>
            <a:cxnLst/>
            <a:rect l="l" t="t" r="r" b="b"/>
            <a:pathLst>
              <a:path w="146990" h="146990">
                <a:moveTo>
                  <a:pt x="73495" y="146990"/>
                </a:moveTo>
                <a:cubicBezTo>
                  <a:pt x="114058" y="146990"/>
                  <a:pt x="146990" y="114058"/>
                  <a:pt x="146990" y="73495"/>
                </a:cubicBezTo>
                <a:cubicBezTo>
                  <a:pt x="146990" y="32932"/>
                  <a:pt x="114058" y="0"/>
                  <a:pt x="73495" y="0"/>
                </a:cubicBezTo>
                <a:cubicBezTo>
                  <a:pt x="32932" y="0"/>
                  <a:pt x="0" y="32932"/>
                  <a:pt x="0" y="73495"/>
                </a:cubicBezTo>
                <a:cubicBezTo>
                  <a:pt x="0" y="114058"/>
                  <a:pt x="32932" y="146990"/>
                  <a:pt x="73495" y="146990"/>
                </a:cubicBezTo>
                <a:close/>
                <a:moveTo>
                  <a:pt x="97725" y="61064"/>
                </a:moveTo>
                <a:lnTo>
                  <a:pt x="74758" y="97811"/>
                </a:lnTo>
                <a:cubicBezTo>
                  <a:pt x="73552" y="99735"/>
                  <a:pt x="71485" y="100941"/>
                  <a:pt x="69217" y="101056"/>
                </a:cubicBezTo>
                <a:cubicBezTo>
                  <a:pt x="66949" y="101170"/>
                  <a:pt x="64767" y="100137"/>
                  <a:pt x="63418" y="98300"/>
                </a:cubicBezTo>
                <a:lnTo>
                  <a:pt x="49638" y="79926"/>
                </a:lnTo>
                <a:cubicBezTo>
                  <a:pt x="47341" y="76883"/>
                  <a:pt x="47973" y="72576"/>
                  <a:pt x="51016" y="70280"/>
                </a:cubicBezTo>
                <a:cubicBezTo>
                  <a:pt x="54059" y="67983"/>
                  <a:pt x="58365" y="68614"/>
                  <a:pt x="60662" y="71658"/>
                </a:cubicBezTo>
                <a:lnTo>
                  <a:pt x="68413" y="81993"/>
                </a:lnTo>
                <a:lnTo>
                  <a:pt x="86041" y="53772"/>
                </a:lnTo>
                <a:cubicBezTo>
                  <a:pt x="88050" y="50557"/>
                  <a:pt x="92299" y="49552"/>
                  <a:pt x="95543" y="51590"/>
                </a:cubicBezTo>
                <a:cubicBezTo>
                  <a:pt x="98788" y="53628"/>
                  <a:pt x="99764" y="57849"/>
                  <a:pt x="97725" y="61093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44" name="Text 42"/>
          <p:cNvSpPr/>
          <p:nvPr/>
        </p:nvSpPr>
        <p:spPr>
          <a:xfrm>
            <a:off x="8100524" y="3021460"/>
            <a:ext cx="1265747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Architecture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080109" y="3282776"/>
            <a:ext cx="3519593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Supports multiple concurrent users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685414" y="3748246"/>
            <a:ext cx="3982339" cy="724062"/>
          </a:xfrm>
          <a:custGeom>
            <a:avLst/>
            <a:gdLst/>
            <a:ahLst/>
            <a:cxnLst/>
            <a:rect l="l" t="t" r="r" b="b"/>
            <a:pathLst>
              <a:path w="3982339" h="724062">
                <a:moveTo>
                  <a:pt x="97995" y="0"/>
                </a:moveTo>
                <a:lnTo>
                  <a:pt x="3884344" y="0"/>
                </a:lnTo>
                <a:cubicBezTo>
                  <a:pt x="3938465" y="0"/>
                  <a:pt x="3982339" y="43874"/>
                  <a:pt x="3982339" y="97995"/>
                </a:cubicBezTo>
                <a:lnTo>
                  <a:pt x="3982339" y="626067"/>
                </a:lnTo>
                <a:cubicBezTo>
                  <a:pt x="3982339" y="680188"/>
                  <a:pt x="3938465" y="724062"/>
                  <a:pt x="3884344" y="724062"/>
                </a:cubicBezTo>
                <a:lnTo>
                  <a:pt x="97995" y="724062"/>
                </a:lnTo>
                <a:cubicBezTo>
                  <a:pt x="43874" y="724062"/>
                  <a:pt x="0" y="680188"/>
                  <a:pt x="0" y="626067"/>
                </a:cubicBezTo>
                <a:lnTo>
                  <a:pt x="0" y="97995"/>
                </a:lnTo>
                <a:cubicBezTo>
                  <a:pt x="0" y="43910"/>
                  <a:pt x="43910" y="0"/>
                  <a:pt x="97995" y="0"/>
                </a:cubicBezTo>
                <a:close/>
              </a:path>
            </a:pathLst>
          </a:custGeom>
          <a:solidFill>
            <a:srgbClr val="F1F5F9">
              <a:alpha val="10196"/>
            </a:srgbClr>
          </a:solidFill>
          <a:ln w="8467">
            <a:solidFill>
              <a:srgbClr val="F1F5F9">
                <a:alpha val="2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839209" y="3906119"/>
            <a:ext cx="146990" cy="146990"/>
          </a:xfrm>
          <a:custGeom>
            <a:avLst/>
            <a:gdLst/>
            <a:ahLst/>
            <a:cxnLst/>
            <a:rect l="l" t="t" r="r" b="b"/>
            <a:pathLst>
              <a:path w="146990" h="146990">
                <a:moveTo>
                  <a:pt x="73495" y="146990"/>
                </a:moveTo>
                <a:cubicBezTo>
                  <a:pt x="114058" y="146990"/>
                  <a:pt x="146990" y="114058"/>
                  <a:pt x="146990" y="73495"/>
                </a:cubicBezTo>
                <a:cubicBezTo>
                  <a:pt x="146990" y="32932"/>
                  <a:pt x="114058" y="0"/>
                  <a:pt x="73495" y="0"/>
                </a:cubicBezTo>
                <a:cubicBezTo>
                  <a:pt x="32932" y="0"/>
                  <a:pt x="0" y="32932"/>
                  <a:pt x="0" y="73495"/>
                </a:cubicBezTo>
                <a:cubicBezTo>
                  <a:pt x="0" y="114058"/>
                  <a:pt x="32932" y="146990"/>
                  <a:pt x="73495" y="146990"/>
                </a:cubicBezTo>
                <a:close/>
                <a:moveTo>
                  <a:pt x="97725" y="61064"/>
                </a:moveTo>
                <a:lnTo>
                  <a:pt x="74758" y="97811"/>
                </a:lnTo>
                <a:cubicBezTo>
                  <a:pt x="73552" y="99735"/>
                  <a:pt x="71485" y="100941"/>
                  <a:pt x="69217" y="101056"/>
                </a:cubicBezTo>
                <a:cubicBezTo>
                  <a:pt x="66949" y="101170"/>
                  <a:pt x="64767" y="100137"/>
                  <a:pt x="63418" y="98300"/>
                </a:cubicBezTo>
                <a:lnTo>
                  <a:pt x="49638" y="79926"/>
                </a:lnTo>
                <a:cubicBezTo>
                  <a:pt x="47341" y="76883"/>
                  <a:pt x="47973" y="72576"/>
                  <a:pt x="51016" y="70280"/>
                </a:cubicBezTo>
                <a:cubicBezTo>
                  <a:pt x="54059" y="67983"/>
                  <a:pt x="58365" y="68614"/>
                  <a:pt x="60662" y="71658"/>
                </a:cubicBezTo>
                <a:lnTo>
                  <a:pt x="68413" y="81993"/>
                </a:lnTo>
                <a:lnTo>
                  <a:pt x="86041" y="53772"/>
                </a:lnTo>
                <a:cubicBezTo>
                  <a:pt x="88050" y="50557"/>
                  <a:pt x="92299" y="49552"/>
                  <a:pt x="95543" y="51590"/>
                </a:cubicBezTo>
                <a:cubicBezTo>
                  <a:pt x="98788" y="53628"/>
                  <a:pt x="99764" y="57849"/>
                  <a:pt x="97725" y="61093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48" name="Text 46"/>
          <p:cNvSpPr/>
          <p:nvPr/>
        </p:nvSpPr>
        <p:spPr>
          <a:xfrm>
            <a:off x="8100524" y="3881621"/>
            <a:ext cx="694119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API-Driven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080109" y="4142936"/>
            <a:ext cx="3519593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Easy integration with other systems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503038" y="4801672"/>
            <a:ext cx="4368868" cy="963601"/>
          </a:xfrm>
          <a:custGeom>
            <a:avLst/>
            <a:gdLst/>
            <a:ahLst/>
            <a:cxnLst/>
            <a:rect l="l" t="t" r="r" b="b"/>
            <a:pathLst>
              <a:path w="4368868" h="963601">
                <a:moveTo>
                  <a:pt x="32664" y="0"/>
                </a:moveTo>
                <a:lnTo>
                  <a:pt x="4270879" y="0"/>
                </a:lnTo>
                <a:cubicBezTo>
                  <a:pt x="4324997" y="0"/>
                  <a:pt x="4368868" y="43871"/>
                  <a:pt x="4368868" y="97989"/>
                </a:cubicBezTo>
                <a:lnTo>
                  <a:pt x="4368868" y="865612"/>
                </a:lnTo>
                <a:cubicBezTo>
                  <a:pt x="4368868" y="919730"/>
                  <a:pt x="4324997" y="963601"/>
                  <a:pt x="4270879" y="963601"/>
                </a:cubicBezTo>
                <a:lnTo>
                  <a:pt x="32664" y="963601"/>
                </a:lnTo>
                <a:cubicBezTo>
                  <a:pt x="14624" y="963601"/>
                  <a:pt x="0" y="948976"/>
                  <a:pt x="0" y="930936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3D8B8B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503038" y="4801672"/>
            <a:ext cx="32664" cy="963601"/>
          </a:xfrm>
          <a:custGeom>
            <a:avLst/>
            <a:gdLst/>
            <a:ahLst/>
            <a:cxnLst/>
            <a:rect l="l" t="t" r="r" b="b"/>
            <a:pathLst>
              <a:path w="32664" h="963601">
                <a:moveTo>
                  <a:pt x="32664" y="0"/>
                </a:moveTo>
                <a:lnTo>
                  <a:pt x="32664" y="0"/>
                </a:lnTo>
                <a:lnTo>
                  <a:pt x="32664" y="963601"/>
                </a:lnTo>
                <a:lnTo>
                  <a:pt x="32664" y="963601"/>
                </a:lnTo>
                <a:cubicBezTo>
                  <a:pt x="14624" y="963601"/>
                  <a:pt x="0" y="948976"/>
                  <a:pt x="0" y="930936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52" name="Shape 50"/>
          <p:cNvSpPr/>
          <p:nvPr/>
        </p:nvSpPr>
        <p:spPr>
          <a:xfrm>
            <a:off x="7699024" y="4997658"/>
            <a:ext cx="130658" cy="130658"/>
          </a:xfrm>
          <a:custGeom>
            <a:avLst/>
            <a:gdLst/>
            <a:ahLst/>
            <a:cxnLst/>
            <a:rect l="l" t="t" r="r" b="b"/>
            <a:pathLst>
              <a:path w="130658" h="130658">
                <a:moveTo>
                  <a:pt x="65329" y="130658"/>
                </a:moveTo>
                <a:cubicBezTo>
                  <a:pt x="101385" y="130658"/>
                  <a:pt x="130658" y="101385"/>
                  <a:pt x="130658" y="65329"/>
                </a:cubicBezTo>
                <a:cubicBezTo>
                  <a:pt x="130658" y="29273"/>
                  <a:pt x="101385" y="0"/>
                  <a:pt x="65329" y="0"/>
                </a:cubicBezTo>
                <a:cubicBezTo>
                  <a:pt x="29273" y="0"/>
                  <a:pt x="0" y="29273"/>
                  <a:pt x="0" y="65329"/>
                </a:cubicBezTo>
                <a:cubicBezTo>
                  <a:pt x="0" y="101385"/>
                  <a:pt x="29273" y="130658"/>
                  <a:pt x="65329" y="130658"/>
                </a:cubicBezTo>
                <a:close/>
                <a:moveTo>
                  <a:pt x="57163" y="40831"/>
                </a:moveTo>
                <a:cubicBezTo>
                  <a:pt x="57163" y="36324"/>
                  <a:pt x="60822" y="32664"/>
                  <a:pt x="65329" y="32664"/>
                </a:cubicBezTo>
                <a:cubicBezTo>
                  <a:pt x="69836" y="32664"/>
                  <a:pt x="73495" y="36324"/>
                  <a:pt x="73495" y="40831"/>
                </a:cubicBezTo>
                <a:cubicBezTo>
                  <a:pt x="73495" y="45338"/>
                  <a:pt x="69836" y="48997"/>
                  <a:pt x="65329" y="48997"/>
                </a:cubicBezTo>
                <a:cubicBezTo>
                  <a:pt x="60822" y="48997"/>
                  <a:pt x="57163" y="45338"/>
                  <a:pt x="57163" y="40831"/>
                </a:cubicBezTo>
                <a:close/>
                <a:moveTo>
                  <a:pt x="55121" y="57163"/>
                </a:moveTo>
                <a:lnTo>
                  <a:pt x="67370" y="57163"/>
                </a:lnTo>
                <a:cubicBezTo>
                  <a:pt x="70764" y="57163"/>
                  <a:pt x="73495" y="59893"/>
                  <a:pt x="73495" y="63287"/>
                </a:cubicBezTo>
                <a:lnTo>
                  <a:pt x="73495" y="85744"/>
                </a:lnTo>
                <a:lnTo>
                  <a:pt x="75537" y="85744"/>
                </a:lnTo>
                <a:cubicBezTo>
                  <a:pt x="78931" y="85744"/>
                  <a:pt x="81661" y="88475"/>
                  <a:pt x="81661" y="91869"/>
                </a:cubicBezTo>
                <a:cubicBezTo>
                  <a:pt x="81661" y="95263"/>
                  <a:pt x="78931" y="97993"/>
                  <a:pt x="75537" y="97993"/>
                </a:cubicBezTo>
                <a:lnTo>
                  <a:pt x="55121" y="97993"/>
                </a:lnTo>
                <a:cubicBezTo>
                  <a:pt x="51727" y="97993"/>
                  <a:pt x="48997" y="95263"/>
                  <a:pt x="48997" y="91869"/>
                </a:cubicBezTo>
                <a:cubicBezTo>
                  <a:pt x="48997" y="88475"/>
                  <a:pt x="51727" y="85744"/>
                  <a:pt x="55121" y="85744"/>
                </a:cubicBezTo>
                <a:lnTo>
                  <a:pt x="61246" y="85744"/>
                </a:lnTo>
                <a:lnTo>
                  <a:pt x="61246" y="69412"/>
                </a:lnTo>
                <a:lnTo>
                  <a:pt x="55121" y="69412"/>
                </a:lnTo>
                <a:cubicBezTo>
                  <a:pt x="51727" y="69412"/>
                  <a:pt x="48997" y="66681"/>
                  <a:pt x="48997" y="63287"/>
                </a:cubicBezTo>
                <a:cubicBezTo>
                  <a:pt x="48997" y="59893"/>
                  <a:pt x="51727" y="57163"/>
                  <a:pt x="55121" y="57163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53" name="Text 51"/>
          <p:cNvSpPr/>
          <p:nvPr/>
        </p:nvSpPr>
        <p:spPr>
          <a:xfrm>
            <a:off x="7888021" y="4964994"/>
            <a:ext cx="3885892" cy="636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9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Philosophy:</a:t>
            </a:r>
            <a:r>
              <a:rPr lang="en-US" sz="1029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modular architecture ensures that each component can be developed, tested, and deployed independently, reducing complexity and enabling iterative improvements.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8062" y="358062"/>
            <a:ext cx="11538537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kern="0" spc="99" dirty="0">
                <a:solidFill>
                  <a:srgbClr val="3D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/ RAG Pipeline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8062" y="644511"/>
            <a:ext cx="11690714" cy="42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83" b="1" dirty="0">
                <a:solidFill>
                  <a:srgbClr val="1A3A5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RAG Pipeline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8062" y="1145797"/>
            <a:ext cx="11565392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Ensuring Factual Accuracy Through Structured Processing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8062" y="1539665"/>
            <a:ext cx="11475877" cy="1826115"/>
          </a:xfrm>
          <a:custGeom>
            <a:avLst/>
            <a:gdLst/>
            <a:ahLst/>
            <a:cxnLst/>
            <a:rect l="l" t="t" r="r" b="b"/>
            <a:pathLst>
              <a:path w="11475877" h="1826115">
                <a:moveTo>
                  <a:pt x="143222" y="0"/>
                </a:moveTo>
                <a:lnTo>
                  <a:pt x="11332654" y="0"/>
                </a:lnTo>
                <a:cubicBezTo>
                  <a:pt x="11411754" y="0"/>
                  <a:pt x="11475877" y="64123"/>
                  <a:pt x="11475877" y="143222"/>
                </a:cubicBezTo>
                <a:lnTo>
                  <a:pt x="11475877" y="1682892"/>
                </a:lnTo>
                <a:cubicBezTo>
                  <a:pt x="11475877" y="1761992"/>
                  <a:pt x="11411754" y="1826115"/>
                  <a:pt x="11332654" y="1826115"/>
                </a:cubicBezTo>
                <a:lnTo>
                  <a:pt x="143222" y="1826115"/>
                </a:lnTo>
                <a:cubicBezTo>
                  <a:pt x="64123" y="1826115"/>
                  <a:pt x="0" y="1761992"/>
                  <a:pt x="0" y="1682892"/>
                </a:cubicBezTo>
                <a:lnTo>
                  <a:pt x="0" y="143222"/>
                </a:lnTo>
                <a:cubicBezTo>
                  <a:pt x="0" y="64123"/>
                  <a:pt x="64123" y="0"/>
                  <a:pt x="14322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23789" dist="17903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370" y="1754502"/>
            <a:ext cx="572899" cy="572899"/>
          </a:xfrm>
          <a:custGeom>
            <a:avLst/>
            <a:gdLst/>
            <a:ahLst/>
            <a:cxnLst/>
            <a:rect l="l" t="t" r="r" b="b"/>
            <a:pathLst>
              <a:path w="572899" h="572899">
                <a:moveTo>
                  <a:pt x="143225" y="0"/>
                </a:moveTo>
                <a:lnTo>
                  <a:pt x="429674" y="0"/>
                </a:lnTo>
                <a:cubicBezTo>
                  <a:pt x="508775" y="0"/>
                  <a:pt x="572899" y="64124"/>
                  <a:pt x="572899" y="143225"/>
                </a:cubicBezTo>
                <a:lnTo>
                  <a:pt x="572899" y="429674"/>
                </a:lnTo>
                <a:cubicBezTo>
                  <a:pt x="572899" y="508775"/>
                  <a:pt x="508775" y="572899"/>
                  <a:pt x="429674" y="572899"/>
                </a:cubicBezTo>
                <a:lnTo>
                  <a:pt x="143225" y="572899"/>
                </a:lnTo>
                <a:cubicBezTo>
                  <a:pt x="64124" y="572899"/>
                  <a:pt x="0" y="508775"/>
                  <a:pt x="0" y="429674"/>
                </a:cubicBezTo>
                <a:lnTo>
                  <a:pt x="0" y="143225"/>
                </a:lnTo>
                <a:cubicBezTo>
                  <a:pt x="0" y="64124"/>
                  <a:pt x="64124" y="0"/>
                  <a:pt x="143225" y="0"/>
                </a:cubicBezTo>
                <a:close/>
              </a:path>
            </a:pathLst>
          </a:custGeom>
          <a:solidFill>
            <a:srgbClr val="1A3A5C"/>
          </a:solidFill>
          <a:ln/>
          <a:effectLst>
            <a:outerShdw blurRad="134273" dist="8951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84401" y="1933533"/>
            <a:ext cx="214837" cy="214837"/>
          </a:xfrm>
          <a:custGeom>
            <a:avLst/>
            <a:gdLst/>
            <a:ahLst/>
            <a:cxnLst/>
            <a:rect l="l" t="t" r="r" b="b"/>
            <a:pathLst>
              <a:path w="214837" h="214837">
                <a:moveTo>
                  <a:pt x="107419" y="214837"/>
                </a:moveTo>
                <a:cubicBezTo>
                  <a:pt x="166704" y="214837"/>
                  <a:pt x="214837" y="166704"/>
                  <a:pt x="214837" y="107419"/>
                </a:cubicBezTo>
                <a:cubicBezTo>
                  <a:pt x="214837" y="48133"/>
                  <a:pt x="166704" y="0"/>
                  <a:pt x="107419" y="0"/>
                </a:cubicBezTo>
                <a:cubicBezTo>
                  <a:pt x="48133" y="0"/>
                  <a:pt x="0" y="48133"/>
                  <a:pt x="0" y="107419"/>
                </a:cubicBezTo>
                <a:cubicBezTo>
                  <a:pt x="0" y="166704"/>
                  <a:pt x="48133" y="214837"/>
                  <a:pt x="107419" y="214837"/>
                </a:cubicBezTo>
                <a:close/>
                <a:moveTo>
                  <a:pt x="107419" y="73850"/>
                </a:moveTo>
                <a:cubicBezTo>
                  <a:pt x="99992" y="73850"/>
                  <a:pt x="93991" y="79851"/>
                  <a:pt x="93991" y="87278"/>
                </a:cubicBezTo>
                <a:cubicBezTo>
                  <a:pt x="93991" y="92858"/>
                  <a:pt x="89501" y="97348"/>
                  <a:pt x="83921" y="97348"/>
                </a:cubicBezTo>
                <a:cubicBezTo>
                  <a:pt x="78340" y="97348"/>
                  <a:pt x="73850" y="92858"/>
                  <a:pt x="73850" y="87278"/>
                </a:cubicBezTo>
                <a:cubicBezTo>
                  <a:pt x="73850" y="68731"/>
                  <a:pt x="88872" y="53709"/>
                  <a:pt x="107419" y="53709"/>
                </a:cubicBezTo>
                <a:cubicBezTo>
                  <a:pt x="125965" y="53709"/>
                  <a:pt x="140987" y="68731"/>
                  <a:pt x="140987" y="87278"/>
                </a:cubicBezTo>
                <a:cubicBezTo>
                  <a:pt x="140987" y="107083"/>
                  <a:pt x="125881" y="115475"/>
                  <a:pt x="117489" y="118538"/>
                </a:cubicBezTo>
                <a:lnTo>
                  <a:pt x="117489" y="120132"/>
                </a:lnTo>
                <a:cubicBezTo>
                  <a:pt x="117489" y="125713"/>
                  <a:pt x="112999" y="130203"/>
                  <a:pt x="107419" y="130203"/>
                </a:cubicBezTo>
                <a:cubicBezTo>
                  <a:pt x="101838" y="130203"/>
                  <a:pt x="97348" y="125713"/>
                  <a:pt x="97348" y="120132"/>
                </a:cubicBezTo>
                <a:lnTo>
                  <a:pt x="97348" y="116734"/>
                </a:lnTo>
                <a:cubicBezTo>
                  <a:pt x="97348" y="108132"/>
                  <a:pt x="103558" y="101964"/>
                  <a:pt x="109978" y="99866"/>
                </a:cubicBezTo>
                <a:cubicBezTo>
                  <a:pt x="112664" y="98984"/>
                  <a:pt x="115517" y="97558"/>
                  <a:pt x="117615" y="95544"/>
                </a:cubicBezTo>
                <a:cubicBezTo>
                  <a:pt x="119419" y="93781"/>
                  <a:pt x="120846" y="91348"/>
                  <a:pt x="120846" y="87319"/>
                </a:cubicBezTo>
                <a:cubicBezTo>
                  <a:pt x="120846" y="79893"/>
                  <a:pt x="114845" y="73892"/>
                  <a:pt x="107419" y="73892"/>
                </a:cubicBezTo>
                <a:close/>
                <a:moveTo>
                  <a:pt x="93991" y="154414"/>
                </a:moveTo>
                <a:cubicBezTo>
                  <a:pt x="93991" y="147003"/>
                  <a:pt x="100008" y="140987"/>
                  <a:pt x="107419" y="140987"/>
                </a:cubicBezTo>
                <a:cubicBezTo>
                  <a:pt x="114829" y="140987"/>
                  <a:pt x="120846" y="147003"/>
                  <a:pt x="120846" y="154414"/>
                </a:cubicBezTo>
                <a:cubicBezTo>
                  <a:pt x="120846" y="161825"/>
                  <a:pt x="114829" y="167841"/>
                  <a:pt x="107419" y="167841"/>
                </a:cubicBezTo>
                <a:cubicBezTo>
                  <a:pt x="100008" y="167841"/>
                  <a:pt x="93991" y="161825"/>
                  <a:pt x="93991" y="154414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537093" y="2434819"/>
            <a:ext cx="1512811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QA Pair Generation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7093" y="2721269"/>
            <a:ext cx="1512811" cy="42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question-answer pairs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45013" y="2345304"/>
            <a:ext cx="214837" cy="214837"/>
          </a:xfrm>
          <a:custGeom>
            <a:avLst/>
            <a:gdLst/>
            <a:ahLst/>
            <a:cxnLst/>
            <a:rect l="l" t="t" r="r" b="b"/>
            <a:pathLst>
              <a:path w="214837" h="214837">
                <a:moveTo>
                  <a:pt x="210893" y="116902"/>
                </a:moveTo>
                <a:cubicBezTo>
                  <a:pt x="216138" y="111656"/>
                  <a:pt x="216138" y="103139"/>
                  <a:pt x="210893" y="97894"/>
                </a:cubicBezTo>
                <a:lnTo>
                  <a:pt x="143756" y="30757"/>
                </a:lnTo>
                <a:cubicBezTo>
                  <a:pt x="138511" y="25512"/>
                  <a:pt x="129993" y="25512"/>
                  <a:pt x="124748" y="30757"/>
                </a:cubicBezTo>
                <a:cubicBezTo>
                  <a:pt x="119503" y="36002"/>
                  <a:pt x="119503" y="44520"/>
                  <a:pt x="124748" y="49765"/>
                </a:cubicBezTo>
                <a:lnTo>
                  <a:pt x="168974" y="93991"/>
                </a:lnTo>
                <a:lnTo>
                  <a:pt x="13427" y="93991"/>
                </a:lnTo>
                <a:cubicBezTo>
                  <a:pt x="6000" y="93991"/>
                  <a:pt x="0" y="99992"/>
                  <a:pt x="0" y="107419"/>
                </a:cubicBezTo>
                <a:cubicBezTo>
                  <a:pt x="0" y="114845"/>
                  <a:pt x="6000" y="120846"/>
                  <a:pt x="13427" y="120846"/>
                </a:cubicBezTo>
                <a:lnTo>
                  <a:pt x="168974" y="120846"/>
                </a:lnTo>
                <a:lnTo>
                  <a:pt x="124748" y="165072"/>
                </a:lnTo>
                <a:cubicBezTo>
                  <a:pt x="119503" y="170317"/>
                  <a:pt x="119503" y="178835"/>
                  <a:pt x="124748" y="184080"/>
                </a:cubicBezTo>
                <a:cubicBezTo>
                  <a:pt x="129993" y="189325"/>
                  <a:pt x="138511" y="189325"/>
                  <a:pt x="143756" y="184080"/>
                </a:cubicBezTo>
                <a:lnTo>
                  <a:pt x="210893" y="116944"/>
                </a:ln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11" name="Shape 9"/>
          <p:cNvSpPr/>
          <p:nvPr/>
        </p:nvSpPr>
        <p:spPr>
          <a:xfrm>
            <a:off x="2926595" y="1754502"/>
            <a:ext cx="572899" cy="572899"/>
          </a:xfrm>
          <a:custGeom>
            <a:avLst/>
            <a:gdLst/>
            <a:ahLst/>
            <a:cxnLst/>
            <a:rect l="l" t="t" r="r" b="b"/>
            <a:pathLst>
              <a:path w="572899" h="572899">
                <a:moveTo>
                  <a:pt x="143225" y="0"/>
                </a:moveTo>
                <a:lnTo>
                  <a:pt x="429674" y="0"/>
                </a:lnTo>
                <a:cubicBezTo>
                  <a:pt x="508775" y="0"/>
                  <a:pt x="572899" y="64124"/>
                  <a:pt x="572899" y="143225"/>
                </a:cubicBezTo>
                <a:lnTo>
                  <a:pt x="572899" y="429674"/>
                </a:lnTo>
                <a:cubicBezTo>
                  <a:pt x="572899" y="508775"/>
                  <a:pt x="508775" y="572899"/>
                  <a:pt x="429674" y="572899"/>
                </a:cubicBezTo>
                <a:lnTo>
                  <a:pt x="143225" y="572899"/>
                </a:lnTo>
                <a:cubicBezTo>
                  <a:pt x="64124" y="572899"/>
                  <a:pt x="0" y="508775"/>
                  <a:pt x="0" y="429674"/>
                </a:cubicBezTo>
                <a:lnTo>
                  <a:pt x="0" y="143225"/>
                </a:lnTo>
                <a:cubicBezTo>
                  <a:pt x="0" y="64124"/>
                  <a:pt x="64124" y="0"/>
                  <a:pt x="143225" y="0"/>
                </a:cubicBezTo>
                <a:close/>
              </a:path>
            </a:pathLst>
          </a:custGeom>
          <a:solidFill>
            <a:srgbClr val="5A7A96"/>
          </a:solidFill>
          <a:ln/>
          <a:effectLst>
            <a:outerShdw blurRad="134273" dist="8951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5626" y="1933533"/>
            <a:ext cx="214837" cy="214837"/>
          </a:xfrm>
          <a:custGeom>
            <a:avLst/>
            <a:gdLst/>
            <a:ahLst/>
            <a:cxnLst/>
            <a:rect l="l" t="t" r="r" b="b"/>
            <a:pathLst>
              <a:path w="214837" h="214837">
                <a:moveTo>
                  <a:pt x="80564" y="107419"/>
                </a:moveTo>
                <a:lnTo>
                  <a:pt x="63990" y="123993"/>
                </a:lnTo>
                <a:cubicBezTo>
                  <a:pt x="58703" y="121937"/>
                  <a:pt x="52996" y="120846"/>
                  <a:pt x="46996" y="120846"/>
                </a:cubicBezTo>
                <a:cubicBezTo>
                  <a:pt x="21022" y="120846"/>
                  <a:pt x="0" y="141868"/>
                  <a:pt x="0" y="167841"/>
                </a:cubicBezTo>
                <a:cubicBezTo>
                  <a:pt x="0" y="193815"/>
                  <a:pt x="21022" y="214837"/>
                  <a:pt x="46996" y="214837"/>
                </a:cubicBezTo>
                <a:cubicBezTo>
                  <a:pt x="72969" y="214837"/>
                  <a:pt x="93991" y="193815"/>
                  <a:pt x="93991" y="167841"/>
                </a:cubicBezTo>
                <a:cubicBezTo>
                  <a:pt x="93991" y="161841"/>
                  <a:pt x="92858" y="156134"/>
                  <a:pt x="90844" y="150847"/>
                </a:cubicBezTo>
                <a:lnTo>
                  <a:pt x="209466" y="32226"/>
                </a:lnTo>
                <a:cubicBezTo>
                  <a:pt x="212445" y="29246"/>
                  <a:pt x="212445" y="24463"/>
                  <a:pt x="209466" y="21484"/>
                </a:cubicBezTo>
                <a:cubicBezTo>
                  <a:pt x="197591" y="9609"/>
                  <a:pt x="178373" y="9609"/>
                  <a:pt x="166499" y="21484"/>
                </a:cubicBezTo>
                <a:lnTo>
                  <a:pt x="107419" y="80564"/>
                </a:lnTo>
                <a:lnTo>
                  <a:pt x="90844" y="63990"/>
                </a:lnTo>
                <a:cubicBezTo>
                  <a:pt x="92900" y="58703"/>
                  <a:pt x="93991" y="52996"/>
                  <a:pt x="93991" y="46996"/>
                </a:cubicBezTo>
                <a:cubicBezTo>
                  <a:pt x="93991" y="21022"/>
                  <a:pt x="72969" y="0"/>
                  <a:pt x="46996" y="0"/>
                </a:cubicBezTo>
                <a:cubicBezTo>
                  <a:pt x="21022" y="0"/>
                  <a:pt x="0" y="21022"/>
                  <a:pt x="0" y="46996"/>
                </a:cubicBezTo>
                <a:cubicBezTo>
                  <a:pt x="0" y="72969"/>
                  <a:pt x="21022" y="93991"/>
                  <a:pt x="46996" y="93991"/>
                </a:cubicBezTo>
                <a:cubicBezTo>
                  <a:pt x="52996" y="93991"/>
                  <a:pt x="58703" y="92858"/>
                  <a:pt x="63990" y="90844"/>
                </a:cubicBezTo>
                <a:lnTo>
                  <a:pt x="80564" y="107419"/>
                </a:lnTo>
                <a:close/>
                <a:moveTo>
                  <a:pt x="121643" y="148498"/>
                </a:moveTo>
                <a:lnTo>
                  <a:pt x="166499" y="193353"/>
                </a:lnTo>
                <a:cubicBezTo>
                  <a:pt x="178373" y="205228"/>
                  <a:pt x="197591" y="205228"/>
                  <a:pt x="209466" y="193353"/>
                </a:cubicBezTo>
                <a:cubicBezTo>
                  <a:pt x="212445" y="190374"/>
                  <a:pt x="212445" y="185591"/>
                  <a:pt x="209466" y="182611"/>
                </a:cubicBezTo>
                <a:lnTo>
                  <a:pt x="148498" y="121643"/>
                </a:lnTo>
                <a:lnTo>
                  <a:pt x="121643" y="148498"/>
                </a:lnTo>
                <a:close/>
                <a:moveTo>
                  <a:pt x="26855" y="46996"/>
                </a:moveTo>
                <a:cubicBezTo>
                  <a:pt x="26855" y="35879"/>
                  <a:pt x="35879" y="26855"/>
                  <a:pt x="46996" y="26855"/>
                </a:cubicBezTo>
                <a:cubicBezTo>
                  <a:pt x="58112" y="26855"/>
                  <a:pt x="67137" y="35879"/>
                  <a:pt x="67137" y="46996"/>
                </a:cubicBezTo>
                <a:cubicBezTo>
                  <a:pt x="67137" y="58112"/>
                  <a:pt x="58112" y="67137"/>
                  <a:pt x="46996" y="67137"/>
                </a:cubicBezTo>
                <a:cubicBezTo>
                  <a:pt x="35879" y="67137"/>
                  <a:pt x="26855" y="58112"/>
                  <a:pt x="26855" y="46996"/>
                </a:cubicBezTo>
                <a:close/>
                <a:moveTo>
                  <a:pt x="46996" y="147700"/>
                </a:moveTo>
                <a:cubicBezTo>
                  <a:pt x="58112" y="147700"/>
                  <a:pt x="67137" y="156725"/>
                  <a:pt x="67137" y="167841"/>
                </a:cubicBezTo>
                <a:cubicBezTo>
                  <a:pt x="67137" y="178958"/>
                  <a:pt x="58112" y="187982"/>
                  <a:pt x="46996" y="187982"/>
                </a:cubicBezTo>
                <a:cubicBezTo>
                  <a:pt x="35879" y="187982"/>
                  <a:pt x="26855" y="178958"/>
                  <a:pt x="26855" y="167841"/>
                </a:cubicBezTo>
                <a:cubicBezTo>
                  <a:pt x="26855" y="156725"/>
                  <a:pt x="35879" y="147700"/>
                  <a:pt x="46996" y="147700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2458317" y="2434819"/>
            <a:ext cx="1512811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Chunking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58317" y="2721269"/>
            <a:ext cx="1512811" cy="42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 unit separation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66331" y="2345304"/>
            <a:ext cx="214837" cy="214837"/>
          </a:xfrm>
          <a:custGeom>
            <a:avLst/>
            <a:gdLst/>
            <a:ahLst/>
            <a:cxnLst/>
            <a:rect l="l" t="t" r="r" b="b"/>
            <a:pathLst>
              <a:path w="214837" h="214837">
                <a:moveTo>
                  <a:pt x="210893" y="116902"/>
                </a:moveTo>
                <a:cubicBezTo>
                  <a:pt x="216138" y="111656"/>
                  <a:pt x="216138" y="103139"/>
                  <a:pt x="210893" y="97894"/>
                </a:cubicBezTo>
                <a:lnTo>
                  <a:pt x="143756" y="30757"/>
                </a:lnTo>
                <a:cubicBezTo>
                  <a:pt x="138511" y="25512"/>
                  <a:pt x="129993" y="25512"/>
                  <a:pt x="124748" y="30757"/>
                </a:cubicBezTo>
                <a:cubicBezTo>
                  <a:pt x="119503" y="36002"/>
                  <a:pt x="119503" y="44520"/>
                  <a:pt x="124748" y="49765"/>
                </a:cubicBezTo>
                <a:lnTo>
                  <a:pt x="168974" y="93991"/>
                </a:lnTo>
                <a:lnTo>
                  <a:pt x="13427" y="93991"/>
                </a:lnTo>
                <a:cubicBezTo>
                  <a:pt x="6000" y="93991"/>
                  <a:pt x="0" y="99992"/>
                  <a:pt x="0" y="107419"/>
                </a:cubicBezTo>
                <a:cubicBezTo>
                  <a:pt x="0" y="114845"/>
                  <a:pt x="6000" y="120846"/>
                  <a:pt x="13427" y="120846"/>
                </a:cubicBezTo>
                <a:lnTo>
                  <a:pt x="168974" y="120846"/>
                </a:lnTo>
                <a:lnTo>
                  <a:pt x="124748" y="165072"/>
                </a:lnTo>
                <a:cubicBezTo>
                  <a:pt x="119503" y="170317"/>
                  <a:pt x="119503" y="178835"/>
                  <a:pt x="124748" y="184080"/>
                </a:cubicBezTo>
                <a:cubicBezTo>
                  <a:pt x="129993" y="189325"/>
                  <a:pt x="138511" y="189325"/>
                  <a:pt x="143756" y="184080"/>
                </a:cubicBezTo>
                <a:lnTo>
                  <a:pt x="210893" y="116944"/>
                </a:ln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16" name="Shape 14"/>
          <p:cNvSpPr/>
          <p:nvPr/>
        </p:nvSpPr>
        <p:spPr>
          <a:xfrm>
            <a:off x="4847913" y="1754502"/>
            <a:ext cx="572899" cy="572899"/>
          </a:xfrm>
          <a:custGeom>
            <a:avLst/>
            <a:gdLst/>
            <a:ahLst/>
            <a:cxnLst/>
            <a:rect l="l" t="t" r="r" b="b"/>
            <a:pathLst>
              <a:path w="572899" h="572899">
                <a:moveTo>
                  <a:pt x="143225" y="0"/>
                </a:moveTo>
                <a:lnTo>
                  <a:pt x="429674" y="0"/>
                </a:lnTo>
                <a:cubicBezTo>
                  <a:pt x="508775" y="0"/>
                  <a:pt x="572899" y="64124"/>
                  <a:pt x="572899" y="143225"/>
                </a:cubicBezTo>
                <a:lnTo>
                  <a:pt x="572899" y="429674"/>
                </a:lnTo>
                <a:cubicBezTo>
                  <a:pt x="572899" y="508775"/>
                  <a:pt x="508775" y="572899"/>
                  <a:pt x="429674" y="572899"/>
                </a:cubicBezTo>
                <a:lnTo>
                  <a:pt x="143225" y="572899"/>
                </a:lnTo>
                <a:cubicBezTo>
                  <a:pt x="64124" y="572899"/>
                  <a:pt x="0" y="508775"/>
                  <a:pt x="0" y="429674"/>
                </a:cubicBezTo>
                <a:lnTo>
                  <a:pt x="0" y="143225"/>
                </a:lnTo>
                <a:cubicBezTo>
                  <a:pt x="0" y="64124"/>
                  <a:pt x="64124" y="0"/>
                  <a:pt x="143225" y="0"/>
                </a:cubicBezTo>
                <a:close/>
              </a:path>
            </a:pathLst>
          </a:custGeom>
          <a:solidFill>
            <a:srgbClr val="3D8B8B"/>
          </a:solidFill>
          <a:ln/>
          <a:effectLst>
            <a:outerShdw blurRad="134273" dist="8951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13516" y="1933533"/>
            <a:ext cx="241692" cy="214837"/>
          </a:xfrm>
          <a:custGeom>
            <a:avLst/>
            <a:gdLst/>
            <a:ahLst/>
            <a:cxnLst/>
            <a:rect l="l" t="t" r="r" b="b"/>
            <a:pathLst>
              <a:path w="241692" h="214837">
                <a:moveTo>
                  <a:pt x="168345" y="16406"/>
                </a:moveTo>
                <a:lnTo>
                  <a:pt x="230530" y="79473"/>
                </a:lnTo>
                <a:cubicBezTo>
                  <a:pt x="242153" y="91264"/>
                  <a:pt x="242153" y="110146"/>
                  <a:pt x="230530" y="121937"/>
                </a:cubicBezTo>
                <a:lnTo>
                  <a:pt x="164904" y="188360"/>
                </a:lnTo>
                <a:cubicBezTo>
                  <a:pt x="161002" y="192304"/>
                  <a:pt x="154624" y="192346"/>
                  <a:pt x="150680" y="188444"/>
                </a:cubicBezTo>
                <a:cubicBezTo>
                  <a:pt x="146735" y="184542"/>
                  <a:pt x="146693" y="178164"/>
                  <a:pt x="150596" y="174219"/>
                </a:cubicBezTo>
                <a:lnTo>
                  <a:pt x="216222" y="107754"/>
                </a:lnTo>
                <a:cubicBezTo>
                  <a:pt x="220082" y="103852"/>
                  <a:pt x="220082" y="97516"/>
                  <a:pt x="216222" y="93614"/>
                </a:cubicBezTo>
                <a:lnTo>
                  <a:pt x="153994" y="30589"/>
                </a:lnTo>
                <a:cubicBezTo>
                  <a:pt x="150092" y="26645"/>
                  <a:pt x="150134" y="20267"/>
                  <a:pt x="154078" y="16365"/>
                </a:cubicBezTo>
                <a:cubicBezTo>
                  <a:pt x="158023" y="12462"/>
                  <a:pt x="164401" y="12504"/>
                  <a:pt x="168303" y="16448"/>
                </a:cubicBezTo>
                <a:close/>
                <a:moveTo>
                  <a:pt x="13469" y="96299"/>
                </a:moveTo>
                <a:lnTo>
                  <a:pt x="13469" y="40282"/>
                </a:lnTo>
                <a:cubicBezTo>
                  <a:pt x="13469" y="25470"/>
                  <a:pt x="25512" y="13427"/>
                  <a:pt x="40324" y="13427"/>
                </a:cubicBezTo>
                <a:lnTo>
                  <a:pt x="96341" y="13427"/>
                </a:lnTo>
                <a:cubicBezTo>
                  <a:pt x="103474" y="13427"/>
                  <a:pt x="110314" y="16239"/>
                  <a:pt x="115349" y="21274"/>
                </a:cubicBezTo>
                <a:lnTo>
                  <a:pt x="175772" y="81697"/>
                </a:lnTo>
                <a:cubicBezTo>
                  <a:pt x="186262" y="92187"/>
                  <a:pt x="186262" y="109181"/>
                  <a:pt x="175772" y="119671"/>
                </a:cubicBezTo>
                <a:lnTo>
                  <a:pt x="119755" y="175688"/>
                </a:lnTo>
                <a:cubicBezTo>
                  <a:pt x="109265" y="186178"/>
                  <a:pt x="92271" y="186178"/>
                  <a:pt x="81781" y="175688"/>
                </a:cubicBezTo>
                <a:lnTo>
                  <a:pt x="21358" y="115265"/>
                </a:lnTo>
                <a:cubicBezTo>
                  <a:pt x="16323" y="110230"/>
                  <a:pt x="13511" y="103390"/>
                  <a:pt x="13511" y="96257"/>
                </a:cubicBezTo>
                <a:close/>
                <a:moveTo>
                  <a:pt x="73892" y="60423"/>
                </a:moveTo>
                <a:cubicBezTo>
                  <a:pt x="73892" y="53012"/>
                  <a:pt x="67876" y="46996"/>
                  <a:pt x="60465" y="46996"/>
                </a:cubicBezTo>
                <a:cubicBezTo>
                  <a:pt x="53054" y="46996"/>
                  <a:pt x="47038" y="53012"/>
                  <a:pt x="47038" y="60423"/>
                </a:cubicBezTo>
                <a:cubicBezTo>
                  <a:pt x="47038" y="67834"/>
                  <a:pt x="53054" y="73850"/>
                  <a:pt x="60465" y="73850"/>
                </a:cubicBezTo>
                <a:cubicBezTo>
                  <a:pt x="67876" y="73850"/>
                  <a:pt x="73892" y="67834"/>
                  <a:pt x="73892" y="60423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4379635" y="2434819"/>
            <a:ext cx="1512811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Chunk Differentiation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79635" y="2721269"/>
            <a:ext cx="1512811" cy="42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 category tagging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87556" y="2345304"/>
            <a:ext cx="214837" cy="214837"/>
          </a:xfrm>
          <a:custGeom>
            <a:avLst/>
            <a:gdLst/>
            <a:ahLst/>
            <a:cxnLst/>
            <a:rect l="l" t="t" r="r" b="b"/>
            <a:pathLst>
              <a:path w="214837" h="214837">
                <a:moveTo>
                  <a:pt x="210893" y="116902"/>
                </a:moveTo>
                <a:cubicBezTo>
                  <a:pt x="216138" y="111656"/>
                  <a:pt x="216138" y="103139"/>
                  <a:pt x="210893" y="97894"/>
                </a:cubicBezTo>
                <a:lnTo>
                  <a:pt x="143756" y="30757"/>
                </a:lnTo>
                <a:cubicBezTo>
                  <a:pt x="138511" y="25512"/>
                  <a:pt x="129993" y="25512"/>
                  <a:pt x="124748" y="30757"/>
                </a:cubicBezTo>
                <a:cubicBezTo>
                  <a:pt x="119503" y="36002"/>
                  <a:pt x="119503" y="44520"/>
                  <a:pt x="124748" y="49765"/>
                </a:cubicBezTo>
                <a:lnTo>
                  <a:pt x="168974" y="93991"/>
                </a:lnTo>
                <a:lnTo>
                  <a:pt x="13427" y="93991"/>
                </a:lnTo>
                <a:cubicBezTo>
                  <a:pt x="6000" y="93991"/>
                  <a:pt x="0" y="99992"/>
                  <a:pt x="0" y="107419"/>
                </a:cubicBezTo>
                <a:cubicBezTo>
                  <a:pt x="0" y="114845"/>
                  <a:pt x="6000" y="120846"/>
                  <a:pt x="13427" y="120846"/>
                </a:cubicBezTo>
                <a:lnTo>
                  <a:pt x="168974" y="120846"/>
                </a:lnTo>
                <a:lnTo>
                  <a:pt x="124748" y="165072"/>
                </a:lnTo>
                <a:cubicBezTo>
                  <a:pt x="119503" y="170317"/>
                  <a:pt x="119503" y="178835"/>
                  <a:pt x="124748" y="184080"/>
                </a:cubicBezTo>
                <a:cubicBezTo>
                  <a:pt x="129993" y="189325"/>
                  <a:pt x="138511" y="189325"/>
                  <a:pt x="143756" y="184080"/>
                </a:cubicBezTo>
                <a:lnTo>
                  <a:pt x="210893" y="116944"/>
                </a:ln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21" name="Shape 19"/>
          <p:cNvSpPr/>
          <p:nvPr/>
        </p:nvSpPr>
        <p:spPr>
          <a:xfrm>
            <a:off x="6769137" y="1861921"/>
            <a:ext cx="572899" cy="572899"/>
          </a:xfrm>
          <a:custGeom>
            <a:avLst/>
            <a:gdLst/>
            <a:ahLst/>
            <a:cxnLst/>
            <a:rect l="l" t="t" r="r" b="b"/>
            <a:pathLst>
              <a:path w="572899" h="572899">
                <a:moveTo>
                  <a:pt x="143225" y="0"/>
                </a:moveTo>
                <a:lnTo>
                  <a:pt x="429674" y="0"/>
                </a:lnTo>
                <a:cubicBezTo>
                  <a:pt x="508775" y="0"/>
                  <a:pt x="572899" y="64124"/>
                  <a:pt x="572899" y="143225"/>
                </a:cubicBezTo>
                <a:lnTo>
                  <a:pt x="572899" y="429674"/>
                </a:lnTo>
                <a:cubicBezTo>
                  <a:pt x="572899" y="508775"/>
                  <a:pt x="508775" y="572899"/>
                  <a:pt x="429674" y="572899"/>
                </a:cubicBezTo>
                <a:lnTo>
                  <a:pt x="143225" y="572899"/>
                </a:lnTo>
                <a:cubicBezTo>
                  <a:pt x="64124" y="572899"/>
                  <a:pt x="0" y="508775"/>
                  <a:pt x="0" y="429674"/>
                </a:cubicBezTo>
                <a:lnTo>
                  <a:pt x="0" y="143225"/>
                </a:lnTo>
                <a:cubicBezTo>
                  <a:pt x="0" y="64124"/>
                  <a:pt x="64124" y="0"/>
                  <a:pt x="143225" y="0"/>
                </a:cubicBezTo>
                <a:close/>
              </a:path>
            </a:pathLst>
          </a:custGeom>
          <a:solidFill>
            <a:srgbClr val="1A3A5C"/>
          </a:solidFill>
          <a:ln/>
          <a:effectLst>
            <a:outerShdw blurRad="134273" dist="8951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48168" y="2040952"/>
            <a:ext cx="214837" cy="214837"/>
          </a:xfrm>
          <a:custGeom>
            <a:avLst/>
            <a:gdLst/>
            <a:ahLst/>
            <a:cxnLst/>
            <a:rect l="l" t="t" r="r" b="b"/>
            <a:pathLst>
              <a:path w="214837" h="214837">
                <a:moveTo>
                  <a:pt x="27652" y="95879"/>
                </a:moveTo>
                <a:cubicBezTo>
                  <a:pt x="33233" y="56856"/>
                  <a:pt x="66843" y="26855"/>
                  <a:pt x="107419" y="26855"/>
                </a:cubicBezTo>
                <a:cubicBezTo>
                  <a:pt x="129657" y="26855"/>
                  <a:pt x="149798" y="35876"/>
                  <a:pt x="164401" y="50436"/>
                </a:cubicBezTo>
                <a:cubicBezTo>
                  <a:pt x="164485" y="50520"/>
                  <a:pt x="164569" y="50604"/>
                  <a:pt x="164652" y="50688"/>
                </a:cubicBezTo>
                <a:lnTo>
                  <a:pt x="167841" y="53709"/>
                </a:lnTo>
                <a:lnTo>
                  <a:pt x="147742" y="53709"/>
                </a:lnTo>
                <a:cubicBezTo>
                  <a:pt x="140315" y="53709"/>
                  <a:pt x="134315" y="59710"/>
                  <a:pt x="134315" y="67137"/>
                </a:cubicBezTo>
                <a:cubicBezTo>
                  <a:pt x="134315" y="74564"/>
                  <a:pt x="140315" y="80564"/>
                  <a:pt x="147742" y="80564"/>
                </a:cubicBezTo>
                <a:lnTo>
                  <a:pt x="201452" y="80564"/>
                </a:lnTo>
                <a:cubicBezTo>
                  <a:pt x="208879" y="80564"/>
                  <a:pt x="214879" y="74564"/>
                  <a:pt x="214879" y="67137"/>
                </a:cubicBezTo>
                <a:lnTo>
                  <a:pt x="214879" y="13427"/>
                </a:lnTo>
                <a:cubicBezTo>
                  <a:pt x="214879" y="6000"/>
                  <a:pt x="208879" y="0"/>
                  <a:pt x="201452" y="0"/>
                </a:cubicBezTo>
                <a:cubicBezTo>
                  <a:pt x="194025" y="0"/>
                  <a:pt x="188024" y="6000"/>
                  <a:pt x="188024" y="13427"/>
                </a:cubicBezTo>
                <a:lnTo>
                  <a:pt x="188024" y="35834"/>
                </a:lnTo>
                <a:lnTo>
                  <a:pt x="183283" y="31344"/>
                </a:lnTo>
                <a:cubicBezTo>
                  <a:pt x="163855" y="12001"/>
                  <a:pt x="137001" y="0"/>
                  <a:pt x="107419" y="0"/>
                </a:cubicBezTo>
                <a:cubicBezTo>
                  <a:pt x="53290" y="0"/>
                  <a:pt x="8518" y="40030"/>
                  <a:pt x="1091" y="92103"/>
                </a:cubicBezTo>
                <a:cubicBezTo>
                  <a:pt x="42" y="99446"/>
                  <a:pt x="5119" y="106244"/>
                  <a:pt x="12462" y="107293"/>
                </a:cubicBezTo>
                <a:cubicBezTo>
                  <a:pt x="19805" y="108342"/>
                  <a:pt x="26603" y="103222"/>
                  <a:pt x="27652" y="95921"/>
                </a:cubicBezTo>
                <a:close/>
                <a:moveTo>
                  <a:pt x="213746" y="122734"/>
                </a:moveTo>
                <a:cubicBezTo>
                  <a:pt x="214795" y="115391"/>
                  <a:pt x="209676" y="108593"/>
                  <a:pt x="202375" y="107544"/>
                </a:cubicBezTo>
                <a:cubicBezTo>
                  <a:pt x="195074" y="106495"/>
                  <a:pt x="188234" y="111615"/>
                  <a:pt x="187185" y="118916"/>
                </a:cubicBezTo>
                <a:cubicBezTo>
                  <a:pt x="181604" y="157939"/>
                  <a:pt x="147994" y="187940"/>
                  <a:pt x="107419" y="187940"/>
                </a:cubicBezTo>
                <a:cubicBezTo>
                  <a:pt x="85180" y="187940"/>
                  <a:pt x="65039" y="178919"/>
                  <a:pt x="50436" y="164359"/>
                </a:cubicBezTo>
                <a:cubicBezTo>
                  <a:pt x="50352" y="164275"/>
                  <a:pt x="50269" y="164191"/>
                  <a:pt x="50185" y="164107"/>
                </a:cubicBezTo>
                <a:lnTo>
                  <a:pt x="46996" y="161086"/>
                </a:lnTo>
                <a:lnTo>
                  <a:pt x="67095" y="161086"/>
                </a:lnTo>
                <a:cubicBezTo>
                  <a:pt x="74522" y="161086"/>
                  <a:pt x="80522" y="155085"/>
                  <a:pt x="80522" y="147658"/>
                </a:cubicBezTo>
                <a:cubicBezTo>
                  <a:pt x="80522" y="140231"/>
                  <a:pt x="74522" y="134231"/>
                  <a:pt x="67095" y="134231"/>
                </a:cubicBezTo>
                <a:lnTo>
                  <a:pt x="13427" y="134273"/>
                </a:lnTo>
                <a:cubicBezTo>
                  <a:pt x="9861" y="134273"/>
                  <a:pt x="6420" y="135700"/>
                  <a:pt x="3902" y="138259"/>
                </a:cubicBezTo>
                <a:cubicBezTo>
                  <a:pt x="1385" y="140819"/>
                  <a:pt x="-42" y="144218"/>
                  <a:pt x="0" y="147826"/>
                </a:cubicBezTo>
                <a:lnTo>
                  <a:pt x="420" y="201116"/>
                </a:lnTo>
                <a:cubicBezTo>
                  <a:pt x="462" y="208543"/>
                  <a:pt x="6546" y="214501"/>
                  <a:pt x="13973" y="214417"/>
                </a:cubicBezTo>
                <a:cubicBezTo>
                  <a:pt x="21400" y="214333"/>
                  <a:pt x="27358" y="208291"/>
                  <a:pt x="27274" y="200864"/>
                </a:cubicBezTo>
                <a:lnTo>
                  <a:pt x="27106" y="179255"/>
                </a:lnTo>
                <a:lnTo>
                  <a:pt x="31596" y="183493"/>
                </a:lnTo>
                <a:cubicBezTo>
                  <a:pt x="51024" y="202836"/>
                  <a:pt x="77836" y="214837"/>
                  <a:pt x="107419" y="214837"/>
                </a:cubicBezTo>
                <a:cubicBezTo>
                  <a:pt x="161547" y="214837"/>
                  <a:pt x="206319" y="174807"/>
                  <a:pt x="213746" y="122734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6300860" y="2542238"/>
            <a:ext cx="1512811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Embedding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00860" y="2828687"/>
            <a:ext cx="1512811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Vector representation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908874" y="2345304"/>
            <a:ext cx="214837" cy="214837"/>
          </a:xfrm>
          <a:custGeom>
            <a:avLst/>
            <a:gdLst/>
            <a:ahLst/>
            <a:cxnLst/>
            <a:rect l="l" t="t" r="r" b="b"/>
            <a:pathLst>
              <a:path w="214837" h="214837">
                <a:moveTo>
                  <a:pt x="210893" y="116902"/>
                </a:moveTo>
                <a:cubicBezTo>
                  <a:pt x="216138" y="111656"/>
                  <a:pt x="216138" y="103139"/>
                  <a:pt x="210893" y="97894"/>
                </a:cubicBezTo>
                <a:lnTo>
                  <a:pt x="143756" y="30757"/>
                </a:lnTo>
                <a:cubicBezTo>
                  <a:pt x="138511" y="25512"/>
                  <a:pt x="129993" y="25512"/>
                  <a:pt x="124748" y="30757"/>
                </a:cubicBezTo>
                <a:cubicBezTo>
                  <a:pt x="119503" y="36002"/>
                  <a:pt x="119503" y="44520"/>
                  <a:pt x="124748" y="49765"/>
                </a:cubicBezTo>
                <a:lnTo>
                  <a:pt x="168974" y="93991"/>
                </a:lnTo>
                <a:lnTo>
                  <a:pt x="13427" y="93991"/>
                </a:lnTo>
                <a:cubicBezTo>
                  <a:pt x="6000" y="93991"/>
                  <a:pt x="0" y="99992"/>
                  <a:pt x="0" y="107419"/>
                </a:cubicBezTo>
                <a:cubicBezTo>
                  <a:pt x="0" y="114845"/>
                  <a:pt x="6000" y="120846"/>
                  <a:pt x="13427" y="120846"/>
                </a:cubicBezTo>
                <a:lnTo>
                  <a:pt x="168974" y="120846"/>
                </a:lnTo>
                <a:lnTo>
                  <a:pt x="124748" y="165072"/>
                </a:lnTo>
                <a:cubicBezTo>
                  <a:pt x="119503" y="170317"/>
                  <a:pt x="119503" y="178835"/>
                  <a:pt x="124748" y="184080"/>
                </a:cubicBezTo>
                <a:cubicBezTo>
                  <a:pt x="129993" y="189325"/>
                  <a:pt x="138511" y="189325"/>
                  <a:pt x="143756" y="184080"/>
                </a:cubicBezTo>
                <a:lnTo>
                  <a:pt x="210893" y="116944"/>
                </a:ln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26" name="Shape 24"/>
          <p:cNvSpPr/>
          <p:nvPr/>
        </p:nvSpPr>
        <p:spPr>
          <a:xfrm>
            <a:off x="8690456" y="1861921"/>
            <a:ext cx="572899" cy="572899"/>
          </a:xfrm>
          <a:custGeom>
            <a:avLst/>
            <a:gdLst/>
            <a:ahLst/>
            <a:cxnLst/>
            <a:rect l="l" t="t" r="r" b="b"/>
            <a:pathLst>
              <a:path w="572899" h="572899">
                <a:moveTo>
                  <a:pt x="143225" y="0"/>
                </a:moveTo>
                <a:lnTo>
                  <a:pt x="429674" y="0"/>
                </a:lnTo>
                <a:cubicBezTo>
                  <a:pt x="508775" y="0"/>
                  <a:pt x="572899" y="64124"/>
                  <a:pt x="572899" y="143225"/>
                </a:cubicBezTo>
                <a:lnTo>
                  <a:pt x="572899" y="429674"/>
                </a:lnTo>
                <a:cubicBezTo>
                  <a:pt x="572899" y="508775"/>
                  <a:pt x="508775" y="572899"/>
                  <a:pt x="429674" y="572899"/>
                </a:cubicBezTo>
                <a:lnTo>
                  <a:pt x="143225" y="572899"/>
                </a:lnTo>
                <a:cubicBezTo>
                  <a:pt x="64124" y="572899"/>
                  <a:pt x="0" y="508775"/>
                  <a:pt x="0" y="429674"/>
                </a:cubicBezTo>
                <a:lnTo>
                  <a:pt x="0" y="143225"/>
                </a:lnTo>
                <a:cubicBezTo>
                  <a:pt x="0" y="64124"/>
                  <a:pt x="64124" y="0"/>
                  <a:pt x="143225" y="0"/>
                </a:cubicBezTo>
                <a:close/>
              </a:path>
            </a:pathLst>
          </a:custGeom>
          <a:solidFill>
            <a:srgbClr val="5A7A96"/>
          </a:solidFill>
          <a:ln/>
          <a:effectLst>
            <a:outerShdw blurRad="134273" dist="8951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869486" y="2040952"/>
            <a:ext cx="214837" cy="214837"/>
          </a:xfrm>
          <a:custGeom>
            <a:avLst/>
            <a:gdLst/>
            <a:ahLst/>
            <a:cxnLst/>
            <a:rect l="l" t="t" r="r" b="b"/>
            <a:pathLst>
              <a:path w="214837" h="214837">
                <a:moveTo>
                  <a:pt x="174555" y="87278"/>
                </a:moveTo>
                <a:cubicBezTo>
                  <a:pt x="174555" y="106537"/>
                  <a:pt x="168303" y="124329"/>
                  <a:pt x="157771" y="138763"/>
                </a:cubicBezTo>
                <a:lnTo>
                  <a:pt x="210893" y="191927"/>
                </a:lnTo>
                <a:cubicBezTo>
                  <a:pt x="216138" y="197172"/>
                  <a:pt x="216138" y="205690"/>
                  <a:pt x="210893" y="210935"/>
                </a:cubicBezTo>
                <a:cubicBezTo>
                  <a:pt x="205648" y="216180"/>
                  <a:pt x="197130" y="216180"/>
                  <a:pt x="191885" y="210935"/>
                </a:cubicBezTo>
                <a:lnTo>
                  <a:pt x="138763" y="157771"/>
                </a:lnTo>
                <a:cubicBezTo>
                  <a:pt x="124329" y="168303"/>
                  <a:pt x="106537" y="174555"/>
                  <a:pt x="87278" y="174555"/>
                </a:cubicBezTo>
                <a:cubicBezTo>
                  <a:pt x="39065" y="174555"/>
                  <a:pt x="0" y="135490"/>
                  <a:pt x="0" y="87278"/>
                </a:cubicBezTo>
                <a:cubicBezTo>
                  <a:pt x="0" y="39065"/>
                  <a:pt x="39065" y="0"/>
                  <a:pt x="87278" y="0"/>
                </a:cubicBezTo>
                <a:cubicBezTo>
                  <a:pt x="135490" y="0"/>
                  <a:pt x="174555" y="39065"/>
                  <a:pt x="174555" y="87278"/>
                </a:cubicBezTo>
                <a:close/>
                <a:moveTo>
                  <a:pt x="87278" y="147700"/>
                </a:moveTo>
                <a:cubicBezTo>
                  <a:pt x="120626" y="147700"/>
                  <a:pt x="147700" y="120626"/>
                  <a:pt x="147700" y="87278"/>
                </a:cubicBezTo>
                <a:cubicBezTo>
                  <a:pt x="147700" y="53929"/>
                  <a:pt x="120626" y="26855"/>
                  <a:pt x="87278" y="26855"/>
                </a:cubicBezTo>
                <a:cubicBezTo>
                  <a:pt x="53929" y="26855"/>
                  <a:pt x="26855" y="53929"/>
                  <a:pt x="26855" y="87278"/>
                </a:cubicBezTo>
                <a:cubicBezTo>
                  <a:pt x="26855" y="120626"/>
                  <a:pt x="53929" y="147700"/>
                  <a:pt x="87278" y="147700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8222178" y="2542238"/>
            <a:ext cx="1512811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Retrieval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22178" y="2828687"/>
            <a:ext cx="1512811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Similarity search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830099" y="2345304"/>
            <a:ext cx="214837" cy="214837"/>
          </a:xfrm>
          <a:custGeom>
            <a:avLst/>
            <a:gdLst/>
            <a:ahLst/>
            <a:cxnLst/>
            <a:rect l="l" t="t" r="r" b="b"/>
            <a:pathLst>
              <a:path w="214837" h="214837">
                <a:moveTo>
                  <a:pt x="210893" y="116902"/>
                </a:moveTo>
                <a:cubicBezTo>
                  <a:pt x="216138" y="111656"/>
                  <a:pt x="216138" y="103139"/>
                  <a:pt x="210893" y="97894"/>
                </a:cubicBezTo>
                <a:lnTo>
                  <a:pt x="143756" y="30757"/>
                </a:lnTo>
                <a:cubicBezTo>
                  <a:pt x="138511" y="25512"/>
                  <a:pt x="129993" y="25512"/>
                  <a:pt x="124748" y="30757"/>
                </a:cubicBezTo>
                <a:cubicBezTo>
                  <a:pt x="119503" y="36002"/>
                  <a:pt x="119503" y="44520"/>
                  <a:pt x="124748" y="49765"/>
                </a:cubicBezTo>
                <a:lnTo>
                  <a:pt x="168974" y="93991"/>
                </a:lnTo>
                <a:lnTo>
                  <a:pt x="13427" y="93991"/>
                </a:lnTo>
                <a:cubicBezTo>
                  <a:pt x="6000" y="93991"/>
                  <a:pt x="0" y="99992"/>
                  <a:pt x="0" y="107419"/>
                </a:cubicBezTo>
                <a:cubicBezTo>
                  <a:pt x="0" y="114845"/>
                  <a:pt x="6000" y="120846"/>
                  <a:pt x="13427" y="120846"/>
                </a:cubicBezTo>
                <a:lnTo>
                  <a:pt x="168974" y="120846"/>
                </a:lnTo>
                <a:lnTo>
                  <a:pt x="124748" y="165072"/>
                </a:lnTo>
                <a:cubicBezTo>
                  <a:pt x="119503" y="170317"/>
                  <a:pt x="119503" y="178835"/>
                  <a:pt x="124748" y="184080"/>
                </a:cubicBezTo>
                <a:cubicBezTo>
                  <a:pt x="129993" y="189325"/>
                  <a:pt x="138511" y="189325"/>
                  <a:pt x="143756" y="184080"/>
                </a:cubicBezTo>
                <a:lnTo>
                  <a:pt x="210893" y="116944"/>
                </a:ln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31" name="Shape 29"/>
          <p:cNvSpPr/>
          <p:nvPr/>
        </p:nvSpPr>
        <p:spPr>
          <a:xfrm>
            <a:off x="10611680" y="1861921"/>
            <a:ext cx="572899" cy="572899"/>
          </a:xfrm>
          <a:custGeom>
            <a:avLst/>
            <a:gdLst/>
            <a:ahLst/>
            <a:cxnLst/>
            <a:rect l="l" t="t" r="r" b="b"/>
            <a:pathLst>
              <a:path w="572899" h="572899">
                <a:moveTo>
                  <a:pt x="143225" y="0"/>
                </a:moveTo>
                <a:lnTo>
                  <a:pt x="429674" y="0"/>
                </a:lnTo>
                <a:cubicBezTo>
                  <a:pt x="508775" y="0"/>
                  <a:pt x="572899" y="64124"/>
                  <a:pt x="572899" y="143225"/>
                </a:cubicBezTo>
                <a:lnTo>
                  <a:pt x="572899" y="429674"/>
                </a:lnTo>
                <a:cubicBezTo>
                  <a:pt x="572899" y="508775"/>
                  <a:pt x="508775" y="572899"/>
                  <a:pt x="429674" y="572899"/>
                </a:cubicBezTo>
                <a:lnTo>
                  <a:pt x="143225" y="572899"/>
                </a:lnTo>
                <a:cubicBezTo>
                  <a:pt x="64124" y="572899"/>
                  <a:pt x="0" y="508775"/>
                  <a:pt x="0" y="429674"/>
                </a:cubicBezTo>
                <a:lnTo>
                  <a:pt x="0" y="143225"/>
                </a:lnTo>
                <a:cubicBezTo>
                  <a:pt x="0" y="64124"/>
                  <a:pt x="64124" y="0"/>
                  <a:pt x="143225" y="0"/>
                </a:cubicBezTo>
                <a:close/>
              </a:path>
            </a:pathLst>
          </a:custGeom>
          <a:solidFill>
            <a:srgbClr val="3D8B8B"/>
          </a:solidFill>
          <a:ln/>
          <a:effectLst>
            <a:outerShdw blurRad="134273" dist="8951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790711" y="2040952"/>
            <a:ext cx="214837" cy="214837"/>
          </a:xfrm>
          <a:custGeom>
            <a:avLst/>
            <a:gdLst/>
            <a:ahLst/>
            <a:cxnLst/>
            <a:rect l="l" t="t" r="r" b="b"/>
            <a:pathLst>
              <a:path w="214837" h="214837">
                <a:moveTo>
                  <a:pt x="107419" y="201410"/>
                </a:moveTo>
                <a:cubicBezTo>
                  <a:pt x="166750" y="201410"/>
                  <a:pt x="214837" y="156302"/>
                  <a:pt x="214837" y="100705"/>
                </a:cubicBezTo>
                <a:cubicBezTo>
                  <a:pt x="214837" y="45107"/>
                  <a:pt x="166750" y="0"/>
                  <a:pt x="107419" y="0"/>
                </a:cubicBezTo>
                <a:cubicBezTo>
                  <a:pt x="48087" y="0"/>
                  <a:pt x="0" y="45107"/>
                  <a:pt x="0" y="100705"/>
                </a:cubicBezTo>
                <a:cubicBezTo>
                  <a:pt x="0" y="123489"/>
                  <a:pt x="8056" y="144469"/>
                  <a:pt x="21652" y="161338"/>
                </a:cubicBezTo>
                <a:lnTo>
                  <a:pt x="1175" y="200067"/>
                </a:lnTo>
                <a:cubicBezTo>
                  <a:pt x="-839" y="203843"/>
                  <a:pt x="-210" y="208459"/>
                  <a:pt x="2685" y="211606"/>
                </a:cubicBezTo>
                <a:cubicBezTo>
                  <a:pt x="5581" y="214753"/>
                  <a:pt x="10154" y="215718"/>
                  <a:pt x="14057" y="214040"/>
                </a:cubicBezTo>
                <a:lnTo>
                  <a:pt x="63738" y="192766"/>
                </a:lnTo>
                <a:cubicBezTo>
                  <a:pt x="77081" y="198305"/>
                  <a:pt x="91851" y="201410"/>
                  <a:pt x="107419" y="201410"/>
                </a:cubicBezTo>
                <a:close/>
                <a:moveTo>
                  <a:pt x="53709" y="87278"/>
                </a:moveTo>
                <a:cubicBezTo>
                  <a:pt x="61120" y="87278"/>
                  <a:pt x="67137" y="93294"/>
                  <a:pt x="67137" y="100705"/>
                </a:cubicBezTo>
                <a:cubicBezTo>
                  <a:pt x="67137" y="108116"/>
                  <a:pt x="61120" y="114132"/>
                  <a:pt x="53709" y="114132"/>
                </a:cubicBezTo>
                <a:cubicBezTo>
                  <a:pt x="46299" y="114132"/>
                  <a:pt x="40282" y="108116"/>
                  <a:pt x="40282" y="100705"/>
                </a:cubicBezTo>
                <a:cubicBezTo>
                  <a:pt x="40282" y="93294"/>
                  <a:pt x="46299" y="87278"/>
                  <a:pt x="53709" y="87278"/>
                </a:cubicBezTo>
                <a:close/>
                <a:moveTo>
                  <a:pt x="107419" y="87278"/>
                </a:moveTo>
                <a:cubicBezTo>
                  <a:pt x="114829" y="87278"/>
                  <a:pt x="120846" y="93294"/>
                  <a:pt x="120846" y="100705"/>
                </a:cubicBezTo>
                <a:cubicBezTo>
                  <a:pt x="120846" y="108116"/>
                  <a:pt x="114829" y="114132"/>
                  <a:pt x="107419" y="114132"/>
                </a:cubicBezTo>
                <a:cubicBezTo>
                  <a:pt x="100008" y="114132"/>
                  <a:pt x="93991" y="108116"/>
                  <a:pt x="93991" y="100705"/>
                </a:cubicBezTo>
                <a:cubicBezTo>
                  <a:pt x="93991" y="93294"/>
                  <a:pt x="100008" y="87278"/>
                  <a:pt x="107419" y="87278"/>
                </a:cubicBezTo>
                <a:close/>
                <a:moveTo>
                  <a:pt x="147700" y="100705"/>
                </a:moveTo>
                <a:cubicBezTo>
                  <a:pt x="147700" y="93294"/>
                  <a:pt x="153717" y="87278"/>
                  <a:pt x="161128" y="87278"/>
                </a:cubicBezTo>
                <a:cubicBezTo>
                  <a:pt x="168538" y="87278"/>
                  <a:pt x="174555" y="93294"/>
                  <a:pt x="174555" y="100705"/>
                </a:cubicBezTo>
                <a:cubicBezTo>
                  <a:pt x="174555" y="108116"/>
                  <a:pt x="168538" y="114132"/>
                  <a:pt x="161128" y="114132"/>
                </a:cubicBezTo>
                <a:cubicBezTo>
                  <a:pt x="153717" y="114132"/>
                  <a:pt x="147700" y="108116"/>
                  <a:pt x="147700" y="100705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33" name="Text 31"/>
          <p:cNvSpPr/>
          <p:nvPr/>
        </p:nvSpPr>
        <p:spPr>
          <a:xfrm>
            <a:off x="10143403" y="2542238"/>
            <a:ext cx="1512811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Answer Generation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143403" y="2828687"/>
            <a:ext cx="1512811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Grounded response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58062" y="3509004"/>
            <a:ext cx="3705938" cy="2040952"/>
          </a:xfrm>
          <a:custGeom>
            <a:avLst/>
            <a:gdLst/>
            <a:ahLst/>
            <a:cxnLst/>
            <a:rect l="l" t="t" r="r" b="b"/>
            <a:pathLst>
              <a:path w="3705938" h="2040952">
                <a:moveTo>
                  <a:pt x="143234" y="0"/>
                </a:moveTo>
                <a:lnTo>
                  <a:pt x="3562704" y="0"/>
                </a:lnTo>
                <a:cubicBezTo>
                  <a:pt x="3641810" y="0"/>
                  <a:pt x="3705938" y="64128"/>
                  <a:pt x="3705938" y="143234"/>
                </a:cubicBezTo>
                <a:lnTo>
                  <a:pt x="3705938" y="1897718"/>
                </a:lnTo>
                <a:cubicBezTo>
                  <a:pt x="3705938" y="1976824"/>
                  <a:pt x="3641810" y="2040952"/>
                  <a:pt x="3562704" y="2040952"/>
                </a:cubicBezTo>
                <a:lnTo>
                  <a:pt x="143234" y="2040952"/>
                </a:lnTo>
                <a:cubicBezTo>
                  <a:pt x="64181" y="2040952"/>
                  <a:pt x="0" y="1976771"/>
                  <a:pt x="0" y="1897718"/>
                </a:cubicBezTo>
                <a:lnTo>
                  <a:pt x="0" y="143234"/>
                </a:lnTo>
                <a:cubicBezTo>
                  <a:pt x="0" y="64128"/>
                  <a:pt x="64128" y="0"/>
                  <a:pt x="143234" y="0"/>
                </a:cubicBezTo>
                <a:close/>
              </a:path>
            </a:pathLst>
          </a:custGeom>
          <a:gradFill flip="none" rotWithShape="1">
            <a:gsLst>
              <a:gs pos="0">
                <a:srgbClr val="1A3A5C"/>
              </a:gs>
              <a:gs pos="100000">
                <a:srgbClr val="5A7A96"/>
              </a:gs>
            </a:gsLst>
            <a:lin ang="2700000" scaled="1"/>
          </a:gradFill>
          <a:ln/>
          <a:effectLst>
            <a:outerShdw blurRad="223789" dist="17903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72899" y="3723841"/>
            <a:ext cx="501286" cy="501286"/>
          </a:xfrm>
          <a:custGeom>
            <a:avLst/>
            <a:gdLst/>
            <a:ahLst/>
            <a:cxnLst/>
            <a:rect l="l" t="t" r="r" b="b"/>
            <a:pathLst>
              <a:path w="501286" h="501286">
                <a:moveTo>
                  <a:pt x="107421" y="0"/>
                </a:moveTo>
                <a:lnTo>
                  <a:pt x="393866" y="0"/>
                </a:lnTo>
                <a:cubicBezTo>
                  <a:pt x="453153" y="0"/>
                  <a:pt x="501286" y="48134"/>
                  <a:pt x="501286" y="107421"/>
                </a:cubicBezTo>
                <a:lnTo>
                  <a:pt x="501286" y="393866"/>
                </a:lnTo>
                <a:cubicBezTo>
                  <a:pt x="501286" y="453153"/>
                  <a:pt x="453153" y="501286"/>
                  <a:pt x="393866" y="501286"/>
                </a:cubicBezTo>
                <a:lnTo>
                  <a:pt x="107421" y="501286"/>
                </a:lnTo>
                <a:cubicBezTo>
                  <a:pt x="48134" y="501286"/>
                  <a:pt x="0" y="453153"/>
                  <a:pt x="0" y="393866"/>
                </a:cubicBezTo>
                <a:lnTo>
                  <a:pt x="0" y="107421"/>
                </a:lnTo>
                <a:cubicBezTo>
                  <a:pt x="0" y="48134"/>
                  <a:pt x="48134" y="0"/>
                  <a:pt x="107421" y="0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37" name="Shape 35"/>
          <p:cNvSpPr/>
          <p:nvPr/>
        </p:nvSpPr>
        <p:spPr>
          <a:xfrm>
            <a:off x="742978" y="3867066"/>
            <a:ext cx="161128" cy="214837"/>
          </a:xfrm>
          <a:custGeom>
            <a:avLst/>
            <a:gdLst/>
            <a:ahLst/>
            <a:cxnLst/>
            <a:rect l="l" t="t" r="r" b="b"/>
            <a:pathLst>
              <a:path w="161128" h="214837">
                <a:moveTo>
                  <a:pt x="122902" y="161128"/>
                </a:moveTo>
                <a:cubicBezTo>
                  <a:pt x="125965" y="151771"/>
                  <a:pt x="132091" y="143295"/>
                  <a:pt x="139015" y="135994"/>
                </a:cubicBezTo>
                <a:cubicBezTo>
                  <a:pt x="152736" y="121559"/>
                  <a:pt x="161128" y="102048"/>
                  <a:pt x="161128" y="80564"/>
                </a:cubicBezTo>
                <a:cubicBezTo>
                  <a:pt x="161128" y="36086"/>
                  <a:pt x="125042" y="0"/>
                  <a:pt x="80564" y="0"/>
                </a:cubicBezTo>
                <a:cubicBezTo>
                  <a:pt x="36086" y="0"/>
                  <a:pt x="0" y="36086"/>
                  <a:pt x="0" y="80564"/>
                </a:cubicBezTo>
                <a:cubicBezTo>
                  <a:pt x="0" y="102048"/>
                  <a:pt x="8392" y="121559"/>
                  <a:pt x="22113" y="135994"/>
                </a:cubicBezTo>
                <a:cubicBezTo>
                  <a:pt x="29037" y="143295"/>
                  <a:pt x="35205" y="151771"/>
                  <a:pt x="38226" y="161128"/>
                </a:cubicBezTo>
                <a:lnTo>
                  <a:pt x="122860" y="161128"/>
                </a:lnTo>
                <a:close/>
                <a:moveTo>
                  <a:pt x="120846" y="181269"/>
                </a:moveTo>
                <a:lnTo>
                  <a:pt x="40282" y="181269"/>
                </a:lnTo>
                <a:lnTo>
                  <a:pt x="40282" y="187982"/>
                </a:lnTo>
                <a:cubicBezTo>
                  <a:pt x="40282" y="206529"/>
                  <a:pt x="55304" y="221551"/>
                  <a:pt x="73850" y="221551"/>
                </a:cubicBezTo>
                <a:lnTo>
                  <a:pt x="87278" y="221551"/>
                </a:lnTo>
                <a:cubicBezTo>
                  <a:pt x="105824" y="221551"/>
                  <a:pt x="120846" y="206529"/>
                  <a:pt x="120846" y="187982"/>
                </a:cubicBezTo>
                <a:lnTo>
                  <a:pt x="120846" y="181269"/>
                </a:lnTo>
                <a:close/>
                <a:moveTo>
                  <a:pt x="77207" y="46996"/>
                </a:moveTo>
                <a:cubicBezTo>
                  <a:pt x="60507" y="46996"/>
                  <a:pt x="46996" y="60507"/>
                  <a:pt x="46996" y="77207"/>
                </a:cubicBezTo>
                <a:cubicBezTo>
                  <a:pt x="46996" y="82788"/>
                  <a:pt x="42506" y="87278"/>
                  <a:pt x="36925" y="87278"/>
                </a:cubicBezTo>
                <a:cubicBezTo>
                  <a:pt x="31344" y="87278"/>
                  <a:pt x="26855" y="82788"/>
                  <a:pt x="26855" y="77207"/>
                </a:cubicBezTo>
                <a:cubicBezTo>
                  <a:pt x="26855" y="49387"/>
                  <a:pt x="49387" y="26855"/>
                  <a:pt x="77207" y="26855"/>
                </a:cubicBezTo>
                <a:cubicBezTo>
                  <a:pt x="82788" y="26855"/>
                  <a:pt x="87278" y="31344"/>
                  <a:pt x="87278" y="36925"/>
                </a:cubicBezTo>
                <a:cubicBezTo>
                  <a:pt x="87278" y="42506"/>
                  <a:pt x="82788" y="46996"/>
                  <a:pt x="77207" y="46996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1217410" y="3849163"/>
            <a:ext cx="1235313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F1F5F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Core Principle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72899" y="4368352"/>
            <a:ext cx="3347877" cy="93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RAG pipeline </a:t>
            </a:r>
            <a:r>
              <a:rPr lang="en-US" sz="1128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separates knowledge retrieval from language generation</a:t>
            </a:r>
            <a:r>
              <a:rPr lang="en-US" sz="1128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ensuring responses are grounded in verified documents rather than model hallucinations.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251237" y="3517956"/>
            <a:ext cx="3688035" cy="2023048"/>
          </a:xfrm>
          <a:custGeom>
            <a:avLst/>
            <a:gdLst/>
            <a:ahLst/>
            <a:cxnLst/>
            <a:rect l="l" t="t" r="r" b="b"/>
            <a:pathLst>
              <a:path w="3688035" h="2023048">
                <a:moveTo>
                  <a:pt x="143232" y="0"/>
                </a:moveTo>
                <a:lnTo>
                  <a:pt x="3544803" y="0"/>
                </a:lnTo>
                <a:cubicBezTo>
                  <a:pt x="3623908" y="0"/>
                  <a:pt x="3688035" y="64127"/>
                  <a:pt x="3688035" y="143232"/>
                </a:cubicBezTo>
                <a:lnTo>
                  <a:pt x="3688035" y="1879817"/>
                </a:lnTo>
                <a:cubicBezTo>
                  <a:pt x="3688035" y="1958921"/>
                  <a:pt x="3623908" y="2023048"/>
                  <a:pt x="3544803" y="2023048"/>
                </a:cubicBezTo>
                <a:lnTo>
                  <a:pt x="143232" y="2023048"/>
                </a:lnTo>
                <a:cubicBezTo>
                  <a:pt x="64127" y="2023048"/>
                  <a:pt x="0" y="1958921"/>
                  <a:pt x="0" y="1879817"/>
                </a:cubicBezTo>
                <a:lnTo>
                  <a:pt x="0" y="143232"/>
                </a:lnTo>
                <a:cubicBezTo>
                  <a:pt x="0" y="64180"/>
                  <a:pt x="64180" y="0"/>
                  <a:pt x="143232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3D8B8B">
                <a:alpha val="20000"/>
              </a:srgbClr>
            </a:solidFill>
            <a:prstDash val="solid"/>
          </a:ln>
          <a:effectLst>
            <a:outerShdw blurRad="223789" dist="17903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475025" y="3741744"/>
            <a:ext cx="501286" cy="501286"/>
          </a:xfrm>
          <a:custGeom>
            <a:avLst/>
            <a:gdLst/>
            <a:ahLst/>
            <a:cxnLst/>
            <a:rect l="l" t="t" r="r" b="b"/>
            <a:pathLst>
              <a:path w="501286" h="501286">
                <a:moveTo>
                  <a:pt x="107421" y="0"/>
                </a:moveTo>
                <a:lnTo>
                  <a:pt x="393866" y="0"/>
                </a:lnTo>
                <a:cubicBezTo>
                  <a:pt x="453153" y="0"/>
                  <a:pt x="501286" y="48134"/>
                  <a:pt x="501286" y="107421"/>
                </a:cubicBezTo>
                <a:lnTo>
                  <a:pt x="501286" y="393866"/>
                </a:lnTo>
                <a:cubicBezTo>
                  <a:pt x="501286" y="453153"/>
                  <a:pt x="453153" y="501286"/>
                  <a:pt x="393866" y="501286"/>
                </a:cubicBezTo>
                <a:lnTo>
                  <a:pt x="107421" y="501286"/>
                </a:lnTo>
                <a:cubicBezTo>
                  <a:pt x="48134" y="501286"/>
                  <a:pt x="0" y="453153"/>
                  <a:pt x="0" y="393866"/>
                </a:cubicBezTo>
                <a:lnTo>
                  <a:pt x="0" y="107421"/>
                </a:lnTo>
                <a:cubicBezTo>
                  <a:pt x="0" y="48134"/>
                  <a:pt x="48134" y="0"/>
                  <a:pt x="107421" y="0"/>
                </a:cubicBezTo>
                <a:close/>
              </a:path>
            </a:pathLst>
          </a:custGeom>
          <a:solidFill>
            <a:srgbClr val="3D8B8B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618250" y="3884969"/>
            <a:ext cx="214837" cy="214837"/>
          </a:xfrm>
          <a:custGeom>
            <a:avLst/>
            <a:gdLst/>
            <a:ahLst/>
            <a:cxnLst/>
            <a:rect l="l" t="t" r="r" b="b"/>
            <a:pathLst>
              <a:path w="214837" h="214837">
                <a:moveTo>
                  <a:pt x="107419" y="0"/>
                </a:moveTo>
                <a:cubicBezTo>
                  <a:pt x="109349" y="0"/>
                  <a:pt x="111279" y="420"/>
                  <a:pt x="113041" y="1217"/>
                </a:cubicBezTo>
                <a:lnTo>
                  <a:pt x="192094" y="34743"/>
                </a:lnTo>
                <a:cubicBezTo>
                  <a:pt x="201326" y="38645"/>
                  <a:pt x="208207" y="47751"/>
                  <a:pt x="208165" y="58744"/>
                </a:cubicBezTo>
                <a:cubicBezTo>
                  <a:pt x="207956" y="100369"/>
                  <a:pt x="190836" y="176527"/>
                  <a:pt x="118538" y="211144"/>
                </a:cubicBezTo>
                <a:cubicBezTo>
                  <a:pt x="111531" y="214501"/>
                  <a:pt x="103390" y="214501"/>
                  <a:pt x="96383" y="211144"/>
                </a:cubicBezTo>
                <a:cubicBezTo>
                  <a:pt x="24043" y="176527"/>
                  <a:pt x="6965" y="100369"/>
                  <a:pt x="6756" y="58744"/>
                </a:cubicBezTo>
                <a:cubicBezTo>
                  <a:pt x="6714" y="47751"/>
                  <a:pt x="13595" y="38645"/>
                  <a:pt x="22826" y="34743"/>
                </a:cubicBezTo>
                <a:lnTo>
                  <a:pt x="101838" y="1217"/>
                </a:lnTo>
                <a:cubicBezTo>
                  <a:pt x="103600" y="420"/>
                  <a:pt x="105488" y="0"/>
                  <a:pt x="107419" y="0"/>
                </a:cubicBezTo>
                <a:close/>
                <a:moveTo>
                  <a:pt x="107419" y="28030"/>
                </a:moveTo>
                <a:lnTo>
                  <a:pt x="107419" y="186682"/>
                </a:lnTo>
                <a:cubicBezTo>
                  <a:pt x="165324" y="158652"/>
                  <a:pt x="180891" y="96551"/>
                  <a:pt x="181269" y="59374"/>
                </a:cubicBezTo>
                <a:lnTo>
                  <a:pt x="107419" y="28071"/>
                </a:lnTo>
                <a:lnTo>
                  <a:pt x="107419" y="28071"/>
                </a:ln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43" name="Text 41"/>
          <p:cNvSpPr/>
          <p:nvPr/>
        </p:nvSpPr>
        <p:spPr>
          <a:xfrm>
            <a:off x="5119536" y="3867066"/>
            <a:ext cx="1754502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1A3A5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Accuracy Guarantee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475025" y="4386256"/>
            <a:ext cx="3312070" cy="93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retrieving relevant document chunks before generating responses, the system ensures </a:t>
            </a:r>
            <a:r>
              <a:rPr lang="en-US" sz="1128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factual accuracy</a:t>
            </a:r>
            <a:r>
              <a:rPr lang="en-US" sz="1128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r>
              <a:rPr lang="en-US" sz="1128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 compliance</a:t>
            </a:r>
            <a:r>
              <a:rPr lang="en-US" sz="1128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all academic advising interactions.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35553" y="3517956"/>
            <a:ext cx="3688035" cy="2023048"/>
          </a:xfrm>
          <a:custGeom>
            <a:avLst/>
            <a:gdLst/>
            <a:ahLst/>
            <a:cxnLst/>
            <a:rect l="l" t="t" r="r" b="b"/>
            <a:pathLst>
              <a:path w="3688035" h="2023048">
                <a:moveTo>
                  <a:pt x="143232" y="0"/>
                </a:moveTo>
                <a:lnTo>
                  <a:pt x="3544803" y="0"/>
                </a:lnTo>
                <a:cubicBezTo>
                  <a:pt x="3623908" y="0"/>
                  <a:pt x="3688035" y="64127"/>
                  <a:pt x="3688035" y="143232"/>
                </a:cubicBezTo>
                <a:lnTo>
                  <a:pt x="3688035" y="1879817"/>
                </a:lnTo>
                <a:cubicBezTo>
                  <a:pt x="3688035" y="1958921"/>
                  <a:pt x="3623908" y="2023048"/>
                  <a:pt x="3544803" y="2023048"/>
                </a:cubicBezTo>
                <a:lnTo>
                  <a:pt x="143232" y="2023048"/>
                </a:lnTo>
                <a:cubicBezTo>
                  <a:pt x="64127" y="2023048"/>
                  <a:pt x="0" y="1958921"/>
                  <a:pt x="0" y="1879817"/>
                </a:cubicBezTo>
                <a:lnTo>
                  <a:pt x="0" y="143232"/>
                </a:lnTo>
                <a:cubicBezTo>
                  <a:pt x="0" y="64180"/>
                  <a:pt x="64180" y="0"/>
                  <a:pt x="143232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1A3A5C">
                <a:alpha val="20000"/>
              </a:srgbClr>
            </a:solidFill>
            <a:prstDash val="solid"/>
          </a:ln>
          <a:effectLst>
            <a:outerShdw blurRad="223789" dist="17903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359341" y="3741744"/>
            <a:ext cx="501286" cy="501286"/>
          </a:xfrm>
          <a:custGeom>
            <a:avLst/>
            <a:gdLst/>
            <a:ahLst/>
            <a:cxnLst/>
            <a:rect l="l" t="t" r="r" b="b"/>
            <a:pathLst>
              <a:path w="501286" h="501286">
                <a:moveTo>
                  <a:pt x="107421" y="0"/>
                </a:moveTo>
                <a:lnTo>
                  <a:pt x="393866" y="0"/>
                </a:lnTo>
                <a:cubicBezTo>
                  <a:pt x="453153" y="0"/>
                  <a:pt x="501286" y="48134"/>
                  <a:pt x="501286" y="107421"/>
                </a:cubicBezTo>
                <a:lnTo>
                  <a:pt x="501286" y="393866"/>
                </a:lnTo>
                <a:cubicBezTo>
                  <a:pt x="501286" y="453153"/>
                  <a:pt x="453153" y="501286"/>
                  <a:pt x="393866" y="501286"/>
                </a:cubicBezTo>
                <a:lnTo>
                  <a:pt x="107421" y="501286"/>
                </a:lnTo>
                <a:cubicBezTo>
                  <a:pt x="48134" y="501286"/>
                  <a:pt x="0" y="453153"/>
                  <a:pt x="0" y="393866"/>
                </a:cubicBezTo>
                <a:lnTo>
                  <a:pt x="0" y="107421"/>
                </a:lnTo>
                <a:cubicBezTo>
                  <a:pt x="0" y="48134"/>
                  <a:pt x="48134" y="0"/>
                  <a:pt x="107421" y="0"/>
                </a:cubicBezTo>
                <a:close/>
              </a:path>
            </a:pathLst>
          </a:custGeom>
          <a:solidFill>
            <a:srgbClr val="1A3A5C">
              <a:alpha val="1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502566" y="3884969"/>
            <a:ext cx="214837" cy="214837"/>
          </a:xfrm>
          <a:custGeom>
            <a:avLst/>
            <a:gdLst/>
            <a:ahLst/>
            <a:cxnLst/>
            <a:rect l="l" t="t" r="r" b="b"/>
            <a:pathLst>
              <a:path w="214837" h="214837">
                <a:moveTo>
                  <a:pt x="201452" y="80564"/>
                </a:moveTo>
                <a:lnTo>
                  <a:pt x="204767" y="80564"/>
                </a:lnTo>
                <a:cubicBezTo>
                  <a:pt x="210347" y="80564"/>
                  <a:pt x="214837" y="76074"/>
                  <a:pt x="214837" y="70493"/>
                </a:cubicBezTo>
                <a:lnTo>
                  <a:pt x="214837" y="10070"/>
                </a:lnTo>
                <a:cubicBezTo>
                  <a:pt x="214837" y="6000"/>
                  <a:pt x="212403" y="2308"/>
                  <a:pt x="208627" y="755"/>
                </a:cubicBezTo>
                <a:cubicBezTo>
                  <a:pt x="204850" y="-797"/>
                  <a:pt x="200529" y="84"/>
                  <a:pt x="197633" y="2937"/>
                </a:cubicBezTo>
                <a:lnTo>
                  <a:pt x="175940" y="24673"/>
                </a:lnTo>
                <a:cubicBezTo>
                  <a:pt x="157351" y="9273"/>
                  <a:pt x="133434" y="0"/>
                  <a:pt x="107419" y="0"/>
                </a:cubicBezTo>
                <a:cubicBezTo>
                  <a:pt x="53290" y="0"/>
                  <a:pt x="8518" y="40030"/>
                  <a:pt x="1091" y="92103"/>
                </a:cubicBezTo>
                <a:cubicBezTo>
                  <a:pt x="42" y="99446"/>
                  <a:pt x="5119" y="106244"/>
                  <a:pt x="12462" y="107293"/>
                </a:cubicBezTo>
                <a:cubicBezTo>
                  <a:pt x="19805" y="108342"/>
                  <a:pt x="26603" y="103222"/>
                  <a:pt x="27652" y="95921"/>
                </a:cubicBezTo>
                <a:cubicBezTo>
                  <a:pt x="33233" y="56856"/>
                  <a:pt x="66843" y="26855"/>
                  <a:pt x="107419" y="26855"/>
                </a:cubicBezTo>
                <a:cubicBezTo>
                  <a:pt x="126049" y="26855"/>
                  <a:pt x="143169" y="33149"/>
                  <a:pt x="156806" y="43765"/>
                </a:cubicBezTo>
                <a:lnTo>
                  <a:pt x="137210" y="63360"/>
                </a:lnTo>
                <a:cubicBezTo>
                  <a:pt x="134315" y="66255"/>
                  <a:pt x="133476" y="70577"/>
                  <a:pt x="135028" y="74354"/>
                </a:cubicBezTo>
                <a:cubicBezTo>
                  <a:pt x="136581" y="78130"/>
                  <a:pt x="140273" y="80564"/>
                  <a:pt x="144344" y="80564"/>
                </a:cubicBezTo>
                <a:lnTo>
                  <a:pt x="201452" y="80564"/>
                </a:lnTo>
                <a:close/>
                <a:moveTo>
                  <a:pt x="213788" y="122734"/>
                </a:moveTo>
                <a:cubicBezTo>
                  <a:pt x="214837" y="115391"/>
                  <a:pt x="209718" y="108593"/>
                  <a:pt x="202417" y="107544"/>
                </a:cubicBezTo>
                <a:cubicBezTo>
                  <a:pt x="195116" y="106495"/>
                  <a:pt x="188276" y="111615"/>
                  <a:pt x="187227" y="118916"/>
                </a:cubicBezTo>
                <a:cubicBezTo>
                  <a:pt x="181646" y="157939"/>
                  <a:pt x="148036" y="187940"/>
                  <a:pt x="107460" y="187940"/>
                </a:cubicBezTo>
                <a:cubicBezTo>
                  <a:pt x="88830" y="187940"/>
                  <a:pt x="71710" y="181646"/>
                  <a:pt x="58073" y="171030"/>
                </a:cubicBezTo>
                <a:lnTo>
                  <a:pt x="77627" y="151477"/>
                </a:lnTo>
                <a:cubicBezTo>
                  <a:pt x="80522" y="148582"/>
                  <a:pt x="81361" y="144260"/>
                  <a:pt x="79809" y="140483"/>
                </a:cubicBezTo>
                <a:cubicBezTo>
                  <a:pt x="78256" y="136707"/>
                  <a:pt x="74564" y="134273"/>
                  <a:pt x="70493" y="134273"/>
                </a:cubicBezTo>
                <a:lnTo>
                  <a:pt x="10070" y="134273"/>
                </a:lnTo>
                <a:cubicBezTo>
                  <a:pt x="4490" y="134273"/>
                  <a:pt x="0" y="138763"/>
                  <a:pt x="0" y="144344"/>
                </a:cubicBezTo>
                <a:lnTo>
                  <a:pt x="0" y="204767"/>
                </a:lnTo>
                <a:cubicBezTo>
                  <a:pt x="0" y="208837"/>
                  <a:pt x="2434" y="212529"/>
                  <a:pt x="6210" y="214082"/>
                </a:cubicBezTo>
                <a:cubicBezTo>
                  <a:pt x="9987" y="215634"/>
                  <a:pt x="14308" y="214753"/>
                  <a:pt x="17204" y="211900"/>
                </a:cubicBezTo>
                <a:lnTo>
                  <a:pt x="38939" y="190164"/>
                </a:lnTo>
                <a:cubicBezTo>
                  <a:pt x="57486" y="205564"/>
                  <a:pt x="81403" y="214837"/>
                  <a:pt x="107419" y="214837"/>
                </a:cubicBezTo>
                <a:cubicBezTo>
                  <a:pt x="161547" y="214837"/>
                  <a:pt x="206319" y="174807"/>
                  <a:pt x="213746" y="122734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48" name="Text 46"/>
          <p:cNvSpPr/>
          <p:nvPr/>
        </p:nvSpPr>
        <p:spPr>
          <a:xfrm>
            <a:off x="9003852" y="3867066"/>
            <a:ext cx="1539665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1A3A5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Dynamic Updates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359341" y="4386256"/>
            <a:ext cx="3312070" cy="93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knowledge base can be </a:t>
            </a:r>
            <a:r>
              <a:rPr lang="en-US" sz="1128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updated without retraining</a:t>
            </a:r>
            <a:r>
              <a:rPr lang="en-US" sz="1128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model, enabling quick adaptation to changing academic policies and programme structures.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75965" y="5693181"/>
            <a:ext cx="11457974" cy="590802"/>
          </a:xfrm>
          <a:custGeom>
            <a:avLst/>
            <a:gdLst/>
            <a:ahLst/>
            <a:cxnLst/>
            <a:rect l="l" t="t" r="r" b="b"/>
            <a:pathLst>
              <a:path w="11457974" h="590802">
                <a:moveTo>
                  <a:pt x="35806" y="0"/>
                </a:moveTo>
                <a:lnTo>
                  <a:pt x="11350554" y="0"/>
                </a:lnTo>
                <a:cubicBezTo>
                  <a:pt x="11409880" y="0"/>
                  <a:pt x="11457974" y="48093"/>
                  <a:pt x="11457974" y="107420"/>
                </a:cubicBezTo>
                <a:lnTo>
                  <a:pt x="11457974" y="483382"/>
                </a:lnTo>
                <a:cubicBezTo>
                  <a:pt x="11457974" y="542708"/>
                  <a:pt x="11409880" y="590802"/>
                  <a:pt x="11350554" y="590802"/>
                </a:cubicBezTo>
                <a:lnTo>
                  <a:pt x="35806" y="590802"/>
                </a:lnTo>
                <a:cubicBezTo>
                  <a:pt x="16031" y="590802"/>
                  <a:pt x="0" y="574771"/>
                  <a:pt x="0" y="554996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3D8B8B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375965" y="5693181"/>
            <a:ext cx="35806" cy="590802"/>
          </a:xfrm>
          <a:custGeom>
            <a:avLst/>
            <a:gdLst/>
            <a:ahLst/>
            <a:cxnLst/>
            <a:rect l="l" t="t" r="r" b="b"/>
            <a:pathLst>
              <a:path w="35806" h="590802">
                <a:moveTo>
                  <a:pt x="35806" y="0"/>
                </a:moveTo>
                <a:lnTo>
                  <a:pt x="35806" y="0"/>
                </a:lnTo>
                <a:lnTo>
                  <a:pt x="35806" y="590802"/>
                </a:lnTo>
                <a:lnTo>
                  <a:pt x="35806" y="590802"/>
                </a:lnTo>
                <a:cubicBezTo>
                  <a:pt x="16031" y="590802"/>
                  <a:pt x="0" y="574771"/>
                  <a:pt x="0" y="554996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52" name="Shape 50"/>
          <p:cNvSpPr/>
          <p:nvPr/>
        </p:nvSpPr>
        <p:spPr>
          <a:xfrm>
            <a:off x="590802" y="5908018"/>
            <a:ext cx="143225" cy="143225"/>
          </a:xfrm>
          <a:custGeom>
            <a:avLst/>
            <a:gdLst/>
            <a:ahLst/>
            <a:cxnLst/>
            <a:rect l="l" t="t" r="r" b="b"/>
            <a:pathLst>
              <a:path w="143225" h="143225">
                <a:moveTo>
                  <a:pt x="71612" y="143225"/>
                </a:moveTo>
                <a:cubicBezTo>
                  <a:pt x="111136" y="143225"/>
                  <a:pt x="143225" y="111136"/>
                  <a:pt x="143225" y="71612"/>
                </a:cubicBezTo>
                <a:cubicBezTo>
                  <a:pt x="143225" y="32088"/>
                  <a:pt x="111136" y="0"/>
                  <a:pt x="71612" y="0"/>
                </a:cubicBezTo>
                <a:cubicBezTo>
                  <a:pt x="32088" y="0"/>
                  <a:pt x="0" y="32088"/>
                  <a:pt x="0" y="71612"/>
                </a:cubicBezTo>
                <a:cubicBezTo>
                  <a:pt x="0" y="111136"/>
                  <a:pt x="32088" y="143225"/>
                  <a:pt x="71612" y="143225"/>
                </a:cubicBezTo>
                <a:close/>
                <a:moveTo>
                  <a:pt x="62661" y="44758"/>
                </a:moveTo>
                <a:cubicBezTo>
                  <a:pt x="62661" y="39817"/>
                  <a:pt x="66672" y="35806"/>
                  <a:pt x="71612" y="35806"/>
                </a:cubicBezTo>
                <a:cubicBezTo>
                  <a:pt x="76553" y="35806"/>
                  <a:pt x="80564" y="39817"/>
                  <a:pt x="80564" y="44758"/>
                </a:cubicBezTo>
                <a:cubicBezTo>
                  <a:pt x="80564" y="49698"/>
                  <a:pt x="76553" y="53709"/>
                  <a:pt x="71612" y="53709"/>
                </a:cubicBezTo>
                <a:cubicBezTo>
                  <a:pt x="66672" y="53709"/>
                  <a:pt x="62661" y="49698"/>
                  <a:pt x="62661" y="44758"/>
                </a:cubicBezTo>
                <a:close/>
                <a:moveTo>
                  <a:pt x="60423" y="62661"/>
                </a:moveTo>
                <a:lnTo>
                  <a:pt x="73850" y="62661"/>
                </a:lnTo>
                <a:cubicBezTo>
                  <a:pt x="77571" y="62661"/>
                  <a:pt x="80564" y="65654"/>
                  <a:pt x="80564" y="69374"/>
                </a:cubicBezTo>
                <a:lnTo>
                  <a:pt x="80564" y="93991"/>
                </a:lnTo>
                <a:lnTo>
                  <a:pt x="82802" y="93991"/>
                </a:lnTo>
                <a:cubicBezTo>
                  <a:pt x="86522" y="93991"/>
                  <a:pt x="89515" y="96984"/>
                  <a:pt x="89515" y="100705"/>
                </a:cubicBezTo>
                <a:cubicBezTo>
                  <a:pt x="89515" y="104425"/>
                  <a:pt x="86522" y="107419"/>
                  <a:pt x="82802" y="107419"/>
                </a:cubicBezTo>
                <a:lnTo>
                  <a:pt x="60423" y="107419"/>
                </a:lnTo>
                <a:cubicBezTo>
                  <a:pt x="56702" y="107419"/>
                  <a:pt x="53709" y="104425"/>
                  <a:pt x="53709" y="100705"/>
                </a:cubicBezTo>
                <a:cubicBezTo>
                  <a:pt x="53709" y="96984"/>
                  <a:pt x="56702" y="93991"/>
                  <a:pt x="60423" y="93991"/>
                </a:cubicBezTo>
                <a:lnTo>
                  <a:pt x="67137" y="93991"/>
                </a:lnTo>
                <a:lnTo>
                  <a:pt x="67137" y="76088"/>
                </a:lnTo>
                <a:lnTo>
                  <a:pt x="60423" y="76088"/>
                </a:lnTo>
                <a:cubicBezTo>
                  <a:pt x="56702" y="76088"/>
                  <a:pt x="53709" y="73095"/>
                  <a:pt x="53709" y="69374"/>
                </a:cubicBezTo>
                <a:cubicBezTo>
                  <a:pt x="53709" y="65654"/>
                  <a:pt x="56702" y="62661"/>
                  <a:pt x="60423" y="62661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53" name="Text 51"/>
          <p:cNvSpPr/>
          <p:nvPr/>
        </p:nvSpPr>
        <p:spPr>
          <a:xfrm>
            <a:off x="802405" y="5872211"/>
            <a:ext cx="10924115" cy="232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Flow:</a:t>
            </a:r>
            <a:r>
              <a:rPr lang="en-US" sz="1128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Academic documents → QA pairs → Chunks → Tagged categories → Vector embeddings → Similarity retrieval → Grounded answer generation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88" dirty="0">
                <a:solidFill>
                  <a:srgbClr val="3D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/ RAG Pipeline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A3A5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RAG Pipeline: Detailed Steps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1095375"/>
            <a:ext cx="3770313" cy="1952625"/>
          </a:xfrm>
          <a:custGeom>
            <a:avLst/>
            <a:gdLst/>
            <a:ahLst/>
            <a:cxnLst/>
            <a:rect l="l" t="t" r="r" b="b"/>
            <a:pathLst>
              <a:path w="3770313" h="1952625">
                <a:moveTo>
                  <a:pt x="31750" y="0"/>
                </a:moveTo>
                <a:lnTo>
                  <a:pt x="3738563" y="0"/>
                </a:lnTo>
                <a:cubicBezTo>
                  <a:pt x="3756098" y="0"/>
                  <a:pt x="3770313" y="14215"/>
                  <a:pt x="3770313" y="31750"/>
                </a:cubicBezTo>
                <a:lnTo>
                  <a:pt x="3770313" y="1825626"/>
                </a:lnTo>
                <a:cubicBezTo>
                  <a:pt x="3770313" y="1895766"/>
                  <a:pt x="3713453" y="1952625"/>
                  <a:pt x="3643314" y="1952625"/>
                </a:cubicBezTo>
                <a:lnTo>
                  <a:pt x="126999" y="1952625"/>
                </a:lnTo>
                <a:cubicBezTo>
                  <a:pt x="56859" y="1952625"/>
                  <a:pt x="0" y="1895766"/>
                  <a:pt x="0" y="1825626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98438" dist="158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17500" y="1095375"/>
            <a:ext cx="3770313" cy="31750"/>
          </a:xfrm>
          <a:custGeom>
            <a:avLst/>
            <a:gdLst/>
            <a:ahLst/>
            <a:cxnLst/>
            <a:rect l="l" t="t" r="r" b="b"/>
            <a:pathLst>
              <a:path w="3770313" h="31750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6" name="Shape 4"/>
          <p:cNvSpPr/>
          <p:nvPr/>
        </p:nvSpPr>
        <p:spPr>
          <a:xfrm>
            <a:off x="476250" y="1270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7" name="Text 5"/>
          <p:cNvSpPr/>
          <p:nvPr/>
        </p:nvSpPr>
        <p:spPr>
          <a:xfrm>
            <a:off x="641532" y="1349375"/>
            <a:ext cx="127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2500" y="1349375"/>
            <a:ext cx="1262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QA Pair Generation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6250" y="1778000"/>
            <a:ext cx="35163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 academic documents into structured question-answer pairs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6250" y="2286000"/>
            <a:ext cx="3452813" cy="603250"/>
          </a:xfrm>
          <a:custGeom>
            <a:avLst/>
            <a:gdLst/>
            <a:ahLst/>
            <a:cxnLst/>
            <a:rect l="l" t="t" r="r" b="b"/>
            <a:pathLst>
              <a:path w="3452813" h="603250">
                <a:moveTo>
                  <a:pt x="63498" y="0"/>
                </a:moveTo>
                <a:lnTo>
                  <a:pt x="3389314" y="0"/>
                </a:lnTo>
                <a:cubicBezTo>
                  <a:pt x="3424383" y="0"/>
                  <a:pt x="3452813" y="28429"/>
                  <a:pt x="3452813" y="63498"/>
                </a:cubicBezTo>
                <a:lnTo>
                  <a:pt x="3452813" y="539752"/>
                </a:lnTo>
                <a:cubicBezTo>
                  <a:pt x="3452813" y="574821"/>
                  <a:pt x="3424383" y="603250"/>
                  <a:pt x="3389314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3A5C">
              <a:alpha val="5098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71500" y="2381250"/>
            <a:ext cx="3317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2603500"/>
            <a:ext cx="3325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Programme handbooks, course catalogs, policy documents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12167" y="1095375"/>
            <a:ext cx="3770313" cy="1952625"/>
          </a:xfrm>
          <a:custGeom>
            <a:avLst/>
            <a:gdLst/>
            <a:ahLst/>
            <a:cxnLst/>
            <a:rect l="l" t="t" r="r" b="b"/>
            <a:pathLst>
              <a:path w="3770313" h="1952625">
                <a:moveTo>
                  <a:pt x="31750" y="0"/>
                </a:moveTo>
                <a:lnTo>
                  <a:pt x="3738563" y="0"/>
                </a:lnTo>
                <a:cubicBezTo>
                  <a:pt x="3756098" y="0"/>
                  <a:pt x="3770313" y="14215"/>
                  <a:pt x="3770313" y="31750"/>
                </a:cubicBezTo>
                <a:lnTo>
                  <a:pt x="3770313" y="1825626"/>
                </a:lnTo>
                <a:cubicBezTo>
                  <a:pt x="3770313" y="1895766"/>
                  <a:pt x="3713453" y="1952625"/>
                  <a:pt x="3643314" y="1952625"/>
                </a:cubicBezTo>
                <a:lnTo>
                  <a:pt x="126999" y="1952625"/>
                </a:lnTo>
                <a:cubicBezTo>
                  <a:pt x="56859" y="1952625"/>
                  <a:pt x="0" y="1895766"/>
                  <a:pt x="0" y="1825626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98438" dist="158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12167" y="1095375"/>
            <a:ext cx="3770313" cy="31750"/>
          </a:xfrm>
          <a:custGeom>
            <a:avLst/>
            <a:gdLst/>
            <a:ahLst/>
            <a:cxnLst/>
            <a:rect l="l" t="t" r="r" b="b"/>
            <a:pathLst>
              <a:path w="3770313" h="31750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A7A96"/>
          </a:solidFill>
          <a:ln/>
        </p:spPr>
      </p:sp>
      <p:sp>
        <p:nvSpPr>
          <p:cNvPr id="15" name="Shape 13"/>
          <p:cNvSpPr/>
          <p:nvPr/>
        </p:nvSpPr>
        <p:spPr>
          <a:xfrm>
            <a:off x="4370917" y="1270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5A7A96"/>
          </a:solidFill>
          <a:ln/>
        </p:spPr>
      </p:sp>
      <p:sp>
        <p:nvSpPr>
          <p:cNvPr id="16" name="Text 14"/>
          <p:cNvSpPr/>
          <p:nvPr/>
        </p:nvSpPr>
        <p:spPr>
          <a:xfrm>
            <a:off x="4520985" y="1349375"/>
            <a:ext cx="158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7167" y="1349375"/>
            <a:ext cx="1357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Chunking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70917" y="1778000"/>
            <a:ext cx="351631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Split documents into small semantic units for precise retrieval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70917" y="2079625"/>
            <a:ext cx="3452813" cy="603250"/>
          </a:xfrm>
          <a:custGeom>
            <a:avLst/>
            <a:gdLst/>
            <a:ahLst/>
            <a:cxnLst/>
            <a:rect l="l" t="t" r="r" b="b"/>
            <a:pathLst>
              <a:path w="3452813" h="603250">
                <a:moveTo>
                  <a:pt x="63498" y="0"/>
                </a:moveTo>
                <a:lnTo>
                  <a:pt x="3389314" y="0"/>
                </a:lnTo>
                <a:cubicBezTo>
                  <a:pt x="3424383" y="0"/>
                  <a:pt x="3452813" y="28429"/>
                  <a:pt x="3452813" y="63498"/>
                </a:cubicBezTo>
                <a:lnTo>
                  <a:pt x="3452813" y="539752"/>
                </a:lnTo>
                <a:cubicBezTo>
                  <a:pt x="3452813" y="574821"/>
                  <a:pt x="3424383" y="603250"/>
                  <a:pt x="3389314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5A7A96">
              <a:alpha val="5098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466167" y="2174875"/>
            <a:ext cx="3317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66167" y="2397125"/>
            <a:ext cx="3325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 chunking with overlap for context preservation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06834" y="1095375"/>
            <a:ext cx="3770313" cy="1952625"/>
          </a:xfrm>
          <a:custGeom>
            <a:avLst/>
            <a:gdLst/>
            <a:ahLst/>
            <a:cxnLst/>
            <a:rect l="l" t="t" r="r" b="b"/>
            <a:pathLst>
              <a:path w="3770313" h="1952625">
                <a:moveTo>
                  <a:pt x="31750" y="0"/>
                </a:moveTo>
                <a:lnTo>
                  <a:pt x="3738563" y="0"/>
                </a:lnTo>
                <a:cubicBezTo>
                  <a:pt x="3756098" y="0"/>
                  <a:pt x="3770313" y="14215"/>
                  <a:pt x="3770313" y="31750"/>
                </a:cubicBezTo>
                <a:lnTo>
                  <a:pt x="3770313" y="1825626"/>
                </a:lnTo>
                <a:cubicBezTo>
                  <a:pt x="3770313" y="1895766"/>
                  <a:pt x="3713453" y="1952625"/>
                  <a:pt x="3643314" y="1952625"/>
                </a:cubicBezTo>
                <a:lnTo>
                  <a:pt x="126999" y="1952625"/>
                </a:lnTo>
                <a:cubicBezTo>
                  <a:pt x="56859" y="1952625"/>
                  <a:pt x="0" y="1895766"/>
                  <a:pt x="0" y="1825626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98438" dist="158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06834" y="1095375"/>
            <a:ext cx="3770313" cy="31750"/>
          </a:xfrm>
          <a:custGeom>
            <a:avLst/>
            <a:gdLst/>
            <a:ahLst/>
            <a:cxnLst/>
            <a:rect l="l" t="t" r="r" b="b"/>
            <a:pathLst>
              <a:path w="3770313" h="31750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24" name="Shape 22"/>
          <p:cNvSpPr/>
          <p:nvPr/>
        </p:nvSpPr>
        <p:spPr>
          <a:xfrm>
            <a:off x="8265584" y="1270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25" name="Text 23"/>
          <p:cNvSpPr/>
          <p:nvPr/>
        </p:nvSpPr>
        <p:spPr>
          <a:xfrm>
            <a:off x="8413585" y="1349375"/>
            <a:ext cx="16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41834" y="1349375"/>
            <a:ext cx="1420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Chunk Differentiation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65584" y="1778000"/>
            <a:ext cx="351631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Tag chunks by academic category for targeted retrieval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65584" y="2079625"/>
            <a:ext cx="3452813" cy="603250"/>
          </a:xfrm>
          <a:custGeom>
            <a:avLst/>
            <a:gdLst/>
            <a:ahLst/>
            <a:cxnLst/>
            <a:rect l="l" t="t" r="r" b="b"/>
            <a:pathLst>
              <a:path w="3452813" h="603250">
                <a:moveTo>
                  <a:pt x="63498" y="0"/>
                </a:moveTo>
                <a:lnTo>
                  <a:pt x="3389314" y="0"/>
                </a:lnTo>
                <a:cubicBezTo>
                  <a:pt x="3424383" y="0"/>
                  <a:pt x="3452813" y="28429"/>
                  <a:pt x="3452813" y="63498"/>
                </a:cubicBezTo>
                <a:lnTo>
                  <a:pt x="3452813" y="539752"/>
                </a:lnTo>
                <a:cubicBezTo>
                  <a:pt x="3452813" y="574821"/>
                  <a:pt x="3424383" y="603250"/>
                  <a:pt x="3389314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3D8B8B">
              <a:alpha val="5098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360834" y="2174875"/>
            <a:ext cx="3317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Categories: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60834" y="2397125"/>
            <a:ext cx="3325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Programme structure, prerequisites, policies, procedures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17500" y="3190875"/>
            <a:ext cx="3770313" cy="1952625"/>
          </a:xfrm>
          <a:custGeom>
            <a:avLst/>
            <a:gdLst/>
            <a:ahLst/>
            <a:cxnLst/>
            <a:rect l="l" t="t" r="r" b="b"/>
            <a:pathLst>
              <a:path w="3770313" h="1952625">
                <a:moveTo>
                  <a:pt x="31750" y="0"/>
                </a:moveTo>
                <a:lnTo>
                  <a:pt x="3738563" y="0"/>
                </a:lnTo>
                <a:cubicBezTo>
                  <a:pt x="3756098" y="0"/>
                  <a:pt x="3770313" y="14215"/>
                  <a:pt x="3770313" y="31750"/>
                </a:cubicBezTo>
                <a:lnTo>
                  <a:pt x="3770313" y="1825626"/>
                </a:lnTo>
                <a:cubicBezTo>
                  <a:pt x="3770313" y="1895766"/>
                  <a:pt x="3713453" y="1952625"/>
                  <a:pt x="3643314" y="1952625"/>
                </a:cubicBezTo>
                <a:lnTo>
                  <a:pt x="126999" y="1952625"/>
                </a:lnTo>
                <a:cubicBezTo>
                  <a:pt x="56859" y="1952625"/>
                  <a:pt x="0" y="1895766"/>
                  <a:pt x="0" y="1825626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98438" dist="158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7500" y="3190875"/>
            <a:ext cx="3770313" cy="31750"/>
          </a:xfrm>
          <a:custGeom>
            <a:avLst/>
            <a:gdLst/>
            <a:ahLst/>
            <a:cxnLst/>
            <a:rect l="l" t="t" r="r" b="b"/>
            <a:pathLst>
              <a:path w="3770313" h="31750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33" name="Shape 31"/>
          <p:cNvSpPr/>
          <p:nvPr/>
        </p:nvSpPr>
        <p:spPr>
          <a:xfrm>
            <a:off x="476250" y="3365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A3A5C"/>
          </a:solidFill>
          <a:ln/>
        </p:spPr>
      </p:sp>
      <p:sp>
        <p:nvSpPr>
          <p:cNvPr id="34" name="Text 32"/>
          <p:cNvSpPr/>
          <p:nvPr/>
        </p:nvSpPr>
        <p:spPr>
          <a:xfrm>
            <a:off x="626401" y="3444875"/>
            <a:ext cx="158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52500" y="3444875"/>
            <a:ext cx="793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Embedding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76250" y="3873500"/>
            <a:ext cx="35163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 chunks into vector representations for similarity search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76250" y="4381500"/>
            <a:ext cx="3452813" cy="603250"/>
          </a:xfrm>
          <a:custGeom>
            <a:avLst/>
            <a:gdLst/>
            <a:ahLst/>
            <a:cxnLst/>
            <a:rect l="l" t="t" r="r" b="b"/>
            <a:pathLst>
              <a:path w="3452813" h="603250">
                <a:moveTo>
                  <a:pt x="63498" y="0"/>
                </a:moveTo>
                <a:lnTo>
                  <a:pt x="3389314" y="0"/>
                </a:lnTo>
                <a:cubicBezTo>
                  <a:pt x="3424383" y="0"/>
                  <a:pt x="3452813" y="28429"/>
                  <a:pt x="3452813" y="63498"/>
                </a:cubicBezTo>
                <a:lnTo>
                  <a:pt x="3452813" y="539752"/>
                </a:lnTo>
                <a:cubicBezTo>
                  <a:pt x="3452813" y="574821"/>
                  <a:pt x="3424383" y="603250"/>
                  <a:pt x="3389314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3A5C">
              <a:alpha val="5098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71500" y="4476750"/>
            <a:ext cx="3317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Model: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71500" y="4699000"/>
            <a:ext cx="3325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Sentence transformers for semantic embeddings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212167" y="3190875"/>
            <a:ext cx="3770313" cy="1952625"/>
          </a:xfrm>
          <a:custGeom>
            <a:avLst/>
            <a:gdLst/>
            <a:ahLst/>
            <a:cxnLst/>
            <a:rect l="l" t="t" r="r" b="b"/>
            <a:pathLst>
              <a:path w="3770313" h="1952625">
                <a:moveTo>
                  <a:pt x="31750" y="0"/>
                </a:moveTo>
                <a:lnTo>
                  <a:pt x="3738563" y="0"/>
                </a:lnTo>
                <a:cubicBezTo>
                  <a:pt x="3756098" y="0"/>
                  <a:pt x="3770313" y="14215"/>
                  <a:pt x="3770313" y="31750"/>
                </a:cubicBezTo>
                <a:lnTo>
                  <a:pt x="3770313" y="1825626"/>
                </a:lnTo>
                <a:cubicBezTo>
                  <a:pt x="3770313" y="1895766"/>
                  <a:pt x="3713453" y="1952625"/>
                  <a:pt x="3643314" y="1952625"/>
                </a:cubicBezTo>
                <a:lnTo>
                  <a:pt x="126999" y="1952625"/>
                </a:lnTo>
                <a:cubicBezTo>
                  <a:pt x="56859" y="1952625"/>
                  <a:pt x="0" y="1895766"/>
                  <a:pt x="0" y="1825626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98438" dist="158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212167" y="3190875"/>
            <a:ext cx="3770313" cy="31750"/>
          </a:xfrm>
          <a:custGeom>
            <a:avLst/>
            <a:gdLst/>
            <a:ahLst/>
            <a:cxnLst/>
            <a:rect l="l" t="t" r="r" b="b"/>
            <a:pathLst>
              <a:path w="3770313" h="31750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A7A96"/>
          </a:solidFill>
          <a:ln/>
        </p:spPr>
      </p:sp>
      <p:sp>
        <p:nvSpPr>
          <p:cNvPr id="42" name="Shape 40"/>
          <p:cNvSpPr/>
          <p:nvPr/>
        </p:nvSpPr>
        <p:spPr>
          <a:xfrm>
            <a:off x="4370917" y="3365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5A7A96"/>
          </a:solidFill>
          <a:ln/>
        </p:spPr>
      </p:sp>
      <p:sp>
        <p:nvSpPr>
          <p:cNvPr id="43" name="Text 41"/>
          <p:cNvSpPr/>
          <p:nvPr/>
        </p:nvSpPr>
        <p:spPr>
          <a:xfrm>
            <a:off x="4518670" y="3444875"/>
            <a:ext cx="16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847167" y="3444875"/>
            <a:ext cx="627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Retrieval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370917" y="3873500"/>
            <a:ext cx="351631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Retrieve relevant chunks using similarity search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370917" y="4175125"/>
            <a:ext cx="3452813" cy="603250"/>
          </a:xfrm>
          <a:custGeom>
            <a:avLst/>
            <a:gdLst/>
            <a:ahLst/>
            <a:cxnLst/>
            <a:rect l="l" t="t" r="r" b="b"/>
            <a:pathLst>
              <a:path w="3452813" h="603250">
                <a:moveTo>
                  <a:pt x="63498" y="0"/>
                </a:moveTo>
                <a:lnTo>
                  <a:pt x="3389314" y="0"/>
                </a:lnTo>
                <a:cubicBezTo>
                  <a:pt x="3424383" y="0"/>
                  <a:pt x="3452813" y="28429"/>
                  <a:pt x="3452813" y="63498"/>
                </a:cubicBezTo>
                <a:lnTo>
                  <a:pt x="3452813" y="539752"/>
                </a:lnTo>
                <a:cubicBezTo>
                  <a:pt x="3452813" y="574821"/>
                  <a:pt x="3424383" y="603250"/>
                  <a:pt x="3389314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5A7A96">
              <a:alpha val="5098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4466167" y="4270375"/>
            <a:ext cx="3317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Method: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466167" y="4492625"/>
            <a:ext cx="3325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Cosine similarity in vector database (e.g., FAISS, Pinecone)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106834" y="3190875"/>
            <a:ext cx="3770313" cy="1952625"/>
          </a:xfrm>
          <a:custGeom>
            <a:avLst/>
            <a:gdLst/>
            <a:ahLst/>
            <a:cxnLst/>
            <a:rect l="l" t="t" r="r" b="b"/>
            <a:pathLst>
              <a:path w="3770313" h="1952625">
                <a:moveTo>
                  <a:pt x="31750" y="0"/>
                </a:moveTo>
                <a:lnTo>
                  <a:pt x="3738563" y="0"/>
                </a:lnTo>
                <a:cubicBezTo>
                  <a:pt x="3756098" y="0"/>
                  <a:pt x="3770313" y="14215"/>
                  <a:pt x="3770313" y="31750"/>
                </a:cubicBezTo>
                <a:lnTo>
                  <a:pt x="3770313" y="1825626"/>
                </a:lnTo>
                <a:cubicBezTo>
                  <a:pt x="3770313" y="1895766"/>
                  <a:pt x="3713453" y="1952625"/>
                  <a:pt x="3643314" y="1952625"/>
                </a:cubicBezTo>
                <a:lnTo>
                  <a:pt x="126999" y="1952625"/>
                </a:lnTo>
                <a:cubicBezTo>
                  <a:pt x="56859" y="1952625"/>
                  <a:pt x="0" y="1895766"/>
                  <a:pt x="0" y="1825626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98438" dist="158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106834" y="3190875"/>
            <a:ext cx="3770313" cy="31750"/>
          </a:xfrm>
          <a:custGeom>
            <a:avLst/>
            <a:gdLst/>
            <a:ahLst/>
            <a:cxnLst/>
            <a:rect l="l" t="t" r="r" b="b"/>
            <a:pathLst>
              <a:path w="3770313" h="31750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51" name="Shape 49"/>
          <p:cNvSpPr/>
          <p:nvPr/>
        </p:nvSpPr>
        <p:spPr>
          <a:xfrm>
            <a:off x="8265584" y="3365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52" name="Text 50"/>
          <p:cNvSpPr/>
          <p:nvPr/>
        </p:nvSpPr>
        <p:spPr>
          <a:xfrm>
            <a:off x="8412345" y="3444875"/>
            <a:ext cx="16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741834" y="3444875"/>
            <a:ext cx="1270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A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Answer Generation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265584" y="3873500"/>
            <a:ext cx="351631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1E293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responses grounded in retrieved content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265584" y="4175125"/>
            <a:ext cx="3452813" cy="603250"/>
          </a:xfrm>
          <a:custGeom>
            <a:avLst/>
            <a:gdLst/>
            <a:ahLst/>
            <a:cxnLst/>
            <a:rect l="l" t="t" r="r" b="b"/>
            <a:pathLst>
              <a:path w="3452813" h="603250">
                <a:moveTo>
                  <a:pt x="63498" y="0"/>
                </a:moveTo>
                <a:lnTo>
                  <a:pt x="3389314" y="0"/>
                </a:lnTo>
                <a:cubicBezTo>
                  <a:pt x="3424383" y="0"/>
                  <a:pt x="3452813" y="28429"/>
                  <a:pt x="3452813" y="63498"/>
                </a:cubicBezTo>
                <a:lnTo>
                  <a:pt x="3452813" y="539752"/>
                </a:lnTo>
                <a:cubicBezTo>
                  <a:pt x="3452813" y="574821"/>
                  <a:pt x="3424383" y="603250"/>
                  <a:pt x="3389314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3D8B8B">
              <a:alpha val="5098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8360834" y="4270375"/>
            <a:ext cx="3317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Output: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360834" y="4492625"/>
            <a:ext cx="3325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Factual, contextually relevant academic advising responses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17500" y="5270500"/>
            <a:ext cx="11557000" cy="1143000"/>
          </a:xfrm>
          <a:custGeom>
            <a:avLst/>
            <a:gdLst/>
            <a:ahLst/>
            <a:cxnLst/>
            <a:rect l="l" t="t" r="r" b="b"/>
            <a:pathLst>
              <a:path w="11557000" h="1143000">
                <a:moveTo>
                  <a:pt x="126999" y="0"/>
                </a:moveTo>
                <a:lnTo>
                  <a:pt x="11430001" y="0"/>
                </a:lnTo>
                <a:cubicBezTo>
                  <a:pt x="11500141" y="0"/>
                  <a:pt x="11557000" y="56859"/>
                  <a:pt x="11557000" y="126999"/>
                </a:cubicBezTo>
                <a:lnTo>
                  <a:pt x="11557000" y="1016001"/>
                </a:lnTo>
                <a:cubicBezTo>
                  <a:pt x="11557000" y="1086141"/>
                  <a:pt x="11500141" y="1143000"/>
                  <a:pt x="11430001" y="1143000"/>
                </a:cubicBezTo>
                <a:lnTo>
                  <a:pt x="126999" y="1143000"/>
                </a:lnTo>
                <a:cubicBezTo>
                  <a:pt x="56859" y="1143000"/>
                  <a:pt x="0" y="1086141"/>
                  <a:pt x="0" y="1016001"/>
                </a:cubicBezTo>
                <a:lnTo>
                  <a:pt x="0" y="126999"/>
                </a:lnTo>
                <a:cubicBezTo>
                  <a:pt x="0" y="56906"/>
                  <a:pt x="56906" y="0"/>
                  <a:pt x="126999" y="0"/>
                </a:cubicBezTo>
                <a:close/>
              </a:path>
            </a:pathLst>
          </a:custGeom>
          <a:gradFill flip="none" rotWithShape="1">
            <a:gsLst>
              <a:gs pos="0">
                <a:srgbClr val="1A3A5C"/>
              </a:gs>
              <a:gs pos="100000">
                <a:srgbClr val="3D8B8B"/>
              </a:gs>
            </a:gsLst>
            <a:lin ang="0" scaled="1"/>
          </a:gradFill>
          <a:ln/>
          <a:effectLst>
            <a:outerShdw blurRad="198438" dist="158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508000" y="55245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127000" y="0"/>
                </a:moveTo>
                <a:lnTo>
                  <a:pt x="508000" y="0"/>
                </a:lnTo>
                <a:cubicBezTo>
                  <a:pt x="578093" y="0"/>
                  <a:pt x="635000" y="56907"/>
                  <a:pt x="635000" y="127000"/>
                </a:cubicBezTo>
                <a:lnTo>
                  <a:pt x="635000" y="508000"/>
                </a:lnTo>
                <a:cubicBezTo>
                  <a:pt x="635000" y="578093"/>
                  <a:pt x="578093" y="635000"/>
                  <a:pt x="508000" y="635000"/>
                </a:cubicBezTo>
                <a:lnTo>
                  <a:pt x="127000" y="635000"/>
                </a:lnTo>
                <a:cubicBezTo>
                  <a:pt x="56907" y="635000"/>
                  <a:pt x="0" y="578093"/>
                  <a:pt x="0" y="508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1F5F9">
              <a:alpha val="2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46906" y="569912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32116" y="117481"/>
                </a:moveTo>
                <a:cubicBezTo>
                  <a:pt x="238925" y="115639"/>
                  <a:pt x="246069" y="118876"/>
                  <a:pt x="249138" y="125183"/>
                </a:cubicBezTo>
                <a:lnTo>
                  <a:pt x="259519" y="146168"/>
                </a:lnTo>
                <a:cubicBezTo>
                  <a:pt x="265268" y="146949"/>
                  <a:pt x="270904" y="148512"/>
                  <a:pt x="276206" y="150688"/>
                </a:cubicBezTo>
                <a:lnTo>
                  <a:pt x="295740" y="137685"/>
                </a:lnTo>
                <a:cubicBezTo>
                  <a:pt x="301600" y="133778"/>
                  <a:pt x="309358" y="134559"/>
                  <a:pt x="314325" y="139526"/>
                </a:cubicBezTo>
                <a:lnTo>
                  <a:pt x="325041" y="150242"/>
                </a:lnTo>
                <a:cubicBezTo>
                  <a:pt x="330008" y="155209"/>
                  <a:pt x="330789" y="163023"/>
                  <a:pt x="326882" y="168827"/>
                </a:cubicBezTo>
                <a:lnTo>
                  <a:pt x="313879" y="188305"/>
                </a:lnTo>
                <a:cubicBezTo>
                  <a:pt x="314939" y="190928"/>
                  <a:pt x="315888" y="193663"/>
                  <a:pt x="316669" y="196509"/>
                </a:cubicBezTo>
                <a:cubicBezTo>
                  <a:pt x="317450" y="199355"/>
                  <a:pt x="317953" y="202146"/>
                  <a:pt x="318343" y="204992"/>
                </a:cubicBezTo>
                <a:lnTo>
                  <a:pt x="339384" y="215373"/>
                </a:lnTo>
                <a:cubicBezTo>
                  <a:pt x="345691" y="218498"/>
                  <a:pt x="348928" y="225642"/>
                  <a:pt x="347086" y="232395"/>
                </a:cubicBezTo>
                <a:lnTo>
                  <a:pt x="343179" y="247017"/>
                </a:lnTo>
                <a:cubicBezTo>
                  <a:pt x="341337" y="253771"/>
                  <a:pt x="335031" y="258347"/>
                  <a:pt x="327999" y="257901"/>
                </a:cubicBezTo>
                <a:lnTo>
                  <a:pt x="304558" y="256394"/>
                </a:lnTo>
                <a:cubicBezTo>
                  <a:pt x="301042" y="260914"/>
                  <a:pt x="296968" y="265100"/>
                  <a:pt x="292336" y="268672"/>
                </a:cubicBezTo>
                <a:lnTo>
                  <a:pt x="293843" y="292057"/>
                </a:lnTo>
                <a:cubicBezTo>
                  <a:pt x="294289" y="299089"/>
                  <a:pt x="289713" y="305451"/>
                  <a:pt x="282959" y="307237"/>
                </a:cubicBezTo>
                <a:lnTo>
                  <a:pt x="268337" y="311144"/>
                </a:lnTo>
                <a:cubicBezTo>
                  <a:pt x="261528" y="312986"/>
                  <a:pt x="254440" y="309749"/>
                  <a:pt x="251315" y="303442"/>
                </a:cubicBezTo>
                <a:lnTo>
                  <a:pt x="240934" y="282457"/>
                </a:lnTo>
                <a:cubicBezTo>
                  <a:pt x="235186" y="281676"/>
                  <a:pt x="229549" y="280113"/>
                  <a:pt x="224247" y="277937"/>
                </a:cubicBezTo>
                <a:lnTo>
                  <a:pt x="204713" y="290940"/>
                </a:lnTo>
                <a:cubicBezTo>
                  <a:pt x="198853" y="294847"/>
                  <a:pt x="191095" y="294066"/>
                  <a:pt x="186128" y="289099"/>
                </a:cubicBezTo>
                <a:lnTo>
                  <a:pt x="175413" y="278383"/>
                </a:lnTo>
                <a:cubicBezTo>
                  <a:pt x="170445" y="273416"/>
                  <a:pt x="169664" y="265658"/>
                  <a:pt x="173571" y="259798"/>
                </a:cubicBezTo>
                <a:lnTo>
                  <a:pt x="186575" y="240264"/>
                </a:lnTo>
                <a:cubicBezTo>
                  <a:pt x="185514" y="237641"/>
                  <a:pt x="184565" y="234907"/>
                  <a:pt x="183784" y="232060"/>
                </a:cubicBezTo>
                <a:cubicBezTo>
                  <a:pt x="183003" y="229214"/>
                  <a:pt x="182500" y="226368"/>
                  <a:pt x="182110" y="223577"/>
                </a:cubicBezTo>
                <a:lnTo>
                  <a:pt x="161069" y="213196"/>
                </a:lnTo>
                <a:cubicBezTo>
                  <a:pt x="154763" y="210071"/>
                  <a:pt x="151581" y="202927"/>
                  <a:pt x="153367" y="196174"/>
                </a:cubicBezTo>
                <a:lnTo>
                  <a:pt x="157274" y="181552"/>
                </a:lnTo>
                <a:cubicBezTo>
                  <a:pt x="159116" y="174799"/>
                  <a:pt x="165422" y="170222"/>
                  <a:pt x="172455" y="170669"/>
                </a:cubicBezTo>
                <a:lnTo>
                  <a:pt x="195839" y="172176"/>
                </a:lnTo>
                <a:cubicBezTo>
                  <a:pt x="199355" y="167655"/>
                  <a:pt x="203429" y="163469"/>
                  <a:pt x="208062" y="159897"/>
                </a:cubicBezTo>
                <a:lnTo>
                  <a:pt x="206555" y="136568"/>
                </a:lnTo>
                <a:cubicBezTo>
                  <a:pt x="206108" y="129536"/>
                  <a:pt x="210685" y="123174"/>
                  <a:pt x="217438" y="121388"/>
                </a:cubicBezTo>
                <a:lnTo>
                  <a:pt x="232060" y="117481"/>
                </a:lnTo>
                <a:close/>
                <a:moveTo>
                  <a:pt x="250254" y="189756"/>
                </a:moveTo>
                <a:cubicBezTo>
                  <a:pt x="236701" y="189771"/>
                  <a:pt x="225710" y="200787"/>
                  <a:pt x="225726" y="214340"/>
                </a:cubicBezTo>
                <a:cubicBezTo>
                  <a:pt x="225741" y="227894"/>
                  <a:pt x="236757" y="238885"/>
                  <a:pt x="250310" y="238869"/>
                </a:cubicBezTo>
                <a:cubicBezTo>
                  <a:pt x="263863" y="238854"/>
                  <a:pt x="274854" y="227838"/>
                  <a:pt x="274839" y="214285"/>
                </a:cubicBezTo>
                <a:cubicBezTo>
                  <a:pt x="274824" y="200731"/>
                  <a:pt x="263808" y="189740"/>
                  <a:pt x="250254" y="189756"/>
                </a:cubicBezTo>
                <a:close/>
                <a:moveTo>
                  <a:pt x="125518" y="-25394"/>
                </a:moveTo>
                <a:lnTo>
                  <a:pt x="140140" y="-21487"/>
                </a:lnTo>
                <a:cubicBezTo>
                  <a:pt x="146893" y="-19645"/>
                  <a:pt x="151470" y="-13283"/>
                  <a:pt x="151023" y="-6307"/>
                </a:cubicBezTo>
                <a:lnTo>
                  <a:pt x="149516" y="17022"/>
                </a:lnTo>
                <a:cubicBezTo>
                  <a:pt x="154149" y="20594"/>
                  <a:pt x="158223" y="24724"/>
                  <a:pt x="161739" y="29301"/>
                </a:cubicBezTo>
                <a:lnTo>
                  <a:pt x="185179" y="27794"/>
                </a:lnTo>
                <a:cubicBezTo>
                  <a:pt x="192156" y="27347"/>
                  <a:pt x="198518" y="31924"/>
                  <a:pt x="200360" y="38677"/>
                </a:cubicBezTo>
                <a:lnTo>
                  <a:pt x="204267" y="53299"/>
                </a:lnTo>
                <a:cubicBezTo>
                  <a:pt x="206053" y="60052"/>
                  <a:pt x="202871" y="67196"/>
                  <a:pt x="196565" y="70321"/>
                </a:cubicBezTo>
                <a:lnTo>
                  <a:pt x="175524" y="80702"/>
                </a:lnTo>
                <a:cubicBezTo>
                  <a:pt x="175133" y="83548"/>
                  <a:pt x="174575" y="86395"/>
                  <a:pt x="173850" y="89185"/>
                </a:cubicBezTo>
                <a:cubicBezTo>
                  <a:pt x="173124" y="91976"/>
                  <a:pt x="172120" y="94766"/>
                  <a:pt x="171059" y="97389"/>
                </a:cubicBezTo>
                <a:lnTo>
                  <a:pt x="184063" y="116923"/>
                </a:lnTo>
                <a:cubicBezTo>
                  <a:pt x="187970" y="122783"/>
                  <a:pt x="187189" y="130541"/>
                  <a:pt x="182221" y="135508"/>
                </a:cubicBezTo>
                <a:lnTo>
                  <a:pt x="171506" y="146224"/>
                </a:lnTo>
                <a:cubicBezTo>
                  <a:pt x="166539" y="151191"/>
                  <a:pt x="158781" y="151972"/>
                  <a:pt x="152921" y="148065"/>
                </a:cubicBezTo>
                <a:lnTo>
                  <a:pt x="133387" y="135062"/>
                </a:lnTo>
                <a:cubicBezTo>
                  <a:pt x="128085" y="137238"/>
                  <a:pt x="122448" y="138801"/>
                  <a:pt x="116700" y="139582"/>
                </a:cubicBezTo>
                <a:lnTo>
                  <a:pt x="106319" y="160567"/>
                </a:lnTo>
                <a:cubicBezTo>
                  <a:pt x="103194" y="166874"/>
                  <a:pt x="96050" y="170055"/>
                  <a:pt x="89297" y="168269"/>
                </a:cubicBezTo>
                <a:lnTo>
                  <a:pt x="74675" y="164362"/>
                </a:lnTo>
                <a:cubicBezTo>
                  <a:pt x="67866" y="162520"/>
                  <a:pt x="63345" y="156158"/>
                  <a:pt x="63791" y="149182"/>
                </a:cubicBezTo>
                <a:lnTo>
                  <a:pt x="65298" y="125797"/>
                </a:lnTo>
                <a:cubicBezTo>
                  <a:pt x="60666" y="122225"/>
                  <a:pt x="56592" y="118095"/>
                  <a:pt x="53076" y="113519"/>
                </a:cubicBezTo>
                <a:lnTo>
                  <a:pt x="29635" y="115026"/>
                </a:lnTo>
                <a:cubicBezTo>
                  <a:pt x="22659" y="115472"/>
                  <a:pt x="16297" y="110896"/>
                  <a:pt x="14455" y="104142"/>
                </a:cubicBezTo>
                <a:lnTo>
                  <a:pt x="10548" y="89520"/>
                </a:lnTo>
                <a:cubicBezTo>
                  <a:pt x="8762" y="82767"/>
                  <a:pt x="11943" y="75623"/>
                  <a:pt x="18250" y="72498"/>
                </a:cubicBezTo>
                <a:lnTo>
                  <a:pt x="39291" y="62117"/>
                </a:lnTo>
                <a:cubicBezTo>
                  <a:pt x="39681" y="59271"/>
                  <a:pt x="40239" y="56480"/>
                  <a:pt x="40965" y="53634"/>
                </a:cubicBezTo>
                <a:cubicBezTo>
                  <a:pt x="41746" y="50788"/>
                  <a:pt x="42639" y="48053"/>
                  <a:pt x="43755" y="45430"/>
                </a:cubicBezTo>
                <a:lnTo>
                  <a:pt x="30752" y="25952"/>
                </a:lnTo>
                <a:cubicBezTo>
                  <a:pt x="26845" y="20092"/>
                  <a:pt x="27626" y="12334"/>
                  <a:pt x="32593" y="7367"/>
                </a:cubicBezTo>
                <a:lnTo>
                  <a:pt x="43309" y="-3349"/>
                </a:lnTo>
                <a:cubicBezTo>
                  <a:pt x="48276" y="-8316"/>
                  <a:pt x="56034" y="-9097"/>
                  <a:pt x="61894" y="-5190"/>
                </a:cubicBezTo>
                <a:lnTo>
                  <a:pt x="81428" y="7813"/>
                </a:lnTo>
                <a:cubicBezTo>
                  <a:pt x="86730" y="5637"/>
                  <a:pt x="92366" y="4074"/>
                  <a:pt x="98115" y="3293"/>
                </a:cubicBezTo>
                <a:lnTo>
                  <a:pt x="108496" y="-17692"/>
                </a:lnTo>
                <a:cubicBezTo>
                  <a:pt x="111621" y="-23999"/>
                  <a:pt x="118709" y="-27180"/>
                  <a:pt x="125518" y="-25394"/>
                </a:cubicBezTo>
                <a:close/>
                <a:moveTo>
                  <a:pt x="107379" y="46881"/>
                </a:moveTo>
                <a:cubicBezTo>
                  <a:pt x="93826" y="46881"/>
                  <a:pt x="82823" y="57884"/>
                  <a:pt x="82823" y="71438"/>
                </a:cubicBezTo>
                <a:cubicBezTo>
                  <a:pt x="82823" y="84991"/>
                  <a:pt x="93826" y="95994"/>
                  <a:pt x="107379" y="95994"/>
                </a:cubicBezTo>
                <a:cubicBezTo>
                  <a:pt x="120933" y="95994"/>
                  <a:pt x="131936" y="84991"/>
                  <a:pt x="131936" y="71438"/>
                </a:cubicBezTo>
                <a:cubicBezTo>
                  <a:pt x="131936" y="57884"/>
                  <a:pt x="120933" y="46881"/>
                  <a:pt x="107379" y="46881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61" name="Text 59"/>
          <p:cNvSpPr/>
          <p:nvPr/>
        </p:nvSpPr>
        <p:spPr>
          <a:xfrm>
            <a:off x="1333500" y="5461000"/>
            <a:ext cx="10445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1F5F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Pipeline Integration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333500" y="5810250"/>
            <a:ext cx="10414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six steps work sequentially to transform raw academic documents into a </a:t>
            </a:r>
            <a:r>
              <a:rPr lang="en-US" sz="10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queryable knowledge base</a:t>
            </a:r>
            <a:r>
              <a:rPr lang="en-US" sz="10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ensures every response is grounded in official faculty documentation, eliminating hallucination while maintaining natural language fluency.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D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/ Project Timeline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A5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Phase 1: HIVE Academic Chatbot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Semester 1 (Week 3 – Week 13)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485900"/>
            <a:ext cx="11430000" cy="3924300"/>
          </a:xfrm>
          <a:custGeom>
            <a:avLst/>
            <a:gdLst/>
            <a:ahLst/>
            <a:cxnLst/>
            <a:rect l="l" t="t" r="r" b="b"/>
            <a:pathLst>
              <a:path w="11430000" h="3924300">
                <a:moveTo>
                  <a:pt x="152381" y="0"/>
                </a:moveTo>
                <a:lnTo>
                  <a:pt x="11277619" y="0"/>
                </a:lnTo>
                <a:cubicBezTo>
                  <a:pt x="11361721" y="0"/>
                  <a:pt x="11430000" y="68279"/>
                  <a:pt x="11430000" y="152381"/>
                </a:cubicBezTo>
                <a:lnTo>
                  <a:pt x="11430000" y="3771919"/>
                </a:lnTo>
                <a:cubicBezTo>
                  <a:pt x="11430000" y="3856021"/>
                  <a:pt x="11361721" y="3924300"/>
                  <a:pt x="11277619" y="3924300"/>
                </a:cubicBezTo>
                <a:lnTo>
                  <a:pt x="152381" y="3924300"/>
                </a:lnTo>
                <a:cubicBezTo>
                  <a:pt x="68279" y="3924300"/>
                  <a:pt x="0" y="3856021"/>
                  <a:pt x="0" y="3771919"/>
                </a:cubicBezTo>
                <a:lnTo>
                  <a:pt x="0" y="152381"/>
                </a:lnTo>
                <a:cubicBezTo>
                  <a:pt x="0" y="68223"/>
                  <a:pt x="68223" y="0"/>
                  <a:pt x="15238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6" name="Image 0" descr="https://kimi-img.moonshot.cn/pub/slides/26-02-05-00:43:16-d61ne93kvk6mhre1juh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3400" y="1638300"/>
            <a:ext cx="11125200" cy="3619500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381000" y="5486400"/>
            <a:ext cx="3705225" cy="838200"/>
          </a:xfrm>
          <a:custGeom>
            <a:avLst/>
            <a:gdLst/>
            <a:ahLst/>
            <a:cxnLst/>
            <a:rect l="l" t="t" r="r" b="b"/>
            <a:pathLst>
              <a:path w="3705225" h="838200">
                <a:moveTo>
                  <a:pt x="114297" y="0"/>
                </a:moveTo>
                <a:lnTo>
                  <a:pt x="3590928" y="0"/>
                </a:lnTo>
                <a:cubicBezTo>
                  <a:pt x="3654053" y="0"/>
                  <a:pt x="3705225" y="51172"/>
                  <a:pt x="3705225" y="114297"/>
                </a:cubicBezTo>
                <a:lnTo>
                  <a:pt x="3705225" y="723903"/>
                </a:lnTo>
                <a:cubicBezTo>
                  <a:pt x="3705225" y="787028"/>
                  <a:pt x="3654053" y="838200"/>
                  <a:pt x="3590928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1A3A5C"/>
              </a:gs>
              <a:gs pos="100000">
                <a:srgbClr val="5A7A96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9119" y="56578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114746" y="85092"/>
                </a:moveTo>
                <a:cubicBezTo>
                  <a:pt x="117351" y="80925"/>
                  <a:pt x="116086" y="75419"/>
                  <a:pt x="111919" y="72777"/>
                </a:cubicBezTo>
                <a:cubicBezTo>
                  <a:pt x="107752" y="70135"/>
                  <a:pt x="102245" y="71438"/>
                  <a:pt x="99603" y="75605"/>
                </a:cubicBezTo>
                <a:lnTo>
                  <a:pt x="76758" y="112179"/>
                </a:lnTo>
                <a:lnTo>
                  <a:pt x="66712" y="98785"/>
                </a:lnTo>
                <a:cubicBezTo>
                  <a:pt x="63736" y="94841"/>
                  <a:pt x="58155" y="94022"/>
                  <a:pt x="54211" y="96999"/>
                </a:cubicBezTo>
                <a:cubicBezTo>
                  <a:pt x="50267" y="99975"/>
                  <a:pt x="49448" y="105556"/>
                  <a:pt x="52425" y="109500"/>
                </a:cubicBezTo>
                <a:lnTo>
                  <a:pt x="70284" y="133313"/>
                </a:lnTo>
                <a:cubicBezTo>
                  <a:pt x="72033" y="135657"/>
                  <a:pt x="74861" y="136996"/>
                  <a:pt x="77800" y="136885"/>
                </a:cubicBezTo>
                <a:cubicBezTo>
                  <a:pt x="80739" y="136773"/>
                  <a:pt x="83418" y="135210"/>
                  <a:pt x="84981" y="132680"/>
                </a:cubicBezTo>
                <a:lnTo>
                  <a:pt x="114746" y="85055"/>
                </a:ln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9" name="Text 6"/>
          <p:cNvSpPr/>
          <p:nvPr/>
        </p:nvSpPr>
        <p:spPr>
          <a:xfrm>
            <a:off x="885825" y="5638800"/>
            <a:ext cx="657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Duration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33400" y="5943600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weeks (Week 3-13)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41800" y="5486400"/>
            <a:ext cx="3705225" cy="838200"/>
          </a:xfrm>
          <a:custGeom>
            <a:avLst/>
            <a:gdLst/>
            <a:ahLst/>
            <a:cxnLst/>
            <a:rect l="l" t="t" r="r" b="b"/>
            <a:pathLst>
              <a:path w="3705225" h="838200">
                <a:moveTo>
                  <a:pt x="114297" y="0"/>
                </a:moveTo>
                <a:lnTo>
                  <a:pt x="3590928" y="0"/>
                </a:lnTo>
                <a:cubicBezTo>
                  <a:pt x="3654053" y="0"/>
                  <a:pt x="3705225" y="51172"/>
                  <a:pt x="3705225" y="114297"/>
                </a:cubicBezTo>
                <a:lnTo>
                  <a:pt x="3705225" y="723903"/>
                </a:lnTo>
                <a:cubicBezTo>
                  <a:pt x="3705225" y="787028"/>
                  <a:pt x="3654053" y="838200"/>
                  <a:pt x="3590928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5A7A96"/>
              </a:gs>
              <a:gs pos="100000">
                <a:srgbClr val="3D8B8B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18013" y="5657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13" name="Text 10"/>
          <p:cNvSpPr/>
          <p:nvPr/>
        </p:nvSpPr>
        <p:spPr>
          <a:xfrm>
            <a:off x="4746625" y="5638800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Deliverable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394200" y="5943600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Fully functional HIVE chatbot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102600" y="5486400"/>
            <a:ext cx="3705225" cy="838200"/>
          </a:xfrm>
          <a:custGeom>
            <a:avLst/>
            <a:gdLst/>
            <a:ahLst/>
            <a:cxnLst/>
            <a:rect l="l" t="t" r="r" b="b"/>
            <a:pathLst>
              <a:path w="3705225" h="838200">
                <a:moveTo>
                  <a:pt x="114297" y="0"/>
                </a:moveTo>
                <a:lnTo>
                  <a:pt x="3590928" y="0"/>
                </a:lnTo>
                <a:cubicBezTo>
                  <a:pt x="3654053" y="0"/>
                  <a:pt x="3705225" y="51172"/>
                  <a:pt x="3705225" y="114297"/>
                </a:cubicBezTo>
                <a:lnTo>
                  <a:pt x="3705225" y="723903"/>
                </a:lnTo>
                <a:cubicBezTo>
                  <a:pt x="3705225" y="787028"/>
                  <a:pt x="3654053" y="838200"/>
                  <a:pt x="3590928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B8B"/>
              </a:gs>
              <a:gs pos="100000">
                <a:srgbClr val="1A3A5C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90719" y="56578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1906" y="0"/>
                </a:moveTo>
                <a:cubicBezTo>
                  <a:pt x="18492" y="0"/>
                  <a:pt x="23812" y="5321"/>
                  <a:pt x="23812" y="11906"/>
                </a:cubicBezTo>
                <a:lnTo>
                  <a:pt x="23812" y="17859"/>
                </a:lnTo>
                <a:lnTo>
                  <a:pt x="49485" y="11460"/>
                </a:lnTo>
                <a:cubicBezTo>
                  <a:pt x="63661" y="7925"/>
                  <a:pt x="78618" y="9562"/>
                  <a:pt x="91715" y="16111"/>
                </a:cubicBezTo>
                <a:cubicBezTo>
                  <a:pt x="108942" y="24743"/>
                  <a:pt x="129220" y="24743"/>
                  <a:pt x="146447" y="16111"/>
                </a:cubicBezTo>
                <a:lnTo>
                  <a:pt x="150019" y="14325"/>
                </a:lnTo>
                <a:cubicBezTo>
                  <a:pt x="157683" y="10455"/>
                  <a:pt x="166688" y="16036"/>
                  <a:pt x="166688" y="24594"/>
                </a:cubicBezTo>
                <a:lnTo>
                  <a:pt x="166688" y="128662"/>
                </a:lnTo>
                <a:cubicBezTo>
                  <a:pt x="166688" y="133610"/>
                  <a:pt x="163599" y="138075"/>
                  <a:pt x="158948" y="139824"/>
                </a:cubicBezTo>
                <a:lnTo>
                  <a:pt x="146038" y="144661"/>
                </a:lnTo>
                <a:cubicBezTo>
                  <a:pt x="128848" y="151098"/>
                  <a:pt x="109724" y="150093"/>
                  <a:pt x="93315" y="141908"/>
                </a:cubicBezTo>
                <a:cubicBezTo>
                  <a:pt x="79214" y="134838"/>
                  <a:pt x="63029" y="133090"/>
                  <a:pt x="47737" y="136922"/>
                </a:cubicBezTo>
                <a:lnTo>
                  <a:pt x="23812" y="142875"/>
                </a:lnTo>
                <a:lnTo>
                  <a:pt x="23812" y="178594"/>
                </a:lnTo>
                <a:cubicBezTo>
                  <a:pt x="23812" y="185179"/>
                  <a:pt x="18492" y="190500"/>
                  <a:pt x="11906" y="190500"/>
                </a:cubicBezTo>
                <a:cubicBezTo>
                  <a:pt x="5321" y="190500"/>
                  <a:pt x="0" y="185179"/>
                  <a:pt x="0" y="178594"/>
                </a:cubicBezTo>
                <a:lnTo>
                  <a:pt x="0" y="11906"/>
                </a:lnTo>
                <a:cubicBezTo>
                  <a:pt x="0" y="5321"/>
                  <a:pt x="5321" y="0"/>
                  <a:pt x="11906" y="0"/>
                </a:cubicBezTo>
                <a:close/>
                <a:moveTo>
                  <a:pt x="23812" y="69614"/>
                </a:moveTo>
                <a:lnTo>
                  <a:pt x="47625" y="64443"/>
                </a:lnTo>
                <a:lnTo>
                  <a:pt x="47625" y="88813"/>
                </a:lnTo>
                <a:lnTo>
                  <a:pt x="23812" y="93985"/>
                </a:lnTo>
                <a:lnTo>
                  <a:pt x="23812" y="118356"/>
                </a:lnTo>
                <a:lnTo>
                  <a:pt x="41970" y="113816"/>
                </a:lnTo>
                <a:cubicBezTo>
                  <a:pt x="43867" y="113333"/>
                  <a:pt x="45727" y="112923"/>
                  <a:pt x="47625" y="112588"/>
                </a:cubicBezTo>
                <a:lnTo>
                  <a:pt x="47625" y="88813"/>
                </a:lnTo>
                <a:lnTo>
                  <a:pt x="62099" y="85688"/>
                </a:lnTo>
                <a:cubicBezTo>
                  <a:pt x="65187" y="85018"/>
                  <a:pt x="68312" y="84758"/>
                  <a:pt x="71438" y="84906"/>
                </a:cubicBezTo>
                <a:lnTo>
                  <a:pt x="71438" y="61094"/>
                </a:lnTo>
                <a:cubicBezTo>
                  <a:pt x="76498" y="61243"/>
                  <a:pt x="81558" y="62061"/>
                  <a:pt x="86469" y="63475"/>
                </a:cubicBezTo>
                <a:lnTo>
                  <a:pt x="95250" y="66042"/>
                </a:lnTo>
                <a:lnTo>
                  <a:pt x="95250" y="90860"/>
                </a:lnTo>
                <a:lnTo>
                  <a:pt x="79735" y="86283"/>
                </a:lnTo>
                <a:cubicBezTo>
                  <a:pt x="77019" y="85502"/>
                  <a:pt x="74228" y="85018"/>
                  <a:pt x="71438" y="84869"/>
                </a:cubicBezTo>
                <a:lnTo>
                  <a:pt x="71438" y="111435"/>
                </a:lnTo>
                <a:cubicBezTo>
                  <a:pt x="79549" y="112142"/>
                  <a:pt x="87548" y="113928"/>
                  <a:pt x="95250" y="116793"/>
                </a:cubicBezTo>
                <a:lnTo>
                  <a:pt x="95250" y="90822"/>
                </a:lnTo>
                <a:lnTo>
                  <a:pt x="103696" y="93315"/>
                </a:lnTo>
                <a:cubicBezTo>
                  <a:pt x="108719" y="94804"/>
                  <a:pt x="113854" y="95696"/>
                  <a:pt x="119063" y="96069"/>
                </a:cubicBezTo>
                <a:lnTo>
                  <a:pt x="119063" y="72182"/>
                </a:lnTo>
                <a:cubicBezTo>
                  <a:pt x="116160" y="71884"/>
                  <a:pt x="113258" y="71326"/>
                  <a:pt x="110430" y="70507"/>
                </a:cubicBezTo>
                <a:lnTo>
                  <a:pt x="95250" y="66042"/>
                </a:lnTo>
                <a:lnTo>
                  <a:pt x="95250" y="42974"/>
                </a:lnTo>
                <a:cubicBezTo>
                  <a:pt x="90413" y="41560"/>
                  <a:pt x="85651" y="39700"/>
                  <a:pt x="81037" y="37393"/>
                </a:cubicBezTo>
                <a:cubicBezTo>
                  <a:pt x="77986" y="35868"/>
                  <a:pt x="74749" y="34789"/>
                  <a:pt x="71438" y="34119"/>
                </a:cubicBezTo>
                <a:lnTo>
                  <a:pt x="71438" y="61057"/>
                </a:lnTo>
                <a:cubicBezTo>
                  <a:pt x="66601" y="60908"/>
                  <a:pt x="61764" y="61354"/>
                  <a:pt x="57038" y="62396"/>
                </a:cubicBezTo>
                <a:lnTo>
                  <a:pt x="47625" y="64443"/>
                </a:lnTo>
                <a:lnTo>
                  <a:pt x="47625" y="36463"/>
                </a:lnTo>
                <a:lnTo>
                  <a:pt x="23812" y="42416"/>
                </a:lnTo>
                <a:lnTo>
                  <a:pt x="23812" y="69614"/>
                </a:lnTo>
                <a:close/>
                <a:moveTo>
                  <a:pt x="119063" y="124904"/>
                </a:moveTo>
                <a:cubicBezTo>
                  <a:pt x="125313" y="125462"/>
                  <a:pt x="131676" y="124644"/>
                  <a:pt x="137666" y="122374"/>
                </a:cubicBezTo>
                <a:lnTo>
                  <a:pt x="142875" y="120439"/>
                </a:lnTo>
                <a:lnTo>
                  <a:pt x="142875" y="93762"/>
                </a:lnTo>
                <a:lnTo>
                  <a:pt x="139936" y="94431"/>
                </a:lnTo>
                <a:cubicBezTo>
                  <a:pt x="133090" y="96031"/>
                  <a:pt x="126057" y="96552"/>
                  <a:pt x="119063" y="96106"/>
                </a:cubicBezTo>
                <a:lnTo>
                  <a:pt x="119063" y="124904"/>
                </a:lnTo>
                <a:close/>
                <a:moveTo>
                  <a:pt x="142875" y="69317"/>
                </a:moveTo>
                <a:lnTo>
                  <a:pt x="142875" y="42974"/>
                </a:lnTo>
                <a:cubicBezTo>
                  <a:pt x="135099" y="45244"/>
                  <a:pt x="127099" y="46360"/>
                  <a:pt x="119063" y="46360"/>
                </a:cubicBezTo>
                <a:lnTo>
                  <a:pt x="119063" y="72182"/>
                </a:lnTo>
                <a:cubicBezTo>
                  <a:pt x="124234" y="72703"/>
                  <a:pt x="129480" y="72368"/>
                  <a:pt x="134578" y="71214"/>
                </a:cubicBezTo>
                <a:lnTo>
                  <a:pt x="142875" y="69279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17" name="Text 14"/>
          <p:cNvSpPr/>
          <p:nvPr/>
        </p:nvSpPr>
        <p:spPr>
          <a:xfrm>
            <a:off x="8607425" y="5638800"/>
            <a:ext cx="74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Milestone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255000" y="5943600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system completion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D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/ Project Timeline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A5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Phase 2: AI Avatar Development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Semester 2 (Week 1 – Week 13)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485900"/>
            <a:ext cx="11430000" cy="3924300"/>
          </a:xfrm>
          <a:custGeom>
            <a:avLst/>
            <a:gdLst/>
            <a:ahLst/>
            <a:cxnLst/>
            <a:rect l="l" t="t" r="r" b="b"/>
            <a:pathLst>
              <a:path w="11430000" h="3924300">
                <a:moveTo>
                  <a:pt x="152381" y="0"/>
                </a:moveTo>
                <a:lnTo>
                  <a:pt x="11277619" y="0"/>
                </a:lnTo>
                <a:cubicBezTo>
                  <a:pt x="11361721" y="0"/>
                  <a:pt x="11430000" y="68279"/>
                  <a:pt x="11430000" y="152381"/>
                </a:cubicBezTo>
                <a:lnTo>
                  <a:pt x="11430000" y="3771919"/>
                </a:lnTo>
                <a:cubicBezTo>
                  <a:pt x="11430000" y="3856021"/>
                  <a:pt x="11361721" y="3924300"/>
                  <a:pt x="11277619" y="3924300"/>
                </a:cubicBezTo>
                <a:lnTo>
                  <a:pt x="152381" y="3924300"/>
                </a:lnTo>
                <a:cubicBezTo>
                  <a:pt x="68279" y="3924300"/>
                  <a:pt x="0" y="3856021"/>
                  <a:pt x="0" y="3771919"/>
                </a:cubicBezTo>
                <a:lnTo>
                  <a:pt x="0" y="152381"/>
                </a:lnTo>
                <a:cubicBezTo>
                  <a:pt x="0" y="68223"/>
                  <a:pt x="68223" y="0"/>
                  <a:pt x="15238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6" name="Image 0" descr="https://kimi-img.moonshot.cn/pub/slides/26-02-05-00:43:16-d61ne9701qm2ltlburh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3400" y="1638300"/>
            <a:ext cx="11125200" cy="3619500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381000" y="5486400"/>
            <a:ext cx="3705225" cy="838200"/>
          </a:xfrm>
          <a:custGeom>
            <a:avLst/>
            <a:gdLst/>
            <a:ahLst/>
            <a:cxnLst/>
            <a:rect l="l" t="t" r="r" b="b"/>
            <a:pathLst>
              <a:path w="3705225" h="838200">
                <a:moveTo>
                  <a:pt x="114297" y="0"/>
                </a:moveTo>
                <a:lnTo>
                  <a:pt x="3590928" y="0"/>
                </a:lnTo>
                <a:cubicBezTo>
                  <a:pt x="3654053" y="0"/>
                  <a:pt x="3705225" y="51172"/>
                  <a:pt x="3705225" y="114297"/>
                </a:cubicBezTo>
                <a:lnTo>
                  <a:pt x="3705225" y="723903"/>
                </a:lnTo>
                <a:cubicBezTo>
                  <a:pt x="3705225" y="787028"/>
                  <a:pt x="3654053" y="838200"/>
                  <a:pt x="3590928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B8B"/>
              </a:gs>
              <a:gs pos="100000">
                <a:srgbClr val="5A7A96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9119" y="56578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114746" y="85092"/>
                </a:moveTo>
                <a:cubicBezTo>
                  <a:pt x="117351" y="80925"/>
                  <a:pt x="116086" y="75419"/>
                  <a:pt x="111919" y="72777"/>
                </a:cubicBezTo>
                <a:cubicBezTo>
                  <a:pt x="107752" y="70135"/>
                  <a:pt x="102245" y="71438"/>
                  <a:pt x="99603" y="75605"/>
                </a:cubicBezTo>
                <a:lnTo>
                  <a:pt x="76758" y="112179"/>
                </a:lnTo>
                <a:lnTo>
                  <a:pt x="66712" y="98785"/>
                </a:lnTo>
                <a:cubicBezTo>
                  <a:pt x="63736" y="94841"/>
                  <a:pt x="58155" y="94022"/>
                  <a:pt x="54211" y="96999"/>
                </a:cubicBezTo>
                <a:cubicBezTo>
                  <a:pt x="50267" y="99975"/>
                  <a:pt x="49448" y="105556"/>
                  <a:pt x="52425" y="109500"/>
                </a:cubicBezTo>
                <a:lnTo>
                  <a:pt x="70284" y="133313"/>
                </a:lnTo>
                <a:cubicBezTo>
                  <a:pt x="72033" y="135657"/>
                  <a:pt x="74861" y="136996"/>
                  <a:pt x="77800" y="136885"/>
                </a:cubicBezTo>
                <a:cubicBezTo>
                  <a:pt x="80739" y="136773"/>
                  <a:pt x="83418" y="135210"/>
                  <a:pt x="84981" y="132680"/>
                </a:cubicBezTo>
                <a:lnTo>
                  <a:pt x="114746" y="85055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9" name="Text 6"/>
          <p:cNvSpPr/>
          <p:nvPr/>
        </p:nvSpPr>
        <p:spPr>
          <a:xfrm>
            <a:off x="885825" y="5638800"/>
            <a:ext cx="657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Duration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33400" y="5943600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 weeks (Week 1-13)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41800" y="5486400"/>
            <a:ext cx="3705225" cy="838200"/>
          </a:xfrm>
          <a:custGeom>
            <a:avLst/>
            <a:gdLst/>
            <a:ahLst/>
            <a:cxnLst/>
            <a:rect l="l" t="t" r="r" b="b"/>
            <a:pathLst>
              <a:path w="3705225" h="838200">
                <a:moveTo>
                  <a:pt x="114297" y="0"/>
                </a:moveTo>
                <a:lnTo>
                  <a:pt x="3590928" y="0"/>
                </a:lnTo>
                <a:cubicBezTo>
                  <a:pt x="3654053" y="0"/>
                  <a:pt x="3705225" y="51172"/>
                  <a:pt x="3705225" y="114297"/>
                </a:cubicBezTo>
                <a:lnTo>
                  <a:pt x="3705225" y="723903"/>
                </a:lnTo>
                <a:cubicBezTo>
                  <a:pt x="3705225" y="787028"/>
                  <a:pt x="3654053" y="838200"/>
                  <a:pt x="3590928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5A7A96"/>
              </a:gs>
              <a:gs pos="100000">
                <a:srgbClr val="1A3A5C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18013" y="5657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13" name="Text 10"/>
          <p:cNvSpPr/>
          <p:nvPr/>
        </p:nvSpPr>
        <p:spPr>
          <a:xfrm>
            <a:off x="4746625" y="5638800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Deliverable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394200" y="5943600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AI avatar system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102600" y="5486400"/>
            <a:ext cx="3705225" cy="838200"/>
          </a:xfrm>
          <a:custGeom>
            <a:avLst/>
            <a:gdLst/>
            <a:ahLst/>
            <a:cxnLst/>
            <a:rect l="l" t="t" r="r" b="b"/>
            <a:pathLst>
              <a:path w="3705225" h="838200">
                <a:moveTo>
                  <a:pt x="114297" y="0"/>
                </a:moveTo>
                <a:lnTo>
                  <a:pt x="3590928" y="0"/>
                </a:lnTo>
                <a:cubicBezTo>
                  <a:pt x="3654053" y="0"/>
                  <a:pt x="3705225" y="51172"/>
                  <a:pt x="3705225" y="114297"/>
                </a:cubicBezTo>
                <a:lnTo>
                  <a:pt x="3705225" y="723903"/>
                </a:lnTo>
                <a:cubicBezTo>
                  <a:pt x="3705225" y="787028"/>
                  <a:pt x="3654053" y="838200"/>
                  <a:pt x="3590928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1A3A5C"/>
              </a:gs>
              <a:gs pos="100000">
                <a:srgbClr val="3D8B8B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90719" y="56578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1906" y="0"/>
                </a:moveTo>
                <a:cubicBezTo>
                  <a:pt x="18492" y="0"/>
                  <a:pt x="23812" y="5321"/>
                  <a:pt x="23812" y="11906"/>
                </a:cubicBezTo>
                <a:lnTo>
                  <a:pt x="23812" y="17859"/>
                </a:lnTo>
                <a:lnTo>
                  <a:pt x="49485" y="11460"/>
                </a:lnTo>
                <a:cubicBezTo>
                  <a:pt x="63661" y="7925"/>
                  <a:pt x="78618" y="9562"/>
                  <a:pt x="91715" y="16111"/>
                </a:cubicBezTo>
                <a:cubicBezTo>
                  <a:pt x="108942" y="24743"/>
                  <a:pt x="129220" y="24743"/>
                  <a:pt x="146447" y="16111"/>
                </a:cubicBezTo>
                <a:lnTo>
                  <a:pt x="150019" y="14325"/>
                </a:lnTo>
                <a:cubicBezTo>
                  <a:pt x="157683" y="10455"/>
                  <a:pt x="166688" y="16036"/>
                  <a:pt x="166688" y="24594"/>
                </a:cubicBezTo>
                <a:lnTo>
                  <a:pt x="166688" y="128662"/>
                </a:lnTo>
                <a:cubicBezTo>
                  <a:pt x="166688" y="133610"/>
                  <a:pt x="163599" y="138075"/>
                  <a:pt x="158948" y="139824"/>
                </a:cubicBezTo>
                <a:lnTo>
                  <a:pt x="146038" y="144661"/>
                </a:lnTo>
                <a:cubicBezTo>
                  <a:pt x="128848" y="151098"/>
                  <a:pt x="109724" y="150093"/>
                  <a:pt x="93315" y="141908"/>
                </a:cubicBezTo>
                <a:cubicBezTo>
                  <a:pt x="79214" y="134838"/>
                  <a:pt x="63029" y="133090"/>
                  <a:pt x="47737" y="136922"/>
                </a:cubicBezTo>
                <a:lnTo>
                  <a:pt x="23812" y="142875"/>
                </a:lnTo>
                <a:lnTo>
                  <a:pt x="23812" y="178594"/>
                </a:lnTo>
                <a:cubicBezTo>
                  <a:pt x="23812" y="185179"/>
                  <a:pt x="18492" y="190500"/>
                  <a:pt x="11906" y="190500"/>
                </a:cubicBezTo>
                <a:cubicBezTo>
                  <a:pt x="5321" y="190500"/>
                  <a:pt x="0" y="185179"/>
                  <a:pt x="0" y="178594"/>
                </a:cubicBezTo>
                <a:lnTo>
                  <a:pt x="0" y="11906"/>
                </a:lnTo>
                <a:cubicBezTo>
                  <a:pt x="0" y="5321"/>
                  <a:pt x="5321" y="0"/>
                  <a:pt x="11906" y="0"/>
                </a:cubicBezTo>
                <a:close/>
                <a:moveTo>
                  <a:pt x="23812" y="69614"/>
                </a:moveTo>
                <a:lnTo>
                  <a:pt x="47625" y="64443"/>
                </a:lnTo>
                <a:lnTo>
                  <a:pt x="47625" y="88813"/>
                </a:lnTo>
                <a:lnTo>
                  <a:pt x="23812" y="93985"/>
                </a:lnTo>
                <a:lnTo>
                  <a:pt x="23812" y="118356"/>
                </a:lnTo>
                <a:lnTo>
                  <a:pt x="41970" y="113816"/>
                </a:lnTo>
                <a:cubicBezTo>
                  <a:pt x="43867" y="113333"/>
                  <a:pt x="45727" y="112923"/>
                  <a:pt x="47625" y="112588"/>
                </a:cubicBezTo>
                <a:lnTo>
                  <a:pt x="47625" y="88813"/>
                </a:lnTo>
                <a:lnTo>
                  <a:pt x="62099" y="85688"/>
                </a:lnTo>
                <a:cubicBezTo>
                  <a:pt x="65187" y="85018"/>
                  <a:pt x="68312" y="84758"/>
                  <a:pt x="71438" y="84906"/>
                </a:cubicBezTo>
                <a:lnTo>
                  <a:pt x="71438" y="61094"/>
                </a:lnTo>
                <a:cubicBezTo>
                  <a:pt x="76498" y="61243"/>
                  <a:pt x="81558" y="62061"/>
                  <a:pt x="86469" y="63475"/>
                </a:cubicBezTo>
                <a:lnTo>
                  <a:pt x="95250" y="66042"/>
                </a:lnTo>
                <a:lnTo>
                  <a:pt x="95250" y="90860"/>
                </a:lnTo>
                <a:lnTo>
                  <a:pt x="79735" y="86283"/>
                </a:lnTo>
                <a:cubicBezTo>
                  <a:pt x="77019" y="85502"/>
                  <a:pt x="74228" y="85018"/>
                  <a:pt x="71438" y="84869"/>
                </a:cubicBezTo>
                <a:lnTo>
                  <a:pt x="71438" y="111435"/>
                </a:lnTo>
                <a:cubicBezTo>
                  <a:pt x="79549" y="112142"/>
                  <a:pt x="87548" y="113928"/>
                  <a:pt x="95250" y="116793"/>
                </a:cubicBezTo>
                <a:lnTo>
                  <a:pt x="95250" y="90822"/>
                </a:lnTo>
                <a:lnTo>
                  <a:pt x="103696" y="93315"/>
                </a:lnTo>
                <a:cubicBezTo>
                  <a:pt x="108719" y="94804"/>
                  <a:pt x="113854" y="95696"/>
                  <a:pt x="119063" y="96069"/>
                </a:cubicBezTo>
                <a:lnTo>
                  <a:pt x="119063" y="72182"/>
                </a:lnTo>
                <a:cubicBezTo>
                  <a:pt x="116160" y="71884"/>
                  <a:pt x="113258" y="71326"/>
                  <a:pt x="110430" y="70507"/>
                </a:cubicBezTo>
                <a:lnTo>
                  <a:pt x="95250" y="66042"/>
                </a:lnTo>
                <a:lnTo>
                  <a:pt x="95250" y="42974"/>
                </a:lnTo>
                <a:cubicBezTo>
                  <a:pt x="90413" y="41560"/>
                  <a:pt x="85651" y="39700"/>
                  <a:pt x="81037" y="37393"/>
                </a:cubicBezTo>
                <a:cubicBezTo>
                  <a:pt x="77986" y="35868"/>
                  <a:pt x="74749" y="34789"/>
                  <a:pt x="71438" y="34119"/>
                </a:cubicBezTo>
                <a:lnTo>
                  <a:pt x="71438" y="61057"/>
                </a:lnTo>
                <a:cubicBezTo>
                  <a:pt x="66601" y="60908"/>
                  <a:pt x="61764" y="61354"/>
                  <a:pt x="57038" y="62396"/>
                </a:cubicBezTo>
                <a:lnTo>
                  <a:pt x="47625" y="64443"/>
                </a:lnTo>
                <a:lnTo>
                  <a:pt x="47625" y="36463"/>
                </a:lnTo>
                <a:lnTo>
                  <a:pt x="23812" y="42416"/>
                </a:lnTo>
                <a:lnTo>
                  <a:pt x="23812" y="69614"/>
                </a:lnTo>
                <a:close/>
                <a:moveTo>
                  <a:pt x="119063" y="124904"/>
                </a:moveTo>
                <a:cubicBezTo>
                  <a:pt x="125313" y="125462"/>
                  <a:pt x="131676" y="124644"/>
                  <a:pt x="137666" y="122374"/>
                </a:cubicBezTo>
                <a:lnTo>
                  <a:pt x="142875" y="120439"/>
                </a:lnTo>
                <a:lnTo>
                  <a:pt x="142875" y="93762"/>
                </a:lnTo>
                <a:lnTo>
                  <a:pt x="139936" y="94431"/>
                </a:lnTo>
                <a:cubicBezTo>
                  <a:pt x="133090" y="96031"/>
                  <a:pt x="126057" y="96552"/>
                  <a:pt x="119063" y="96106"/>
                </a:cubicBezTo>
                <a:lnTo>
                  <a:pt x="119063" y="124904"/>
                </a:lnTo>
                <a:close/>
                <a:moveTo>
                  <a:pt x="142875" y="69317"/>
                </a:moveTo>
                <a:lnTo>
                  <a:pt x="142875" y="42974"/>
                </a:lnTo>
                <a:cubicBezTo>
                  <a:pt x="135099" y="45244"/>
                  <a:pt x="127099" y="46360"/>
                  <a:pt x="119063" y="46360"/>
                </a:cubicBezTo>
                <a:lnTo>
                  <a:pt x="119063" y="72182"/>
                </a:lnTo>
                <a:cubicBezTo>
                  <a:pt x="124234" y="72703"/>
                  <a:pt x="129480" y="72368"/>
                  <a:pt x="134578" y="71214"/>
                </a:cubicBezTo>
                <a:lnTo>
                  <a:pt x="142875" y="69279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17" name="Text 14"/>
          <p:cNvSpPr/>
          <p:nvPr/>
        </p:nvSpPr>
        <p:spPr>
          <a:xfrm>
            <a:off x="8607425" y="5638800"/>
            <a:ext cx="74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Milestone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255000" y="5943600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system validation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5772" y="325772"/>
            <a:ext cx="11597467" cy="162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8" b="1" kern="0" spc="90" dirty="0">
                <a:solidFill>
                  <a:srgbClr val="3D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 / Conclusion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5772" y="586389"/>
            <a:ext cx="11735920" cy="39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78" b="1" dirty="0">
                <a:solidFill>
                  <a:srgbClr val="1A3A5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Project Conclusion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5772" y="1107623"/>
            <a:ext cx="5668425" cy="3909259"/>
          </a:xfrm>
          <a:custGeom>
            <a:avLst/>
            <a:gdLst/>
            <a:ahLst/>
            <a:cxnLst/>
            <a:rect l="l" t="t" r="r" b="b"/>
            <a:pathLst>
              <a:path w="5668425" h="3909259">
                <a:moveTo>
                  <a:pt x="130296" y="0"/>
                </a:moveTo>
                <a:lnTo>
                  <a:pt x="5538129" y="0"/>
                </a:lnTo>
                <a:cubicBezTo>
                  <a:pt x="5610090" y="0"/>
                  <a:pt x="5668425" y="58335"/>
                  <a:pt x="5668425" y="130296"/>
                </a:cubicBezTo>
                <a:lnTo>
                  <a:pt x="5668425" y="3778963"/>
                </a:lnTo>
                <a:cubicBezTo>
                  <a:pt x="5668425" y="3850923"/>
                  <a:pt x="5610090" y="3909259"/>
                  <a:pt x="5538129" y="3909259"/>
                </a:cubicBezTo>
                <a:lnTo>
                  <a:pt x="130296" y="3909259"/>
                </a:lnTo>
                <a:cubicBezTo>
                  <a:pt x="58335" y="3909259"/>
                  <a:pt x="0" y="3850923"/>
                  <a:pt x="0" y="3778963"/>
                </a:cubicBezTo>
                <a:lnTo>
                  <a:pt x="0" y="130296"/>
                </a:lnTo>
                <a:cubicBezTo>
                  <a:pt x="0" y="58335"/>
                  <a:pt x="58335" y="0"/>
                  <a:pt x="130296" y="0"/>
                </a:cubicBezTo>
                <a:close/>
              </a:path>
            </a:pathLst>
          </a:custGeom>
          <a:gradFill flip="none" rotWithShape="1">
            <a:gsLst>
              <a:gs pos="0">
                <a:srgbClr val="1A3A5C"/>
              </a:gs>
              <a:gs pos="100000">
                <a:srgbClr val="5A7A96"/>
              </a:gs>
            </a:gsLst>
            <a:lin ang="2700000" scaled="1"/>
          </a:gradFill>
          <a:ln/>
          <a:effectLst>
            <a:outerShdw blurRad="203607" dist="16288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1234" y="1303086"/>
            <a:ext cx="521234" cy="521234"/>
          </a:xfrm>
          <a:custGeom>
            <a:avLst/>
            <a:gdLst/>
            <a:ahLst/>
            <a:cxnLst/>
            <a:rect l="l" t="t" r="r" b="b"/>
            <a:pathLst>
              <a:path w="521234" h="521234">
                <a:moveTo>
                  <a:pt x="130309" y="0"/>
                </a:moveTo>
                <a:lnTo>
                  <a:pt x="390926" y="0"/>
                </a:lnTo>
                <a:cubicBezTo>
                  <a:pt x="462845" y="0"/>
                  <a:pt x="521234" y="58389"/>
                  <a:pt x="521234" y="130309"/>
                </a:cubicBezTo>
                <a:lnTo>
                  <a:pt x="521234" y="390926"/>
                </a:lnTo>
                <a:cubicBezTo>
                  <a:pt x="521234" y="462845"/>
                  <a:pt x="462845" y="521234"/>
                  <a:pt x="390926" y="521234"/>
                </a:cubicBezTo>
                <a:lnTo>
                  <a:pt x="130309" y="521234"/>
                </a:lnTo>
                <a:cubicBezTo>
                  <a:pt x="58389" y="521234"/>
                  <a:pt x="0" y="462845"/>
                  <a:pt x="0" y="390926"/>
                </a:cubicBezTo>
                <a:lnTo>
                  <a:pt x="0" y="130309"/>
                </a:lnTo>
                <a:cubicBezTo>
                  <a:pt x="0" y="58389"/>
                  <a:pt x="58389" y="0"/>
                  <a:pt x="130309" y="0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6" name="Shape 4"/>
          <p:cNvSpPr/>
          <p:nvPr/>
        </p:nvSpPr>
        <p:spPr>
          <a:xfrm>
            <a:off x="661723" y="1441539"/>
            <a:ext cx="244329" cy="244329"/>
          </a:xfrm>
          <a:custGeom>
            <a:avLst/>
            <a:gdLst/>
            <a:ahLst/>
            <a:cxnLst/>
            <a:rect l="l" t="t" r="r" b="b"/>
            <a:pathLst>
              <a:path w="244329" h="244329">
                <a:moveTo>
                  <a:pt x="68861" y="0"/>
                </a:moveTo>
                <a:lnTo>
                  <a:pt x="175754" y="0"/>
                </a:lnTo>
                <a:cubicBezTo>
                  <a:pt x="188400" y="0"/>
                  <a:pt x="198708" y="10403"/>
                  <a:pt x="198231" y="23001"/>
                </a:cubicBezTo>
                <a:cubicBezTo>
                  <a:pt x="198135" y="25530"/>
                  <a:pt x="198040" y="28060"/>
                  <a:pt x="197897" y="30541"/>
                </a:cubicBezTo>
                <a:lnTo>
                  <a:pt x="221566" y="30541"/>
                </a:lnTo>
                <a:cubicBezTo>
                  <a:pt x="234021" y="30541"/>
                  <a:pt x="244997" y="40849"/>
                  <a:pt x="244042" y="54306"/>
                </a:cubicBezTo>
                <a:cubicBezTo>
                  <a:pt x="240463" y="103792"/>
                  <a:pt x="215171" y="130993"/>
                  <a:pt x="187732" y="145213"/>
                </a:cubicBezTo>
                <a:cubicBezTo>
                  <a:pt x="180192" y="149126"/>
                  <a:pt x="172509" y="152037"/>
                  <a:pt x="165208" y="154185"/>
                </a:cubicBezTo>
                <a:cubicBezTo>
                  <a:pt x="155569" y="167833"/>
                  <a:pt x="145547" y="175039"/>
                  <a:pt x="137578" y="178904"/>
                </a:cubicBezTo>
                <a:lnTo>
                  <a:pt x="137578" y="213788"/>
                </a:lnTo>
                <a:lnTo>
                  <a:pt x="168119" y="213788"/>
                </a:lnTo>
                <a:cubicBezTo>
                  <a:pt x="176566" y="213788"/>
                  <a:pt x="183390" y="220612"/>
                  <a:pt x="183390" y="229058"/>
                </a:cubicBezTo>
                <a:cubicBezTo>
                  <a:pt x="183390" y="237505"/>
                  <a:pt x="176566" y="244329"/>
                  <a:pt x="168119" y="244329"/>
                </a:cubicBezTo>
                <a:lnTo>
                  <a:pt x="76496" y="244329"/>
                </a:lnTo>
                <a:cubicBezTo>
                  <a:pt x="68049" y="244329"/>
                  <a:pt x="61225" y="237505"/>
                  <a:pt x="61225" y="229058"/>
                </a:cubicBezTo>
                <a:cubicBezTo>
                  <a:pt x="61225" y="220612"/>
                  <a:pt x="68049" y="213788"/>
                  <a:pt x="76496" y="213788"/>
                </a:cubicBezTo>
                <a:lnTo>
                  <a:pt x="107037" y="213788"/>
                </a:lnTo>
                <a:lnTo>
                  <a:pt x="107037" y="178904"/>
                </a:lnTo>
                <a:cubicBezTo>
                  <a:pt x="99402" y="175229"/>
                  <a:pt x="89905" y="168405"/>
                  <a:pt x="80648" y="155855"/>
                </a:cubicBezTo>
                <a:cubicBezTo>
                  <a:pt x="71867" y="153564"/>
                  <a:pt x="62323" y="150081"/>
                  <a:pt x="53017" y="144832"/>
                </a:cubicBezTo>
                <a:cubicBezTo>
                  <a:pt x="27201" y="130372"/>
                  <a:pt x="3913" y="103124"/>
                  <a:pt x="573" y="54210"/>
                </a:cubicBezTo>
                <a:cubicBezTo>
                  <a:pt x="-334" y="40801"/>
                  <a:pt x="10594" y="30493"/>
                  <a:pt x="23049" y="30493"/>
                </a:cubicBezTo>
                <a:lnTo>
                  <a:pt x="46718" y="30493"/>
                </a:lnTo>
                <a:cubicBezTo>
                  <a:pt x="46575" y="28012"/>
                  <a:pt x="46480" y="25530"/>
                  <a:pt x="46384" y="22954"/>
                </a:cubicBezTo>
                <a:cubicBezTo>
                  <a:pt x="45907" y="10308"/>
                  <a:pt x="56215" y="-48"/>
                  <a:pt x="68861" y="-48"/>
                </a:cubicBezTo>
                <a:close/>
                <a:moveTo>
                  <a:pt x="48436" y="53447"/>
                </a:moveTo>
                <a:lnTo>
                  <a:pt x="23431" y="53447"/>
                </a:lnTo>
                <a:cubicBezTo>
                  <a:pt x="26389" y="93866"/>
                  <a:pt x="44953" y="114100"/>
                  <a:pt x="64089" y="124837"/>
                </a:cubicBezTo>
                <a:cubicBezTo>
                  <a:pt x="57217" y="107037"/>
                  <a:pt x="51538" y="83797"/>
                  <a:pt x="48436" y="53447"/>
                </a:cubicBezTo>
                <a:close/>
                <a:moveTo>
                  <a:pt x="181338" y="122546"/>
                </a:moveTo>
                <a:cubicBezTo>
                  <a:pt x="200664" y="111189"/>
                  <a:pt x="218130" y="91003"/>
                  <a:pt x="221089" y="53447"/>
                </a:cubicBezTo>
                <a:lnTo>
                  <a:pt x="196131" y="53447"/>
                </a:lnTo>
                <a:cubicBezTo>
                  <a:pt x="193172" y="82509"/>
                  <a:pt x="187828" y="105080"/>
                  <a:pt x="181338" y="122546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1172778" y="1417106"/>
            <a:ext cx="2133804" cy="293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24" b="1" dirty="0">
                <a:solidFill>
                  <a:srgbClr val="F1F5F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Contributions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3949" y="1989921"/>
            <a:ext cx="5274784" cy="689550"/>
          </a:xfrm>
          <a:custGeom>
            <a:avLst/>
            <a:gdLst/>
            <a:ahLst/>
            <a:cxnLst/>
            <a:rect l="l" t="t" r="r" b="b"/>
            <a:pathLst>
              <a:path w="5274784" h="689550">
                <a:moveTo>
                  <a:pt x="97730" y="0"/>
                </a:moveTo>
                <a:lnTo>
                  <a:pt x="5177054" y="0"/>
                </a:lnTo>
                <a:cubicBezTo>
                  <a:pt x="5230993" y="0"/>
                  <a:pt x="5274784" y="43791"/>
                  <a:pt x="5274784" y="97730"/>
                </a:cubicBezTo>
                <a:lnTo>
                  <a:pt x="5274784" y="591820"/>
                </a:lnTo>
                <a:cubicBezTo>
                  <a:pt x="5274784" y="645758"/>
                  <a:pt x="5230993" y="689550"/>
                  <a:pt x="5177054" y="689550"/>
                </a:cubicBezTo>
                <a:lnTo>
                  <a:pt x="97730" y="689550"/>
                </a:lnTo>
                <a:cubicBezTo>
                  <a:pt x="43791" y="689550"/>
                  <a:pt x="0" y="645758"/>
                  <a:pt x="0" y="591820"/>
                </a:cubicBezTo>
                <a:lnTo>
                  <a:pt x="0" y="97730"/>
                </a:lnTo>
                <a:cubicBezTo>
                  <a:pt x="0" y="43791"/>
                  <a:pt x="43791" y="0"/>
                  <a:pt x="97730" y="0"/>
                </a:cubicBezTo>
                <a:close/>
              </a:path>
            </a:pathLst>
          </a:custGeom>
          <a:solidFill>
            <a:srgbClr val="F1F5F9">
              <a:alpha val="10196"/>
            </a:srgbClr>
          </a:solidFill>
          <a:ln w="8467">
            <a:solidFill>
              <a:srgbClr val="F1F5F9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6973" y="2122947"/>
            <a:ext cx="325772" cy="325772"/>
          </a:xfrm>
          <a:custGeom>
            <a:avLst/>
            <a:gdLst/>
            <a:ahLst/>
            <a:cxnLst/>
            <a:rect l="l" t="t" r="r" b="b"/>
            <a:pathLst>
              <a:path w="325772" h="325772">
                <a:moveTo>
                  <a:pt x="65154" y="0"/>
                </a:moveTo>
                <a:lnTo>
                  <a:pt x="260617" y="0"/>
                </a:lnTo>
                <a:cubicBezTo>
                  <a:pt x="296601" y="0"/>
                  <a:pt x="325772" y="29171"/>
                  <a:pt x="325772" y="65154"/>
                </a:cubicBezTo>
                <a:lnTo>
                  <a:pt x="325772" y="260617"/>
                </a:lnTo>
                <a:cubicBezTo>
                  <a:pt x="325772" y="296601"/>
                  <a:pt x="296601" y="325772"/>
                  <a:pt x="260617" y="325772"/>
                </a:cubicBezTo>
                <a:lnTo>
                  <a:pt x="65154" y="325772"/>
                </a:lnTo>
                <a:cubicBezTo>
                  <a:pt x="29171" y="325772"/>
                  <a:pt x="0" y="296601"/>
                  <a:pt x="0" y="260617"/>
                </a:cubicBezTo>
                <a:lnTo>
                  <a:pt x="0" y="65154"/>
                </a:lnTo>
                <a:cubicBezTo>
                  <a:pt x="0" y="29195"/>
                  <a:pt x="29195" y="0"/>
                  <a:pt x="65154" y="0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10" name="Shape 8"/>
          <p:cNvSpPr/>
          <p:nvPr/>
        </p:nvSpPr>
        <p:spPr>
          <a:xfrm>
            <a:off x="754704" y="2220679"/>
            <a:ext cx="130309" cy="130309"/>
          </a:xfrm>
          <a:custGeom>
            <a:avLst/>
            <a:gdLst/>
            <a:ahLst/>
            <a:cxnLst/>
            <a:rect l="l" t="t" r="r" b="b"/>
            <a:pathLst>
              <a:path w="130309" h="130309">
                <a:moveTo>
                  <a:pt x="30541" y="14253"/>
                </a:moveTo>
                <a:cubicBezTo>
                  <a:pt x="30541" y="6388"/>
                  <a:pt x="36929" y="0"/>
                  <a:pt x="44794" y="0"/>
                </a:cubicBezTo>
                <a:lnTo>
                  <a:pt x="50902" y="0"/>
                </a:lnTo>
                <a:cubicBezTo>
                  <a:pt x="55407" y="0"/>
                  <a:pt x="59046" y="3639"/>
                  <a:pt x="59046" y="8144"/>
                </a:cubicBezTo>
                <a:lnTo>
                  <a:pt x="59046" y="122164"/>
                </a:lnTo>
                <a:cubicBezTo>
                  <a:pt x="59046" y="126669"/>
                  <a:pt x="55407" y="130309"/>
                  <a:pt x="50902" y="130309"/>
                </a:cubicBezTo>
                <a:lnTo>
                  <a:pt x="42758" y="130309"/>
                </a:lnTo>
                <a:cubicBezTo>
                  <a:pt x="35173" y="130309"/>
                  <a:pt x="28785" y="125117"/>
                  <a:pt x="26978" y="118092"/>
                </a:cubicBezTo>
                <a:cubicBezTo>
                  <a:pt x="26800" y="118092"/>
                  <a:pt x="26647" y="118092"/>
                  <a:pt x="26469" y="118092"/>
                </a:cubicBezTo>
                <a:cubicBezTo>
                  <a:pt x="15220" y="118092"/>
                  <a:pt x="6108" y="108981"/>
                  <a:pt x="6108" y="97731"/>
                </a:cubicBezTo>
                <a:cubicBezTo>
                  <a:pt x="6108" y="93150"/>
                  <a:pt x="7635" y="88925"/>
                  <a:pt x="10180" y="85515"/>
                </a:cubicBezTo>
                <a:cubicBezTo>
                  <a:pt x="5243" y="81799"/>
                  <a:pt x="2036" y="75895"/>
                  <a:pt x="2036" y="69226"/>
                </a:cubicBezTo>
                <a:cubicBezTo>
                  <a:pt x="2036" y="61362"/>
                  <a:pt x="6515" y="54516"/>
                  <a:pt x="13031" y="51131"/>
                </a:cubicBezTo>
                <a:cubicBezTo>
                  <a:pt x="11224" y="48077"/>
                  <a:pt x="10180" y="44514"/>
                  <a:pt x="10180" y="40721"/>
                </a:cubicBezTo>
                <a:cubicBezTo>
                  <a:pt x="10180" y="29472"/>
                  <a:pt x="19292" y="20361"/>
                  <a:pt x="30541" y="20361"/>
                </a:cubicBezTo>
                <a:lnTo>
                  <a:pt x="30541" y="14253"/>
                </a:lnTo>
                <a:close/>
                <a:moveTo>
                  <a:pt x="99768" y="14253"/>
                </a:moveTo>
                <a:lnTo>
                  <a:pt x="99768" y="20361"/>
                </a:lnTo>
                <a:cubicBezTo>
                  <a:pt x="111017" y="20361"/>
                  <a:pt x="120128" y="29472"/>
                  <a:pt x="120128" y="40721"/>
                </a:cubicBezTo>
                <a:cubicBezTo>
                  <a:pt x="120128" y="44539"/>
                  <a:pt x="119085" y="48102"/>
                  <a:pt x="117278" y="51131"/>
                </a:cubicBezTo>
                <a:cubicBezTo>
                  <a:pt x="123819" y="54516"/>
                  <a:pt x="128273" y="61337"/>
                  <a:pt x="128273" y="69226"/>
                </a:cubicBezTo>
                <a:cubicBezTo>
                  <a:pt x="128273" y="75895"/>
                  <a:pt x="125066" y="81799"/>
                  <a:pt x="120128" y="85515"/>
                </a:cubicBezTo>
                <a:cubicBezTo>
                  <a:pt x="122673" y="88925"/>
                  <a:pt x="124200" y="93150"/>
                  <a:pt x="124200" y="97731"/>
                </a:cubicBezTo>
                <a:cubicBezTo>
                  <a:pt x="124200" y="108981"/>
                  <a:pt x="115089" y="118092"/>
                  <a:pt x="103840" y="118092"/>
                </a:cubicBezTo>
                <a:cubicBezTo>
                  <a:pt x="103662" y="118092"/>
                  <a:pt x="103509" y="118092"/>
                  <a:pt x="103331" y="118092"/>
                </a:cubicBezTo>
                <a:cubicBezTo>
                  <a:pt x="101524" y="125117"/>
                  <a:pt x="95135" y="130309"/>
                  <a:pt x="87551" y="130309"/>
                </a:cubicBezTo>
                <a:lnTo>
                  <a:pt x="79407" y="130309"/>
                </a:lnTo>
                <a:cubicBezTo>
                  <a:pt x="74902" y="130309"/>
                  <a:pt x="71263" y="126669"/>
                  <a:pt x="71263" y="122164"/>
                </a:cubicBezTo>
                <a:lnTo>
                  <a:pt x="71263" y="8144"/>
                </a:lnTo>
                <a:cubicBezTo>
                  <a:pt x="71263" y="3639"/>
                  <a:pt x="74902" y="0"/>
                  <a:pt x="79407" y="0"/>
                </a:cubicBezTo>
                <a:lnTo>
                  <a:pt x="85515" y="0"/>
                </a:lnTo>
                <a:cubicBezTo>
                  <a:pt x="93379" y="0"/>
                  <a:pt x="99768" y="6388"/>
                  <a:pt x="99768" y="14253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1080476" y="2122947"/>
            <a:ext cx="3200705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Fine-Tuned LLM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80476" y="2350987"/>
            <a:ext cx="3200705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Domain-specific language model for academic contexts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3949" y="2815214"/>
            <a:ext cx="5274784" cy="689550"/>
          </a:xfrm>
          <a:custGeom>
            <a:avLst/>
            <a:gdLst/>
            <a:ahLst/>
            <a:cxnLst/>
            <a:rect l="l" t="t" r="r" b="b"/>
            <a:pathLst>
              <a:path w="5274784" h="689550">
                <a:moveTo>
                  <a:pt x="97730" y="0"/>
                </a:moveTo>
                <a:lnTo>
                  <a:pt x="5177054" y="0"/>
                </a:lnTo>
                <a:cubicBezTo>
                  <a:pt x="5230993" y="0"/>
                  <a:pt x="5274784" y="43791"/>
                  <a:pt x="5274784" y="97730"/>
                </a:cubicBezTo>
                <a:lnTo>
                  <a:pt x="5274784" y="591820"/>
                </a:lnTo>
                <a:cubicBezTo>
                  <a:pt x="5274784" y="645758"/>
                  <a:pt x="5230993" y="689550"/>
                  <a:pt x="5177054" y="689550"/>
                </a:cubicBezTo>
                <a:lnTo>
                  <a:pt x="97730" y="689550"/>
                </a:lnTo>
                <a:cubicBezTo>
                  <a:pt x="43791" y="689550"/>
                  <a:pt x="0" y="645758"/>
                  <a:pt x="0" y="591820"/>
                </a:cubicBezTo>
                <a:lnTo>
                  <a:pt x="0" y="97730"/>
                </a:lnTo>
                <a:cubicBezTo>
                  <a:pt x="0" y="43791"/>
                  <a:pt x="43791" y="0"/>
                  <a:pt x="97730" y="0"/>
                </a:cubicBezTo>
                <a:close/>
              </a:path>
            </a:pathLst>
          </a:custGeom>
          <a:solidFill>
            <a:srgbClr val="F1F5F9">
              <a:alpha val="10196"/>
            </a:srgbClr>
          </a:solidFill>
          <a:ln w="8467">
            <a:solidFill>
              <a:srgbClr val="F1F5F9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6973" y="2948232"/>
            <a:ext cx="325772" cy="325772"/>
          </a:xfrm>
          <a:custGeom>
            <a:avLst/>
            <a:gdLst/>
            <a:ahLst/>
            <a:cxnLst/>
            <a:rect l="l" t="t" r="r" b="b"/>
            <a:pathLst>
              <a:path w="325772" h="325772">
                <a:moveTo>
                  <a:pt x="65154" y="0"/>
                </a:moveTo>
                <a:lnTo>
                  <a:pt x="260617" y="0"/>
                </a:lnTo>
                <a:cubicBezTo>
                  <a:pt x="296601" y="0"/>
                  <a:pt x="325772" y="29171"/>
                  <a:pt x="325772" y="65154"/>
                </a:cubicBezTo>
                <a:lnTo>
                  <a:pt x="325772" y="260617"/>
                </a:lnTo>
                <a:cubicBezTo>
                  <a:pt x="325772" y="296601"/>
                  <a:pt x="296601" y="325772"/>
                  <a:pt x="260617" y="325772"/>
                </a:cubicBezTo>
                <a:lnTo>
                  <a:pt x="65154" y="325772"/>
                </a:lnTo>
                <a:cubicBezTo>
                  <a:pt x="29171" y="325772"/>
                  <a:pt x="0" y="296601"/>
                  <a:pt x="0" y="260617"/>
                </a:cubicBezTo>
                <a:lnTo>
                  <a:pt x="0" y="65154"/>
                </a:lnTo>
                <a:cubicBezTo>
                  <a:pt x="0" y="29195"/>
                  <a:pt x="29195" y="0"/>
                  <a:pt x="65154" y="0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15" name="Shape 13"/>
          <p:cNvSpPr/>
          <p:nvPr/>
        </p:nvSpPr>
        <p:spPr>
          <a:xfrm>
            <a:off x="754704" y="3045964"/>
            <a:ext cx="130309" cy="130309"/>
          </a:xfrm>
          <a:custGeom>
            <a:avLst/>
            <a:gdLst/>
            <a:ahLst/>
            <a:cxnLst/>
            <a:rect l="l" t="t" r="r" b="b"/>
            <a:pathLst>
              <a:path w="130309" h="130309">
                <a:moveTo>
                  <a:pt x="105876" y="52938"/>
                </a:moveTo>
                <a:cubicBezTo>
                  <a:pt x="105876" y="64620"/>
                  <a:pt x="102084" y="75411"/>
                  <a:pt x="95695" y="84166"/>
                </a:cubicBezTo>
                <a:lnTo>
                  <a:pt x="127916" y="116412"/>
                </a:lnTo>
                <a:cubicBezTo>
                  <a:pt x="131098" y="119594"/>
                  <a:pt x="131098" y="124760"/>
                  <a:pt x="127916" y="127942"/>
                </a:cubicBezTo>
                <a:cubicBezTo>
                  <a:pt x="124735" y="131123"/>
                  <a:pt x="119568" y="131123"/>
                  <a:pt x="116387" y="127942"/>
                </a:cubicBezTo>
                <a:lnTo>
                  <a:pt x="84166" y="95695"/>
                </a:lnTo>
                <a:cubicBezTo>
                  <a:pt x="75411" y="102084"/>
                  <a:pt x="64620" y="105876"/>
                  <a:pt x="52938" y="105876"/>
                </a:cubicBezTo>
                <a:cubicBezTo>
                  <a:pt x="23695" y="105876"/>
                  <a:pt x="0" y="82181"/>
                  <a:pt x="0" y="52938"/>
                </a:cubicBezTo>
                <a:cubicBezTo>
                  <a:pt x="0" y="23695"/>
                  <a:pt x="23695" y="0"/>
                  <a:pt x="52938" y="0"/>
                </a:cubicBezTo>
                <a:cubicBezTo>
                  <a:pt x="82181" y="0"/>
                  <a:pt x="105876" y="23695"/>
                  <a:pt x="105876" y="52938"/>
                </a:cubicBezTo>
                <a:close/>
                <a:moveTo>
                  <a:pt x="52938" y="89587"/>
                </a:moveTo>
                <a:cubicBezTo>
                  <a:pt x="73165" y="89587"/>
                  <a:pt x="89587" y="73165"/>
                  <a:pt x="89587" y="52938"/>
                </a:cubicBezTo>
                <a:cubicBezTo>
                  <a:pt x="89587" y="32711"/>
                  <a:pt x="73165" y="16289"/>
                  <a:pt x="52938" y="16289"/>
                </a:cubicBezTo>
                <a:cubicBezTo>
                  <a:pt x="32711" y="16289"/>
                  <a:pt x="16289" y="32711"/>
                  <a:pt x="16289" y="52938"/>
                </a:cubicBezTo>
                <a:cubicBezTo>
                  <a:pt x="16289" y="73165"/>
                  <a:pt x="32711" y="89587"/>
                  <a:pt x="52938" y="89587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1080476" y="2948232"/>
            <a:ext cx="3298437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RAG Pipeline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80476" y="3176273"/>
            <a:ext cx="3298437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Factual accuracy through document-grounded responses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3949" y="3640500"/>
            <a:ext cx="5274784" cy="689550"/>
          </a:xfrm>
          <a:custGeom>
            <a:avLst/>
            <a:gdLst/>
            <a:ahLst/>
            <a:cxnLst/>
            <a:rect l="l" t="t" r="r" b="b"/>
            <a:pathLst>
              <a:path w="5274784" h="689550">
                <a:moveTo>
                  <a:pt x="97730" y="0"/>
                </a:moveTo>
                <a:lnTo>
                  <a:pt x="5177054" y="0"/>
                </a:lnTo>
                <a:cubicBezTo>
                  <a:pt x="5230993" y="0"/>
                  <a:pt x="5274784" y="43791"/>
                  <a:pt x="5274784" y="97730"/>
                </a:cubicBezTo>
                <a:lnTo>
                  <a:pt x="5274784" y="591820"/>
                </a:lnTo>
                <a:cubicBezTo>
                  <a:pt x="5274784" y="645758"/>
                  <a:pt x="5230993" y="689550"/>
                  <a:pt x="5177054" y="689550"/>
                </a:cubicBezTo>
                <a:lnTo>
                  <a:pt x="97730" y="689550"/>
                </a:lnTo>
                <a:cubicBezTo>
                  <a:pt x="43791" y="689550"/>
                  <a:pt x="0" y="645758"/>
                  <a:pt x="0" y="591820"/>
                </a:cubicBezTo>
                <a:lnTo>
                  <a:pt x="0" y="97730"/>
                </a:lnTo>
                <a:cubicBezTo>
                  <a:pt x="0" y="43791"/>
                  <a:pt x="43791" y="0"/>
                  <a:pt x="97730" y="0"/>
                </a:cubicBezTo>
                <a:close/>
              </a:path>
            </a:pathLst>
          </a:custGeom>
          <a:solidFill>
            <a:srgbClr val="F1F5F9">
              <a:alpha val="10196"/>
            </a:srgbClr>
          </a:solidFill>
          <a:ln w="8467">
            <a:solidFill>
              <a:srgbClr val="F1F5F9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6973" y="3773526"/>
            <a:ext cx="325772" cy="325772"/>
          </a:xfrm>
          <a:custGeom>
            <a:avLst/>
            <a:gdLst/>
            <a:ahLst/>
            <a:cxnLst/>
            <a:rect l="l" t="t" r="r" b="b"/>
            <a:pathLst>
              <a:path w="325772" h="325772">
                <a:moveTo>
                  <a:pt x="65154" y="0"/>
                </a:moveTo>
                <a:lnTo>
                  <a:pt x="260617" y="0"/>
                </a:lnTo>
                <a:cubicBezTo>
                  <a:pt x="296601" y="0"/>
                  <a:pt x="325772" y="29171"/>
                  <a:pt x="325772" y="65154"/>
                </a:cubicBezTo>
                <a:lnTo>
                  <a:pt x="325772" y="260617"/>
                </a:lnTo>
                <a:cubicBezTo>
                  <a:pt x="325772" y="296601"/>
                  <a:pt x="296601" y="325772"/>
                  <a:pt x="260617" y="325772"/>
                </a:cubicBezTo>
                <a:lnTo>
                  <a:pt x="65154" y="325772"/>
                </a:lnTo>
                <a:cubicBezTo>
                  <a:pt x="29171" y="325772"/>
                  <a:pt x="0" y="296601"/>
                  <a:pt x="0" y="260617"/>
                </a:cubicBezTo>
                <a:lnTo>
                  <a:pt x="0" y="65154"/>
                </a:lnTo>
                <a:cubicBezTo>
                  <a:pt x="0" y="29195"/>
                  <a:pt x="29195" y="0"/>
                  <a:pt x="65154" y="0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20" name="Shape 18"/>
          <p:cNvSpPr/>
          <p:nvPr/>
        </p:nvSpPr>
        <p:spPr>
          <a:xfrm>
            <a:off x="762848" y="3871257"/>
            <a:ext cx="114020" cy="130309"/>
          </a:xfrm>
          <a:custGeom>
            <a:avLst/>
            <a:gdLst/>
            <a:ahLst/>
            <a:cxnLst/>
            <a:rect l="l" t="t" r="r" b="b"/>
            <a:pathLst>
              <a:path w="114020" h="130309">
                <a:moveTo>
                  <a:pt x="57010" y="85515"/>
                </a:moveTo>
                <a:cubicBezTo>
                  <a:pt x="75996" y="85515"/>
                  <a:pt x="92234" y="73706"/>
                  <a:pt x="98749" y="57010"/>
                </a:cubicBezTo>
                <a:lnTo>
                  <a:pt x="99768" y="57010"/>
                </a:lnTo>
                <a:cubicBezTo>
                  <a:pt x="103153" y="57010"/>
                  <a:pt x="105876" y="54287"/>
                  <a:pt x="105876" y="50902"/>
                </a:cubicBezTo>
                <a:lnTo>
                  <a:pt x="105876" y="30541"/>
                </a:lnTo>
                <a:cubicBezTo>
                  <a:pt x="105876" y="27156"/>
                  <a:pt x="103153" y="24433"/>
                  <a:pt x="99768" y="24433"/>
                </a:cubicBezTo>
                <a:lnTo>
                  <a:pt x="98749" y="24433"/>
                </a:lnTo>
                <a:cubicBezTo>
                  <a:pt x="92234" y="7737"/>
                  <a:pt x="75996" y="-4072"/>
                  <a:pt x="57010" y="-4072"/>
                </a:cubicBezTo>
                <a:cubicBezTo>
                  <a:pt x="38024" y="-4072"/>
                  <a:pt x="21786" y="7737"/>
                  <a:pt x="15271" y="24433"/>
                </a:cubicBezTo>
                <a:lnTo>
                  <a:pt x="14253" y="24433"/>
                </a:lnTo>
                <a:cubicBezTo>
                  <a:pt x="10868" y="24433"/>
                  <a:pt x="8144" y="27156"/>
                  <a:pt x="8144" y="30541"/>
                </a:cubicBezTo>
                <a:lnTo>
                  <a:pt x="8144" y="50902"/>
                </a:lnTo>
                <a:cubicBezTo>
                  <a:pt x="8144" y="54287"/>
                  <a:pt x="10868" y="57010"/>
                  <a:pt x="14253" y="57010"/>
                </a:cubicBezTo>
                <a:lnTo>
                  <a:pt x="15271" y="57010"/>
                </a:lnTo>
                <a:cubicBezTo>
                  <a:pt x="21786" y="73706"/>
                  <a:pt x="38024" y="85515"/>
                  <a:pt x="57010" y="85515"/>
                </a:cubicBezTo>
                <a:close/>
                <a:moveTo>
                  <a:pt x="52938" y="20361"/>
                </a:moveTo>
                <a:lnTo>
                  <a:pt x="61082" y="20361"/>
                </a:lnTo>
                <a:cubicBezTo>
                  <a:pt x="74571" y="20361"/>
                  <a:pt x="85515" y="31305"/>
                  <a:pt x="85515" y="44794"/>
                </a:cubicBezTo>
                <a:cubicBezTo>
                  <a:pt x="85515" y="58283"/>
                  <a:pt x="74571" y="69226"/>
                  <a:pt x="61082" y="69226"/>
                </a:cubicBezTo>
                <a:lnTo>
                  <a:pt x="52938" y="69226"/>
                </a:lnTo>
                <a:cubicBezTo>
                  <a:pt x="39449" y="69226"/>
                  <a:pt x="28505" y="58283"/>
                  <a:pt x="28505" y="44794"/>
                </a:cubicBezTo>
                <a:cubicBezTo>
                  <a:pt x="28505" y="31305"/>
                  <a:pt x="39449" y="20361"/>
                  <a:pt x="52938" y="20361"/>
                </a:cubicBezTo>
                <a:close/>
                <a:moveTo>
                  <a:pt x="4072" y="123335"/>
                </a:moveTo>
                <a:cubicBezTo>
                  <a:pt x="4072" y="127178"/>
                  <a:pt x="7203" y="130309"/>
                  <a:pt x="11046" y="130309"/>
                </a:cubicBezTo>
                <a:lnTo>
                  <a:pt x="24433" y="130309"/>
                </a:lnTo>
                <a:lnTo>
                  <a:pt x="24433" y="118092"/>
                </a:lnTo>
                <a:cubicBezTo>
                  <a:pt x="24433" y="113587"/>
                  <a:pt x="28072" y="109948"/>
                  <a:pt x="32577" y="109948"/>
                </a:cubicBezTo>
                <a:lnTo>
                  <a:pt x="81443" y="109948"/>
                </a:lnTo>
                <a:cubicBezTo>
                  <a:pt x="85948" y="109948"/>
                  <a:pt x="89587" y="113587"/>
                  <a:pt x="89587" y="118092"/>
                </a:cubicBezTo>
                <a:lnTo>
                  <a:pt x="89587" y="130309"/>
                </a:lnTo>
                <a:lnTo>
                  <a:pt x="102974" y="130309"/>
                </a:lnTo>
                <a:cubicBezTo>
                  <a:pt x="106817" y="130309"/>
                  <a:pt x="109948" y="127178"/>
                  <a:pt x="109948" y="123335"/>
                </a:cubicBezTo>
                <a:cubicBezTo>
                  <a:pt x="109948" y="108115"/>
                  <a:pt x="101829" y="94779"/>
                  <a:pt x="89689" y="87449"/>
                </a:cubicBezTo>
                <a:cubicBezTo>
                  <a:pt x="80425" y="93939"/>
                  <a:pt x="69176" y="97731"/>
                  <a:pt x="57010" y="97731"/>
                </a:cubicBezTo>
                <a:cubicBezTo>
                  <a:pt x="44844" y="97731"/>
                  <a:pt x="33595" y="93939"/>
                  <a:pt x="24331" y="87449"/>
                </a:cubicBezTo>
                <a:cubicBezTo>
                  <a:pt x="12191" y="94779"/>
                  <a:pt x="4072" y="108115"/>
                  <a:pt x="4072" y="123335"/>
                </a:cubicBezTo>
                <a:close/>
                <a:moveTo>
                  <a:pt x="46652" y="36013"/>
                </a:moveTo>
                <a:cubicBezTo>
                  <a:pt x="46422" y="35173"/>
                  <a:pt x="45659" y="34613"/>
                  <a:pt x="44794" y="34613"/>
                </a:cubicBezTo>
                <a:cubicBezTo>
                  <a:pt x="43928" y="34613"/>
                  <a:pt x="43165" y="35173"/>
                  <a:pt x="42936" y="36013"/>
                </a:cubicBezTo>
                <a:lnTo>
                  <a:pt x="41409" y="41409"/>
                </a:lnTo>
                <a:lnTo>
                  <a:pt x="36013" y="42936"/>
                </a:lnTo>
                <a:cubicBezTo>
                  <a:pt x="35173" y="43165"/>
                  <a:pt x="34613" y="43928"/>
                  <a:pt x="34613" y="44794"/>
                </a:cubicBezTo>
                <a:cubicBezTo>
                  <a:pt x="34613" y="45659"/>
                  <a:pt x="35173" y="46422"/>
                  <a:pt x="36013" y="46652"/>
                </a:cubicBezTo>
                <a:lnTo>
                  <a:pt x="41409" y="48179"/>
                </a:lnTo>
                <a:lnTo>
                  <a:pt x="42936" y="53574"/>
                </a:lnTo>
                <a:cubicBezTo>
                  <a:pt x="43165" y="54414"/>
                  <a:pt x="43928" y="54974"/>
                  <a:pt x="44794" y="54974"/>
                </a:cubicBezTo>
                <a:cubicBezTo>
                  <a:pt x="45659" y="54974"/>
                  <a:pt x="46422" y="54414"/>
                  <a:pt x="46652" y="53574"/>
                </a:cubicBezTo>
                <a:lnTo>
                  <a:pt x="48179" y="48179"/>
                </a:lnTo>
                <a:lnTo>
                  <a:pt x="53574" y="46652"/>
                </a:lnTo>
                <a:cubicBezTo>
                  <a:pt x="54414" y="46422"/>
                  <a:pt x="54974" y="45659"/>
                  <a:pt x="54974" y="44794"/>
                </a:cubicBezTo>
                <a:cubicBezTo>
                  <a:pt x="54974" y="43928"/>
                  <a:pt x="54414" y="43165"/>
                  <a:pt x="53574" y="42936"/>
                </a:cubicBezTo>
                <a:lnTo>
                  <a:pt x="48179" y="41409"/>
                </a:lnTo>
                <a:lnTo>
                  <a:pt x="46652" y="36013"/>
                </a:lnTo>
                <a:close/>
                <a:moveTo>
                  <a:pt x="38685" y="124200"/>
                </a:moveTo>
                <a:lnTo>
                  <a:pt x="38685" y="130309"/>
                </a:lnTo>
                <a:lnTo>
                  <a:pt x="50902" y="130309"/>
                </a:lnTo>
                <a:lnTo>
                  <a:pt x="50902" y="124200"/>
                </a:lnTo>
                <a:cubicBezTo>
                  <a:pt x="50902" y="120815"/>
                  <a:pt x="48179" y="118092"/>
                  <a:pt x="44794" y="118092"/>
                </a:cubicBezTo>
                <a:cubicBezTo>
                  <a:pt x="41409" y="118092"/>
                  <a:pt x="38685" y="120815"/>
                  <a:pt x="38685" y="124200"/>
                </a:cubicBezTo>
                <a:close/>
                <a:moveTo>
                  <a:pt x="69226" y="118092"/>
                </a:moveTo>
                <a:cubicBezTo>
                  <a:pt x="65841" y="118092"/>
                  <a:pt x="63118" y="120815"/>
                  <a:pt x="63118" y="124200"/>
                </a:cubicBezTo>
                <a:lnTo>
                  <a:pt x="63118" y="130309"/>
                </a:lnTo>
                <a:lnTo>
                  <a:pt x="75335" y="130309"/>
                </a:lnTo>
                <a:lnTo>
                  <a:pt x="75335" y="124200"/>
                </a:lnTo>
                <a:cubicBezTo>
                  <a:pt x="75335" y="120815"/>
                  <a:pt x="72611" y="118092"/>
                  <a:pt x="69226" y="118092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1080476" y="3773526"/>
            <a:ext cx="3094830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Avatar Interface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80476" y="4001566"/>
            <a:ext cx="3094830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Unity-based avatar with voice and lip synchronisation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01367" y="1115768"/>
            <a:ext cx="5652136" cy="2980810"/>
          </a:xfrm>
          <a:custGeom>
            <a:avLst/>
            <a:gdLst/>
            <a:ahLst/>
            <a:cxnLst/>
            <a:rect l="l" t="t" r="r" b="b"/>
            <a:pathLst>
              <a:path w="5652136" h="2980810">
                <a:moveTo>
                  <a:pt x="130321" y="0"/>
                </a:moveTo>
                <a:lnTo>
                  <a:pt x="5521815" y="0"/>
                </a:lnTo>
                <a:cubicBezTo>
                  <a:pt x="5593790" y="0"/>
                  <a:pt x="5652136" y="58347"/>
                  <a:pt x="5652136" y="130321"/>
                </a:cubicBezTo>
                <a:lnTo>
                  <a:pt x="5652136" y="2850489"/>
                </a:lnTo>
                <a:cubicBezTo>
                  <a:pt x="5652136" y="2922463"/>
                  <a:pt x="5593790" y="2980810"/>
                  <a:pt x="5521815" y="2980810"/>
                </a:cubicBezTo>
                <a:lnTo>
                  <a:pt x="130321" y="2980810"/>
                </a:lnTo>
                <a:cubicBezTo>
                  <a:pt x="58347" y="2980810"/>
                  <a:pt x="0" y="2922463"/>
                  <a:pt x="0" y="2850489"/>
                </a:cubicBezTo>
                <a:lnTo>
                  <a:pt x="0" y="130321"/>
                </a:lnTo>
                <a:cubicBezTo>
                  <a:pt x="0" y="58395"/>
                  <a:pt x="58395" y="0"/>
                  <a:pt x="130321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3D8B8B">
                <a:alpha val="20000"/>
              </a:srgbClr>
            </a:solidFill>
            <a:prstDash val="solid"/>
          </a:ln>
          <a:effectLst>
            <a:outerShdw blurRad="203607" dist="16288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4974" y="1319375"/>
            <a:ext cx="456080" cy="456080"/>
          </a:xfrm>
          <a:custGeom>
            <a:avLst/>
            <a:gdLst/>
            <a:ahLst/>
            <a:cxnLst/>
            <a:rect l="l" t="t" r="r" b="b"/>
            <a:pathLst>
              <a:path w="456080" h="456080">
                <a:moveTo>
                  <a:pt x="97733" y="0"/>
                </a:moveTo>
                <a:lnTo>
                  <a:pt x="358347" y="0"/>
                </a:lnTo>
                <a:cubicBezTo>
                  <a:pt x="412287" y="0"/>
                  <a:pt x="456080" y="43793"/>
                  <a:pt x="456080" y="97733"/>
                </a:cubicBezTo>
                <a:lnTo>
                  <a:pt x="456080" y="358347"/>
                </a:lnTo>
                <a:cubicBezTo>
                  <a:pt x="456080" y="412287"/>
                  <a:pt x="412287" y="456080"/>
                  <a:pt x="358347" y="456080"/>
                </a:cubicBezTo>
                <a:lnTo>
                  <a:pt x="97733" y="456080"/>
                </a:lnTo>
                <a:cubicBezTo>
                  <a:pt x="43793" y="456080"/>
                  <a:pt x="0" y="412287"/>
                  <a:pt x="0" y="358347"/>
                </a:cubicBezTo>
                <a:lnTo>
                  <a:pt x="0" y="97733"/>
                </a:lnTo>
                <a:cubicBezTo>
                  <a:pt x="0" y="43793"/>
                  <a:pt x="43793" y="0"/>
                  <a:pt x="97733" y="0"/>
                </a:cubicBezTo>
                <a:close/>
              </a:path>
            </a:pathLst>
          </a:custGeom>
          <a:solidFill>
            <a:srgbClr val="3D8B8B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59715" y="1449683"/>
            <a:ext cx="146597" cy="195463"/>
          </a:xfrm>
          <a:custGeom>
            <a:avLst/>
            <a:gdLst/>
            <a:ahLst/>
            <a:cxnLst/>
            <a:rect l="l" t="t" r="r" b="b"/>
            <a:pathLst>
              <a:path w="146597" h="195463">
                <a:moveTo>
                  <a:pt x="95403" y="25502"/>
                </a:moveTo>
                <a:cubicBezTo>
                  <a:pt x="99373" y="20043"/>
                  <a:pt x="98151" y="12407"/>
                  <a:pt x="92692" y="8437"/>
                </a:cubicBezTo>
                <a:cubicBezTo>
                  <a:pt x="87233" y="4467"/>
                  <a:pt x="79598" y="5688"/>
                  <a:pt x="75627" y="11147"/>
                </a:cubicBezTo>
                <a:lnTo>
                  <a:pt x="35160" y="66770"/>
                </a:lnTo>
                <a:lnTo>
                  <a:pt x="20844" y="52454"/>
                </a:lnTo>
                <a:cubicBezTo>
                  <a:pt x="16072" y="47682"/>
                  <a:pt x="8322" y="47682"/>
                  <a:pt x="3550" y="52454"/>
                </a:cubicBezTo>
                <a:cubicBezTo>
                  <a:pt x="-1222" y="57226"/>
                  <a:pt x="-1222" y="64976"/>
                  <a:pt x="3550" y="69748"/>
                </a:cubicBezTo>
                <a:lnTo>
                  <a:pt x="27983" y="94181"/>
                </a:lnTo>
                <a:cubicBezTo>
                  <a:pt x="30503" y="96701"/>
                  <a:pt x="34015" y="97999"/>
                  <a:pt x="37566" y="97731"/>
                </a:cubicBezTo>
                <a:cubicBezTo>
                  <a:pt x="41116" y="97464"/>
                  <a:pt x="44399" y="95632"/>
                  <a:pt x="46499" y="92730"/>
                </a:cubicBezTo>
                <a:lnTo>
                  <a:pt x="95365" y="25540"/>
                </a:lnTo>
                <a:close/>
                <a:moveTo>
                  <a:pt x="144268" y="77422"/>
                </a:moveTo>
                <a:cubicBezTo>
                  <a:pt x="148239" y="71962"/>
                  <a:pt x="147017" y="64327"/>
                  <a:pt x="141558" y="60357"/>
                </a:cubicBezTo>
                <a:cubicBezTo>
                  <a:pt x="136099" y="56386"/>
                  <a:pt x="128463" y="57608"/>
                  <a:pt x="124493" y="63067"/>
                </a:cubicBezTo>
                <a:lnTo>
                  <a:pt x="59593" y="152285"/>
                </a:lnTo>
                <a:lnTo>
                  <a:pt x="33061" y="125753"/>
                </a:lnTo>
                <a:cubicBezTo>
                  <a:pt x="28289" y="120981"/>
                  <a:pt x="20539" y="120981"/>
                  <a:pt x="15767" y="125753"/>
                </a:cubicBezTo>
                <a:cubicBezTo>
                  <a:pt x="10995" y="130525"/>
                  <a:pt x="10995" y="138275"/>
                  <a:pt x="15767" y="143047"/>
                </a:cubicBezTo>
                <a:lnTo>
                  <a:pt x="52416" y="179696"/>
                </a:lnTo>
                <a:cubicBezTo>
                  <a:pt x="54936" y="182216"/>
                  <a:pt x="58448" y="183514"/>
                  <a:pt x="61998" y="183246"/>
                </a:cubicBezTo>
                <a:cubicBezTo>
                  <a:pt x="65549" y="182979"/>
                  <a:pt x="68832" y="181147"/>
                  <a:pt x="70932" y="178245"/>
                </a:cubicBezTo>
                <a:lnTo>
                  <a:pt x="144230" y="77460"/>
                </a:ln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26" name="Text 24"/>
          <p:cNvSpPr/>
          <p:nvPr/>
        </p:nvSpPr>
        <p:spPr>
          <a:xfrm>
            <a:off x="6991363" y="1417106"/>
            <a:ext cx="1539271" cy="260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9" b="1" dirty="0">
                <a:solidFill>
                  <a:srgbClr val="1A3A5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System Benefits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4974" y="1938341"/>
            <a:ext cx="5244922" cy="586389"/>
          </a:xfrm>
          <a:custGeom>
            <a:avLst/>
            <a:gdLst/>
            <a:ahLst/>
            <a:cxnLst/>
            <a:rect l="l" t="t" r="r" b="b"/>
            <a:pathLst>
              <a:path w="5244922" h="586389">
                <a:moveTo>
                  <a:pt x="97733" y="0"/>
                </a:moveTo>
                <a:lnTo>
                  <a:pt x="5147188" y="0"/>
                </a:lnTo>
                <a:cubicBezTo>
                  <a:pt x="5201165" y="0"/>
                  <a:pt x="5244922" y="43757"/>
                  <a:pt x="5244922" y="97733"/>
                </a:cubicBezTo>
                <a:lnTo>
                  <a:pt x="5244922" y="488655"/>
                </a:lnTo>
                <a:cubicBezTo>
                  <a:pt x="5244922" y="542632"/>
                  <a:pt x="5201165" y="586389"/>
                  <a:pt x="5147188" y="586389"/>
                </a:cubicBezTo>
                <a:lnTo>
                  <a:pt x="97733" y="586389"/>
                </a:lnTo>
                <a:cubicBezTo>
                  <a:pt x="43757" y="586389"/>
                  <a:pt x="0" y="542632"/>
                  <a:pt x="0" y="488655"/>
                </a:cubicBezTo>
                <a:lnTo>
                  <a:pt x="0" y="97733"/>
                </a:lnTo>
                <a:cubicBezTo>
                  <a:pt x="0" y="43793"/>
                  <a:pt x="43793" y="0"/>
                  <a:pt x="97733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8" name="Shape 26"/>
          <p:cNvSpPr/>
          <p:nvPr/>
        </p:nvSpPr>
        <p:spPr>
          <a:xfrm>
            <a:off x="6523066" y="2150092"/>
            <a:ext cx="162886" cy="162886"/>
          </a:xfrm>
          <a:custGeom>
            <a:avLst/>
            <a:gdLst/>
            <a:ahLst/>
            <a:cxnLst/>
            <a:rect l="l" t="t" r="r" b="b"/>
            <a:pathLst>
              <a:path w="162886" h="162886">
                <a:moveTo>
                  <a:pt x="81443" y="0"/>
                </a:moveTo>
                <a:cubicBezTo>
                  <a:pt x="82906" y="0"/>
                  <a:pt x="84370" y="318"/>
                  <a:pt x="85706" y="923"/>
                </a:cubicBezTo>
                <a:lnTo>
                  <a:pt x="145643" y="26342"/>
                </a:lnTo>
                <a:cubicBezTo>
                  <a:pt x="152642" y="29300"/>
                  <a:pt x="157859" y="36204"/>
                  <a:pt x="157827" y="44539"/>
                </a:cubicBezTo>
                <a:cubicBezTo>
                  <a:pt x="157668" y="76098"/>
                  <a:pt x="144688" y="133840"/>
                  <a:pt x="89873" y="160086"/>
                </a:cubicBezTo>
                <a:cubicBezTo>
                  <a:pt x="84561" y="162631"/>
                  <a:pt x="78389" y="162631"/>
                  <a:pt x="73076" y="160086"/>
                </a:cubicBezTo>
                <a:cubicBezTo>
                  <a:pt x="18229" y="133840"/>
                  <a:pt x="5281" y="76098"/>
                  <a:pt x="5122" y="44539"/>
                </a:cubicBezTo>
                <a:cubicBezTo>
                  <a:pt x="5090" y="36204"/>
                  <a:pt x="10308" y="29300"/>
                  <a:pt x="17307" y="26342"/>
                </a:cubicBezTo>
                <a:lnTo>
                  <a:pt x="77212" y="923"/>
                </a:lnTo>
                <a:cubicBezTo>
                  <a:pt x="78548" y="318"/>
                  <a:pt x="79979" y="0"/>
                  <a:pt x="81443" y="0"/>
                </a:cubicBezTo>
                <a:close/>
                <a:moveTo>
                  <a:pt x="81443" y="21252"/>
                </a:moveTo>
                <a:lnTo>
                  <a:pt x="81443" y="141539"/>
                </a:lnTo>
                <a:cubicBezTo>
                  <a:pt x="125346" y="120287"/>
                  <a:pt x="137149" y="73203"/>
                  <a:pt x="137435" y="45016"/>
                </a:cubicBezTo>
                <a:lnTo>
                  <a:pt x="81443" y="21283"/>
                </a:lnTo>
                <a:lnTo>
                  <a:pt x="81443" y="21283"/>
                </a:ln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29" name="Text 27"/>
          <p:cNvSpPr/>
          <p:nvPr/>
        </p:nvSpPr>
        <p:spPr>
          <a:xfrm>
            <a:off x="6804044" y="2036072"/>
            <a:ext cx="2060505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04044" y="2231535"/>
            <a:ext cx="2060505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hallucination through RAG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04974" y="2622461"/>
            <a:ext cx="5244922" cy="586389"/>
          </a:xfrm>
          <a:custGeom>
            <a:avLst/>
            <a:gdLst/>
            <a:ahLst/>
            <a:cxnLst/>
            <a:rect l="l" t="t" r="r" b="b"/>
            <a:pathLst>
              <a:path w="5244922" h="586389">
                <a:moveTo>
                  <a:pt x="97733" y="0"/>
                </a:moveTo>
                <a:lnTo>
                  <a:pt x="5147188" y="0"/>
                </a:lnTo>
                <a:cubicBezTo>
                  <a:pt x="5201165" y="0"/>
                  <a:pt x="5244922" y="43757"/>
                  <a:pt x="5244922" y="97733"/>
                </a:cubicBezTo>
                <a:lnTo>
                  <a:pt x="5244922" y="488655"/>
                </a:lnTo>
                <a:cubicBezTo>
                  <a:pt x="5244922" y="542632"/>
                  <a:pt x="5201165" y="586389"/>
                  <a:pt x="5147188" y="586389"/>
                </a:cubicBezTo>
                <a:lnTo>
                  <a:pt x="97733" y="586389"/>
                </a:lnTo>
                <a:cubicBezTo>
                  <a:pt x="43757" y="586389"/>
                  <a:pt x="0" y="542632"/>
                  <a:pt x="0" y="488655"/>
                </a:cubicBezTo>
                <a:lnTo>
                  <a:pt x="0" y="97733"/>
                </a:lnTo>
                <a:cubicBezTo>
                  <a:pt x="0" y="43793"/>
                  <a:pt x="43793" y="0"/>
                  <a:pt x="97733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2" name="Shape 30"/>
          <p:cNvSpPr/>
          <p:nvPr/>
        </p:nvSpPr>
        <p:spPr>
          <a:xfrm>
            <a:off x="6523066" y="2834212"/>
            <a:ext cx="162886" cy="162886"/>
          </a:xfrm>
          <a:custGeom>
            <a:avLst/>
            <a:gdLst/>
            <a:ahLst/>
            <a:cxnLst/>
            <a:rect l="l" t="t" r="r" b="b"/>
            <a:pathLst>
              <a:path w="162886" h="162886">
                <a:moveTo>
                  <a:pt x="0" y="81443"/>
                </a:moveTo>
                <a:cubicBezTo>
                  <a:pt x="0" y="36493"/>
                  <a:pt x="36493" y="0"/>
                  <a:pt x="81443" y="0"/>
                </a:cubicBezTo>
                <a:cubicBezTo>
                  <a:pt x="126392" y="0"/>
                  <a:pt x="162886" y="36493"/>
                  <a:pt x="162886" y="81443"/>
                </a:cubicBezTo>
                <a:cubicBezTo>
                  <a:pt x="162886" y="126392"/>
                  <a:pt x="126392" y="162886"/>
                  <a:pt x="81443" y="162886"/>
                </a:cubicBezTo>
                <a:cubicBezTo>
                  <a:pt x="36493" y="162886"/>
                  <a:pt x="0" y="126392"/>
                  <a:pt x="0" y="81443"/>
                </a:cubicBezTo>
                <a:close/>
                <a:moveTo>
                  <a:pt x="91623" y="30541"/>
                </a:moveTo>
                <a:cubicBezTo>
                  <a:pt x="91623" y="24922"/>
                  <a:pt x="87062" y="20361"/>
                  <a:pt x="81443" y="20361"/>
                </a:cubicBezTo>
                <a:cubicBezTo>
                  <a:pt x="75824" y="20361"/>
                  <a:pt x="71263" y="24922"/>
                  <a:pt x="71263" y="30541"/>
                </a:cubicBezTo>
                <a:cubicBezTo>
                  <a:pt x="71263" y="36160"/>
                  <a:pt x="75824" y="40721"/>
                  <a:pt x="81443" y="40721"/>
                </a:cubicBezTo>
                <a:cubicBezTo>
                  <a:pt x="87062" y="40721"/>
                  <a:pt x="91623" y="36160"/>
                  <a:pt x="91623" y="30541"/>
                </a:cubicBezTo>
                <a:close/>
                <a:moveTo>
                  <a:pt x="81443" y="132345"/>
                </a:moveTo>
                <a:cubicBezTo>
                  <a:pt x="92673" y="132345"/>
                  <a:pt x="101804" y="123214"/>
                  <a:pt x="101804" y="111984"/>
                </a:cubicBezTo>
                <a:cubicBezTo>
                  <a:pt x="101804" y="106830"/>
                  <a:pt x="99895" y="102090"/>
                  <a:pt x="96713" y="98527"/>
                </a:cubicBezTo>
                <a:lnTo>
                  <a:pt x="118824" y="54338"/>
                </a:lnTo>
                <a:cubicBezTo>
                  <a:pt x="120701" y="50552"/>
                  <a:pt x="119174" y="45971"/>
                  <a:pt x="115420" y="44094"/>
                </a:cubicBezTo>
                <a:cubicBezTo>
                  <a:pt x="111666" y="42217"/>
                  <a:pt x="107053" y="43744"/>
                  <a:pt x="105176" y="47498"/>
                </a:cubicBezTo>
                <a:lnTo>
                  <a:pt x="83065" y="91687"/>
                </a:lnTo>
                <a:cubicBezTo>
                  <a:pt x="82525" y="91655"/>
                  <a:pt x="81984" y="91623"/>
                  <a:pt x="81443" y="91623"/>
                </a:cubicBezTo>
                <a:cubicBezTo>
                  <a:pt x="70213" y="91623"/>
                  <a:pt x="61082" y="100754"/>
                  <a:pt x="61082" y="111984"/>
                </a:cubicBezTo>
                <a:cubicBezTo>
                  <a:pt x="61082" y="123214"/>
                  <a:pt x="70213" y="132345"/>
                  <a:pt x="81443" y="132345"/>
                </a:cubicBezTo>
                <a:close/>
                <a:moveTo>
                  <a:pt x="55992" y="45812"/>
                </a:moveTo>
                <a:cubicBezTo>
                  <a:pt x="55992" y="40193"/>
                  <a:pt x="51430" y="35631"/>
                  <a:pt x="45812" y="35631"/>
                </a:cubicBezTo>
                <a:cubicBezTo>
                  <a:pt x="40193" y="35631"/>
                  <a:pt x="35631" y="40193"/>
                  <a:pt x="35631" y="45812"/>
                </a:cubicBezTo>
                <a:cubicBezTo>
                  <a:pt x="35631" y="51430"/>
                  <a:pt x="40193" y="55992"/>
                  <a:pt x="45812" y="55992"/>
                </a:cubicBezTo>
                <a:cubicBezTo>
                  <a:pt x="51430" y="55992"/>
                  <a:pt x="55992" y="51430"/>
                  <a:pt x="55992" y="45812"/>
                </a:cubicBezTo>
                <a:close/>
                <a:moveTo>
                  <a:pt x="30541" y="91623"/>
                </a:moveTo>
                <a:cubicBezTo>
                  <a:pt x="36160" y="91623"/>
                  <a:pt x="40721" y="87062"/>
                  <a:pt x="40721" y="81443"/>
                </a:cubicBezTo>
                <a:cubicBezTo>
                  <a:pt x="40721" y="75824"/>
                  <a:pt x="36160" y="71263"/>
                  <a:pt x="30541" y="71263"/>
                </a:cubicBezTo>
                <a:cubicBezTo>
                  <a:pt x="24922" y="71263"/>
                  <a:pt x="20361" y="75824"/>
                  <a:pt x="20361" y="81443"/>
                </a:cubicBezTo>
                <a:cubicBezTo>
                  <a:pt x="20361" y="87062"/>
                  <a:pt x="24922" y="91623"/>
                  <a:pt x="30541" y="91623"/>
                </a:cubicBezTo>
                <a:close/>
                <a:moveTo>
                  <a:pt x="142525" y="81443"/>
                </a:moveTo>
                <a:cubicBezTo>
                  <a:pt x="142525" y="75824"/>
                  <a:pt x="137963" y="71263"/>
                  <a:pt x="132345" y="71263"/>
                </a:cubicBezTo>
                <a:cubicBezTo>
                  <a:pt x="126726" y="71263"/>
                  <a:pt x="122164" y="75824"/>
                  <a:pt x="122164" y="81443"/>
                </a:cubicBezTo>
                <a:cubicBezTo>
                  <a:pt x="122164" y="87062"/>
                  <a:pt x="126726" y="91623"/>
                  <a:pt x="132345" y="91623"/>
                </a:cubicBezTo>
                <a:cubicBezTo>
                  <a:pt x="137963" y="91623"/>
                  <a:pt x="142525" y="87062"/>
                  <a:pt x="142525" y="81443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33" name="Text 31"/>
          <p:cNvSpPr/>
          <p:nvPr/>
        </p:nvSpPr>
        <p:spPr>
          <a:xfrm>
            <a:off x="6804044" y="2720192"/>
            <a:ext cx="1694012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Accessibility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04044" y="2915655"/>
            <a:ext cx="1694012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 interaction for all users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04974" y="3306581"/>
            <a:ext cx="5244922" cy="586389"/>
          </a:xfrm>
          <a:custGeom>
            <a:avLst/>
            <a:gdLst/>
            <a:ahLst/>
            <a:cxnLst/>
            <a:rect l="l" t="t" r="r" b="b"/>
            <a:pathLst>
              <a:path w="5244922" h="586389">
                <a:moveTo>
                  <a:pt x="97733" y="0"/>
                </a:moveTo>
                <a:lnTo>
                  <a:pt x="5147188" y="0"/>
                </a:lnTo>
                <a:cubicBezTo>
                  <a:pt x="5201165" y="0"/>
                  <a:pt x="5244922" y="43757"/>
                  <a:pt x="5244922" y="97733"/>
                </a:cubicBezTo>
                <a:lnTo>
                  <a:pt x="5244922" y="488655"/>
                </a:lnTo>
                <a:cubicBezTo>
                  <a:pt x="5244922" y="542632"/>
                  <a:pt x="5201165" y="586389"/>
                  <a:pt x="5147188" y="586389"/>
                </a:cubicBezTo>
                <a:lnTo>
                  <a:pt x="97733" y="586389"/>
                </a:lnTo>
                <a:cubicBezTo>
                  <a:pt x="43757" y="586389"/>
                  <a:pt x="0" y="542632"/>
                  <a:pt x="0" y="488655"/>
                </a:cubicBezTo>
                <a:lnTo>
                  <a:pt x="0" y="97733"/>
                </a:lnTo>
                <a:cubicBezTo>
                  <a:pt x="0" y="43793"/>
                  <a:pt x="43793" y="0"/>
                  <a:pt x="97733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6" name="Shape 34"/>
          <p:cNvSpPr/>
          <p:nvPr/>
        </p:nvSpPr>
        <p:spPr>
          <a:xfrm>
            <a:off x="6523066" y="3518333"/>
            <a:ext cx="162886" cy="162886"/>
          </a:xfrm>
          <a:custGeom>
            <a:avLst/>
            <a:gdLst/>
            <a:ahLst/>
            <a:cxnLst/>
            <a:rect l="l" t="t" r="r" b="b"/>
            <a:pathLst>
              <a:path w="162886" h="162886">
                <a:moveTo>
                  <a:pt x="81443" y="162886"/>
                </a:moveTo>
                <a:cubicBezTo>
                  <a:pt x="126392" y="162886"/>
                  <a:pt x="162886" y="126392"/>
                  <a:pt x="162886" y="81443"/>
                </a:cubicBezTo>
                <a:cubicBezTo>
                  <a:pt x="162886" y="36493"/>
                  <a:pt x="126392" y="0"/>
                  <a:pt x="81443" y="0"/>
                </a:cubicBezTo>
                <a:cubicBezTo>
                  <a:pt x="36493" y="0"/>
                  <a:pt x="0" y="36493"/>
                  <a:pt x="0" y="81443"/>
                </a:cubicBezTo>
                <a:cubicBezTo>
                  <a:pt x="0" y="126392"/>
                  <a:pt x="36493" y="162886"/>
                  <a:pt x="81443" y="162886"/>
                </a:cubicBezTo>
                <a:close/>
                <a:moveTo>
                  <a:pt x="52620" y="102408"/>
                </a:moveTo>
                <a:cubicBezTo>
                  <a:pt x="59110" y="111316"/>
                  <a:pt x="69608" y="117074"/>
                  <a:pt x="81443" y="117074"/>
                </a:cubicBezTo>
                <a:cubicBezTo>
                  <a:pt x="93278" y="117074"/>
                  <a:pt x="103776" y="111316"/>
                  <a:pt x="110266" y="102408"/>
                </a:cubicBezTo>
                <a:cubicBezTo>
                  <a:pt x="112747" y="99004"/>
                  <a:pt x="117520" y="98240"/>
                  <a:pt x="120924" y="100722"/>
                </a:cubicBezTo>
                <a:cubicBezTo>
                  <a:pt x="124328" y="103203"/>
                  <a:pt x="125091" y="107975"/>
                  <a:pt x="122610" y="111380"/>
                </a:cubicBezTo>
                <a:cubicBezTo>
                  <a:pt x="113352" y="124073"/>
                  <a:pt x="98368" y="132345"/>
                  <a:pt x="81443" y="132345"/>
                </a:cubicBezTo>
                <a:cubicBezTo>
                  <a:pt x="64518" y="132345"/>
                  <a:pt x="49534" y="124073"/>
                  <a:pt x="40276" y="111380"/>
                </a:cubicBezTo>
                <a:cubicBezTo>
                  <a:pt x="37795" y="107975"/>
                  <a:pt x="38558" y="103203"/>
                  <a:pt x="41962" y="100722"/>
                </a:cubicBezTo>
                <a:cubicBezTo>
                  <a:pt x="45366" y="98240"/>
                  <a:pt x="50138" y="99004"/>
                  <a:pt x="52620" y="102408"/>
                </a:cubicBezTo>
                <a:close/>
                <a:moveTo>
                  <a:pt x="45812" y="66172"/>
                </a:moveTo>
                <a:cubicBezTo>
                  <a:pt x="45812" y="60554"/>
                  <a:pt x="50373" y="55992"/>
                  <a:pt x="55992" y="55992"/>
                </a:cubicBezTo>
                <a:cubicBezTo>
                  <a:pt x="61611" y="55992"/>
                  <a:pt x="66172" y="60554"/>
                  <a:pt x="66172" y="66172"/>
                </a:cubicBezTo>
                <a:cubicBezTo>
                  <a:pt x="66172" y="71791"/>
                  <a:pt x="61611" y="76353"/>
                  <a:pt x="55992" y="76353"/>
                </a:cubicBezTo>
                <a:cubicBezTo>
                  <a:pt x="50373" y="76353"/>
                  <a:pt x="45812" y="71791"/>
                  <a:pt x="45812" y="66172"/>
                </a:cubicBezTo>
                <a:close/>
                <a:moveTo>
                  <a:pt x="106894" y="55992"/>
                </a:moveTo>
                <a:cubicBezTo>
                  <a:pt x="112512" y="55992"/>
                  <a:pt x="117074" y="60554"/>
                  <a:pt x="117074" y="66172"/>
                </a:cubicBezTo>
                <a:cubicBezTo>
                  <a:pt x="117074" y="71791"/>
                  <a:pt x="112512" y="76353"/>
                  <a:pt x="106894" y="76353"/>
                </a:cubicBezTo>
                <a:cubicBezTo>
                  <a:pt x="101275" y="76353"/>
                  <a:pt x="96713" y="71791"/>
                  <a:pt x="96713" y="66172"/>
                </a:cubicBezTo>
                <a:cubicBezTo>
                  <a:pt x="96713" y="60554"/>
                  <a:pt x="101275" y="55992"/>
                  <a:pt x="106894" y="55992"/>
                </a:cubicBez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37" name="Text 35"/>
          <p:cNvSpPr/>
          <p:nvPr/>
        </p:nvSpPr>
        <p:spPr>
          <a:xfrm>
            <a:off x="6804044" y="3404313"/>
            <a:ext cx="1930196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b="1" dirty="0">
                <a:solidFill>
                  <a:srgbClr val="1A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Engagement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04044" y="3599776"/>
            <a:ext cx="1930196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Avatar enhances user experience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93222" y="4235030"/>
            <a:ext cx="5668425" cy="781852"/>
          </a:xfrm>
          <a:custGeom>
            <a:avLst/>
            <a:gdLst/>
            <a:ahLst/>
            <a:cxnLst/>
            <a:rect l="l" t="t" r="r" b="b"/>
            <a:pathLst>
              <a:path w="5668425" h="781852">
                <a:moveTo>
                  <a:pt x="130311" y="0"/>
                </a:moveTo>
                <a:lnTo>
                  <a:pt x="5538114" y="0"/>
                </a:lnTo>
                <a:cubicBezTo>
                  <a:pt x="5610083" y="0"/>
                  <a:pt x="5668425" y="58342"/>
                  <a:pt x="5668425" y="130311"/>
                </a:cubicBezTo>
                <a:lnTo>
                  <a:pt x="5668425" y="651540"/>
                </a:lnTo>
                <a:cubicBezTo>
                  <a:pt x="5668425" y="723509"/>
                  <a:pt x="5610083" y="781852"/>
                  <a:pt x="5538114" y="781852"/>
                </a:cubicBezTo>
                <a:lnTo>
                  <a:pt x="130311" y="781852"/>
                </a:lnTo>
                <a:cubicBezTo>
                  <a:pt x="58391" y="781852"/>
                  <a:pt x="0" y="723461"/>
                  <a:pt x="0" y="651540"/>
                </a:cubicBezTo>
                <a:lnTo>
                  <a:pt x="0" y="130311"/>
                </a:lnTo>
                <a:cubicBezTo>
                  <a:pt x="0" y="58391"/>
                  <a:pt x="58391" y="0"/>
                  <a:pt x="130311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B8B"/>
              </a:gs>
              <a:gs pos="100000">
                <a:srgbClr val="1A3A5C"/>
              </a:gs>
            </a:gsLst>
            <a:lin ang="0" scaled="1"/>
          </a:gradFill>
          <a:ln/>
          <a:effectLst>
            <a:outerShdw blurRad="203607" dist="16288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56108" y="4397916"/>
            <a:ext cx="456080" cy="456080"/>
          </a:xfrm>
          <a:custGeom>
            <a:avLst/>
            <a:gdLst/>
            <a:ahLst/>
            <a:cxnLst/>
            <a:rect l="l" t="t" r="r" b="b"/>
            <a:pathLst>
              <a:path w="456080" h="456080">
                <a:moveTo>
                  <a:pt x="97733" y="0"/>
                </a:moveTo>
                <a:lnTo>
                  <a:pt x="358347" y="0"/>
                </a:lnTo>
                <a:cubicBezTo>
                  <a:pt x="412287" y="0"/>
                  <a:pt x="456080" y="43793"/>
                  <a:pt x="456080" y="97733"/>
                </a:cubicBezTo>
                <a:lnTo>
                  <a:pt x="456080" y="358347"/>
                </a:lnTo>
                <a:cubicBezTo>
                  <a:pt x="456080" y="412287"/>
                  <a:pt x="412287" y="456080"/>
                  <a:pt x="358347" y="456080"/>
                </a:cubicBezTo>
                <a:lnTo>
                  <a:pt x="97733" y="456080"/>
                </a:lnTo>
                <a:cubicBezTo>
                  <a:pt x="43793" y="456080"/>
                  <a:pt x="0" y="412287"/>
                  <a:pt x="0" y="358347"/>
                </a:cubicBezTo>
                <a:lnTo>
                  <a:pt x="0" y="97733"/>
                </a:lnTo>
                <a:cubicBezTo>
                  <a:pt x="0" y="43793"/>
                  <a:pt x="43793" y="0"/>
                  <a:pt x="97733" y="0"/>
                </a:cubicBezTo>
                <a:close/>
              </a:path>
            </a:pathLst>
          </a:custGeom>
          <a:solidFill>
            <a:srgbClr val="F1F5F9">
              <a:alpha val="2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486417" y="4528224"/>
            <a:ext cx="195463" cy="195463"/>
          </a:xfrm>
          <a:custGeom>
            <a:avLst/>
            <a:gdLst/>
            <a:ahLst/>
            <a:cxnLst/>
            <a:rect l="l" t="t" r="r" b="b"/>
            <a:pathLst>
              <a:path w="195463" h="195463">
                <a:moveTo>
                  <a:pt x="195463" y="36649"/>
                </a:moveTo>
                <a:cubicBezTo>
                  <a:pt x="195463" y="55814"/>
                  <a:pt x="172901" y="84408"/>
                  <a:pt x="163166" y="95823"/>
                </a:cubicBezTo>
                <a:cubicBezTo>
                  <a:pt x="161715" y="97502"/>
                  <a:pt x="159577" y="98151"/>
                  <a:pt x="157630" y="97731"/>
                </a:cubicBezTo>
                <a:lnTo>
                  <a:pt x="122164" y="97731"/>
                </a:lnTo>
                <a:cubicBezTo>
                  <a:pt x="115407" y="97731"/>
                  <a:pt x="109948" y="103191"/>
                  <a:pt x="109948" y="109948"/>
                </a:cubicBezTo>
                <a:cubicBezTo>
                  <a:pt x="109948" y="116705"/>
                  <a:pt x="115407" y="122164"/>
                  <a:pt x="122164" y="122164"/>
                </a:cubicBezTo>
                <a:lnTo>
                  <a:pt x="158814" y="122164"/>
                </a:lnTo>
                <a:cubicBezTo>
                  <a:pt x="179047" y="122164"/>
                  <a:pt x="195463" y="138580"/>
                  <a:pt x="195463" y="158814"/>
                </a:cubicBezTo>
                <a:cubicBezTo>
                  <a:pt x="195463" y="179047"/>
                  <a:pt x="179047" y="195463"/>
                  <a:pt x="158814" y="195463"/>
                </a:cubicBezTo>
                <a:lnTo>
                  <a:pt x="53294" y="195463"/>
                </a:lnTo>
                <a:cubicBezTo>
                  <a:pt x="56616" y="191683"/>
                  <a:pt x="60662" y="186835"/>
                  <a:pt x="64747" y="181414"/>
                </a:cubicBezTo>
                <a:cubicBezTo>
                  <a:pt x="67152" y="178207"/>
                  <a:pt x="69634" y="174695"/>
                  <a:pt x="72001" y="171030"/>
                </a:cubicBezTo>
                <a:lnTo>
                  <a:pt x="158814" y="171030"/>
                </a:lnTo>
                <a:cubicBezTo>
                  <a:pt x="165571" y="171030"/>
                  <a:pt x="171030" y="165571"/>
                  <a:pt x="171030" y="158814"/>
                </a:cubicBezTo>
                <a:cubicBezTo>
                  <a:pt x="171030" y="152056"/>
                  <a:pt x="165571" y="146597"/>
                  <a:pt x="158814" y="146597"/>
                </a:cubicBezTo>
                <a:lnTo>
                  <a:pt x="122164" y="146597"/>
                </a:lnTo>
                <a:cubicBezTo>
                  <a:pt x="101931" y="146597"/>
                  <a:pt x="85515" y="130181"/>
                  <a:pt x="85515" y="109948"/>
                </a:cubicBezTo>
                <a:cubicBezTo>
                  <a:pt x="85515" y="89714"/>
                  <a:pt x="101931" y="73299"/>
                  <a:pt x="122164" y="73299"/>
                </a:cubicBezTo>
                <a:lnTo>
                  <a:pt x="137359" y="73299"/>
                </a:lnTo>
                <a:cubicBezTo>
                  <a:pt x="129341" y="61273"/>
                  <a:pt x="122164" y="47453"/>
                  <a:pt x="122164" y="36649"/>
                </a:cubicBezTo>
                <a:cubicBezTo>
                  <a:pt x="122164" y="16416"/>
                  <a:pt x="138580" y="0"/>
                  <a:pt x="158814" y="0"/>
                </a:cubicBezTo>
                <a:cubicBezTo>
                  <a:pt x="179047" y="0"/>
                  <a:pt x="195463" y="16416"/>
                  <a:pt x="195463" y="36649"/>
                </a:cubicBezTo>
                <a:close/>
                <a:moveTo>
                  <a:pt x="44705" y="186721"/>
                </a:moveTo>
                <a:cubicBezTo>
                  <a:pt x="43254" y="188362"/>
                  <a:pt x="41956" y="189813"/>
                  <a:pt x="40849" y="191034"/>
                </a:cubicBezTo>
                <a:lnTo>
                  <a:pt x="40162" y="191798"/>
                </a:lnTo>
                <a:lnTo>
                  <a:pt x="40085" y="191722"/>
                </a:lnTo>
                <a:cubicBezTo>
                  <a:pt x="37795" y="193478"/>
                  <a:pt x="34511" y="193249"/>
                  <a:pt x="32450" y="191034"/>
                </a:cubicBezTo>
                <a:cubicBezTo>
                  <a:pt x="22829" y="180574"/>
                  <a:pt x="0" y="153660"/>
                  <a:pt x="0" y="134381"/>
                </a:cubicBezTo>
                <a:cubicBezTo>
                  <a:pt x="0" y="114147"/>
                  <a:pt x="16416" y="97731"/>
                  <a:pt x="36649" y="97731"/>
                </a:cubicBezTo>
                <a:cubicBezTo>
                  <a:pt x="56883" y="97731"/>
                  <a:pt x="73299" y="114147"/>
                  <a:pt x="73299" y="134381"/>
                </a:cubicBezTo>
                <a:cubicBezTo>
                  <a:pt x="73299" y="145834"/>
                  <a:pt x="65243" y="159959"/>
                  <a:pt x="56692" y="171755"/>
                </a:cubicBezTo>
                <a:cubicBezTo>
                  <a:pt x="52607" y="177367"/>
                  <a:pt x="48408" y="182445"/>
                  <a:pt x="44934" y="186453"/>
                </a:cubicBezTo>
                <a:lnTo>
                  <a:pt x="44705" y="186721"/>
                </a:lnTo>
                <a:close/>
                <a:moveTo>
                  <a:pt x="48866" y="134381"/>
                </a:moveTo>
                <a:cubicBezTo>
                  <a:pt x="48866" y="127638"/>
                  <a:pt x="43392" y="122164"/>
                  <a:pt x="36649" y="122164"/>
                </a:cubicBezTo>
                <a:cubicBezTo>
                  <a:pt x="29907" y="122164"/>
                  <a:pt x="24433" y="127638"/>
                  <a:pt x="24433" y="134381"/>
                </a:cubicBezTo>
                <a:cubicBezTo>
                  <a:pt x="24433" y="141123"/>
                  <a:pt x="29907" y="146597"/>
                  <a:pt x="36649" y="146597"/>
                </a:cubicBezTo>
                <a:cubicBezTo>
                  <a:pt x="43392" y="146597"/>
                  <a:pt x="48866" y="141123"/>
                  <a:pt x="48866" y="134381"/>
                </a:cubicBezTo>
                <a:close/>
                <a:moveTo>
                  <a:pt x="158814" y="48866"/>
                </a:moveTo>
                <a:cubicBezTo>
                  <a:pt x="165556" y="48866"/>
                  <a:pt x="171030" y="43392"/>
                  <a:pt x="171030" y="36649"/>
                </a:cubicBezTo>
                <a:cubicBezTo>
                  <a:pt x="171030" y="29907"/>
                  <a:pt x="165556" y="24433"/>
                  <a:pt x="158814" y="24433"/>
                </a:cubicBezTo>
                <a:cubicBezTo>
                  <a:pt x="152071" y="24433"/>
                  <a:pt x="146597" y="29907"/>
                  <a:pt x="146597" y="36649"/>
                </a:cubicBezTo>
                <a:cubicBezTo>
                  <a:pt x="146597" y="43392"/>
                  <a:pt x="152071" y="48866"/>
                  <a:pt x="158814" y="48866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42" name="Text 40"/>
          <p:cNvSpPr/>
          <p:nvPr/>
        </p:nvSpPr>
        <p:spPr>
          <a:xfrm>
            <a:off x="6942497" y="4397916"/>
            <a:ext cx="2614317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4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Phased Development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42497" y="4658533"/>
            <a:ext cx="2606172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Ensures reliability before visual enhancement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25772" y="5147190"/>
            <a:ext cx="11540457" cy="1384529"/>
          </a:xfrm>
          <a:custGeom>
            <a:avLst/>
            <a:gdLst/>
            <a:ahLst/>
            <a:cxnLst/>
            <a:rect l="l" t="t" r="r" b="b"/>
            <a:pathLst>
              <a:path w="11540457" h="1384529">
                <a:moveTo>
                  <a:pt x="130312" y="0"/>
                </a:moveTo>
                <a:lnTo>
                  <a:pt x="11410145" y="0"/>
                </a:lnTo>
                <a:cubicBezTo>
                  <a:pt x="11482114" y="0"/>
                  <a:pt x="11540457" y="58343"/>
                  <a:pt x="11540457" y="130312"/>
                </a:cubicBezTo>
                <a:lnTo>
                  <a:pt x="11540457" y="1254217"/>
                </a:lnTo>
                <a:cubicBezTo>
                  <a:pt x="11540457" y="1326186"/>
                  <a:pt x="11482114" y="1384529"/>
                  <a:pt x="11410145" y="1384529"/>
                </a:cubicBezTo>
                <a:lnTo>
                  <a:pt x="130312" y="1384529"/>
                </a:lnTo>
                <a:cubicBezTo>
                  <a:pt x="58343" y="1384529"/>
                  <a:pt x="0" y="1326186"/>
                  <a:pt x="0" y="1254217"/>
                </a:cubicBezTo>
                <a:lnTo>
                  <a:pt x="0" y="130312"/>
                </a:lnTo>
                <a:cubicBezTo>
                  <a:pt x="0" y="58343"/>
                  <a:pt x="58343" y="0"/>
                  <a:pt x="130312" y="0"/>
                </a:cubicBezTo>
                <a:close/>
              </a:path>
            </a:pathLst>
          </a:custGeom>
          <a:gradFill flip="none" rotWithShape="1">
            <a:gsLst>
              <a:gs pos="0">
                <a:srgbClr val="1A3A5C"/>
              </a:gs>
              <a:gs pos="100000">
                <a:srgbClr val="3D8B8B"/>
              </a:gs>
            </a:gsLst>
            <a:lin ang="0" scaled="1"/>
          </a:gradFill>
          <a:ln/>
          <a:effectLst>
            <a:outerShdw blurRad="203607" dist="16288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21234" y="5513683"/>
            <a:ext cx="651543" cy="651543"/>
          </a:xfrm>
          <a:custGeom>
            <a:avLst/>
            <a:gdLst/>
            <a:ahLst/>
            <a:cxnLst/>
            <a:rect l="l" t="t" r="r" b="b"/>
            <a:pathLst>
              <a:path w="651543" h="651543">
                <a:moveTo>
                  <a:pt x="130309" y="0"/>
                </a:moveTo>
                <a:lnTo>
                  <a:pt x="521234" y="0"/>
                </a:lnTo>
                <a:cubicBezTo>
                  <a:pt x="593202" y="0"/>
                  <a:pt x="651543" y="58341"/>
                  <a:pt x="651543" y="130309"/>
                </a:cubicBezTo>
                <a:lnTo>
                  <a:pt x="651543" y="521234"/>
                </a:lnTo>
                <a:cubicBezTo>
                  <a:pt x="651543" y="593202"/>
                  <a:pt x="593202" y="651543"/>
                  <a:pt x="521234" y="651543"/>
                </a:cubicBezTo>
                <a:lnTo>
                  <a:pt x="130309" y="651543"/>
                </a:lnTo>
                <a:cubicBezTo>
                  <a:pt x="58341" y="651543"/>
                  <a:pt x="0" y="593202"/>
                  <a:pt x="0" y="521234"/>
                </a:cubicBezTo>
                <a:lnTo>
                  <a:pt x="0" y="130309"/>
                </a:lnTo>
                <a:cubicBezTo>
                  <a:pt x="0" y="58389"/>
                  <a:pt x="58389" y="0"/>
                  <a:pt x="130309" y="0"/>
                </a:cubicBezTo>
                <a:close/>
              </a:path>
            </a:pathLst>
          </a:custGeom>
          <a:solidFill>
            <a:srgbClr val="F1F5F9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00409" y="5692858"/>
            <a:ext cx="293194" cy="293194"/>
          </a:xfrm>
          <a:custGeom>
            <a:avLst/>
            <a:gdLst/>
            <a:ahLst/>
            <a:cxnLst/>
            <a:rect l="l" t="t" r="r" b="b"/>
            <a:pathLst>
              <a:path w="293194" h="293194">
                <a:moveTo>
                  <a:pt x="73299" y="183246"/>
                </a:moveTo>
                <a:lnTo>
                  <a:pt x="14030" y="183246"/>
                </a:lnTo>
                <a:cubicBezTo>
                  <a:pt x="-229" y="183246"/>
                  <a:pt x="-8991" y="167728"/>
                  <a:pt x="-1661" y="155473"/>
                </a:cubicBezTo>
                <a:lnTo>
                  <a:pt x="28632" y="104966"/>
                </a:lnTo>
                <a:cubicBezTo>
                  <a:pt x="33614" y="96663"/>
                  <a:pt x="42548" y="91623"/>
                  <a:pt x="52225" y="91623"/>
                </a:cubicBezTo>
                <a:lnTo>
                  <a:pt x="106627" y="91623"/>
                </a:lnTo>
                <a:cubicBezTo>
                  <a:pt x="150205" y="17809"/>
                  <a:pt x="215200" y="14087"/>
                  <a:pt x="258664" y="20443"/>
                </a:cubicBezTo>
                <a:cubicBezTo>
                  <a:pt x="265994" y="21531"/>
                  <a:pt x="271720" y="27258"/>
                  <a:pt x="272751" y="34531"/>
                </a:cubicBezTo>
                <a:cubicBezTo>
                  <a:pt x="279107" y="77994"/>
                  <a:pt x="275385" y="142990"/>
                  <a:pt x="201571" y="186568"/>
                </a:cubicBezTo>
                <a:lnTo>
                  <a:pt x="201571" y="240969"/>
                </a:lnTo>
                <a:cubicBezTo>
                  <a:pt x="201571" y="250647"/>
                  <a:pt x="196532" y="259580"/>
                  <a:pt x="188229" y="264562"/>
                </a:cubicBezTo>
                <a:lnTo>
                  <a:pt x="137721" y="294855"/>
                </a:lnTo>
                <a:cubicBezTo>
                  <a:pt x="125524" y="302185"/>
                  <a:pt x="109948" y="293366"/>
                  <a:pt x="109948" y="279165"/>
                </a:cubicBezTo>
                <a:lnTo>
                  <a:pt x="109948" y="219896"/>
                </a:lnTo>
                <a:cubicBezTo>
                  <a:pt x="109948" y="199681"/>
                  <a:pt x="93513" y="183246"/>
                  <a:pt x="73299" y="183246"/>
                </a:cubicBezTo>
                <a:lnTo>
                  <a:pt x="73241" y="183246"/>
                </a:lnTo>
                <a:close/>
                <a:moveTo>
                  <a:pt x="229058" y="91623"/>
                </a:moveTo>
                <a:cubicBezTo>
                  <a:pt x="229058" y="76453"/>
                  <a:pt x="216742" y="64136"/>
                  <a:pt x="201571" y="64136"/>
                </a:cubicBezTo>
                <a:cubicBezTo>
                  <a:pt x="186401" y="64136"/>
                  <a:pt x="174084" y="76453"/>
                  <a:pt x="174084" y="91623"/>
                </a:cubicBezTo>
                <a:cubicBezTo>
                  <a:pt x="174084" y="106794"/>
                  <a:pt x="186401" y="119110"/>
                  <a:pt x="201571" y="119110"/>
                </a:cubicBezTo>
                <a:cubicBezTo>
                  <a:pt x="216742" y="119110"/>
                  <a:pt x="229058" y="106794"/>
                  <a:pt x="229058" y="91623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47" name="Text 45"/>
          <p:cNvSpPr/>
          <p:nvPr/>
        </p:nvSpPr>
        <p:spPr>
          <a:xfrm>
            <a:off x="1368240" y="5342653"/>
            <a:ext cx="10400257" cy="260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9" b="1" dirty="0">
                <a:solidFill>
                  <a:srgbClr val="F1F5F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Project Impact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368240" y="5701002"/>
            <a:ext cx="10367679" cy="635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6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project demonstrates that combining </a:t>
            </a:r>
            <a:r>
              <a:rPr lang="en-US" sz="1026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fine-tuned Large Language Models</a:t>
            </a:r>
            <a:r>
              <a:rPr lang="en-US" sz="1026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</a:t>
            </a:r>
            <a:r>
              <a:rPr lang="en-US" sz="1026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Retrieval-Augmented Generation</a:t>
            </a:r>
            <a:r>
              <a:rPr lang="en-US" sz="1026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a </a:t>
            </a:r>
            <a:r>
              <a:rPr lang="en-US" sz="1026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Unity-based AI avatar</a:t>
            </a:r>
            <a:r>
              <a:rPr lang="en-US" sz="1026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 deliver accurate, accessible, and engaging academic advising support. The phased development approach ensures reliability, reduces hallucination, and enhances user experience—addressing critical gaps in existing academic support systems.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ai-bot.cn/aac542af39b26f9eb21f855170728b3b83ba4d67.jpg"/>
          <p:cNvPicPr>
            <a:picLocks noChangeAspect="1"/>
          </p:cNvPicPr>
          <p:nvPr/>
        </p:nvPicPr>
        <p:blipFill>
          <a:blip r:embed="rId3">
            <a:alphaModFix amt="20000"/>
          </a:blip>
          <a:srcRect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3A5C">
                  <a:alpha val="95000"/>
                </a:srgbClr>
              </a:gs>
              <a:gs pos="50000">
                <a:srgbClr val="1A3A5C">
                  <a:alpha val="90000"/>
                </a:srgbClr>
              </a:gs>
              <a:gs pos="100000">
                <a:srgbClr val="3D8B8B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D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/ References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1F5F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219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APA 7th Edition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4175" y="1717675"/>
            <a:ext cx="5635625" cy="806450"/>
          </a:xfrm>
          <a:custGeom>
            <a:avLst/>
            <a:gdLst/>
            <a:ahLst/>
            <a:cxnLst/>
            <a:rect l="l" t="t" r="r" b="b"/>
            <a:pathLst>
              <a:path w="5635625" h="806450">
                <a:moveTo>
                  <a:pt x="114298" y="0"/>
                </a:moveTo>
                <a:lnTo>
                  <a:pt x="5521327" y="0"/>
                </a:lnTo>
                <a:cubicBezTo>
                  <a:pt x="5584452" y="0"/>
                  <a:pt x="5635625" y="51173"/>
                  <a:pt x="5635625" y="114298"/>
                </a:cubicBezTo>
                <a:lnTo>
                  <a:pt x="5635625" y="692152"/>
                </a:lnTo>
                <a:cubicBezTo>
                  <a:pt x="5635625" y="755277"/>
                  <a:pt x="5584452" y="806450"/>
                  <a:pt x="5521327" y="806450"/>
                </a:cubicBezTo>
                <a:lnTo>
                  <a:pt x="114298" y="806450"/>
                </a:lnTo>
                <a:cubicBezTo>
                  <a:pt x="51173" y="806450"/>
                  <a:pt x="0" y="755277"/>
                  <a:pt x="0" y="69215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F1F5F9">
              <a:alpha val="10196"/>
            </a:srgbClr>
          </a:solidFill>
          <a:ln w="8467">
            <a:solidFill>
              <a:srgbClr val="F1F5F9">
                <a:alpha val="2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9750" y="1873253"/>
            <a:ext cx="54006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D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Brown, T., Mann, B., Ryder, N., et al.</a:t>
            </a:r>
            <a:r>
              <a:rPr lang="en-US" sz="12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(2020). Language models are few-shot learners. Advances in Neural Information Processing Systems, 33, 1877–1901.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4175" y="2644772"/>
            <a:ext cx="5635625" cy="806450"/>
          </a:xfrm>
          <a:custGeom>
            <a:avLst/>
            <a:gdLst/>
            <a:ahLst/>
            <a:cxnLst/>
            <a:rect l="l" t="t" r="r" b="b"/>
            <a:pathLst>
              <a:path w="5635625" h="806450">
                <a:moveTo>
                  <a:pt x="114298" y="0"/>
                </a:moveTo>
                <a:lnTo>
                  <a:pt x="5521327" y="0"/>
                </a:lnTo>
                <a:cubicBezTo>
                  <a:pt x="5584452" y="0"/>
                  <a:pt x="5635625" y="51173"/>
                  <a:pt x="5635625" y="114298"/>
                </a:cubicBezTo>
                <a:lnTo>
                  <a:pt x="5635625" y="692152"/>
                </a:lnTo>
                <a:cubicBezTo>
                  <a:pt x="5635625" y="755277"/>
                  <a:pt x="5584452" y="806450"/>
                  <a:pt x="5521327" y="806450"/>
                </a:cubicBezTo>
                <a:lnTo>
                  <a:pt x="114298" y="806450"/>
                </a:lnTo>
                <a:cubicBezTo>
                  <a:pt x="51173" y="806450"/>
                  <a:pt x="0" y="755277"/>
                  <a:pt x="0" y="69215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F1F5F9">
              <a:alpha val="10196"/>
            </a:srgbClr>
          </a:solidFill>
          <a:ln w="8467">
            <a:solidFill>
              <a:srgbClr val="F1F5F9">
                <a:alpha val="2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9750" y="2800350"/>
            <a:ext cx="54006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D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Devlin, J., Chang, M.-W., Lee, K., &amp; Toutanova, K.</a:t>
            </a:r>
            <a:r>
              <a:rPr lang="en-US" sz="12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(2019). BERT: Pre-training of deep bidirectional transformers for language understanding. NAACL-HLT.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4175" y="3571878"/>
            <a:ext cx="5635625" cy="806450"/>
          </a:xfrm>
          <a:custGeom>
            <a:avLst/>
            <a:gdLst/>
            <a:ahLst/>
            <a:cxnLst/>
            <a:rect l="l" t="t" r="r" b="b"/>
            <a:pathLst>
              <a:path w="5635625" h="806450">
                <a:moveTo>
                  <a:pt x="114298" y="0"/>
                </a:moveTo>
                <a:lnTo>
                  <a:pt x="5521327" y="0"/>
                </a:lnTo>
                <a:cubicBezTo>
                  <a:pt x="5584452" y="0"/>
                  <a:pt x="5635625" y="51173"/>
                  <a:pt x="5635625" y="114298"/>
                </a:cubicBezTo>
                <a:lnTo>
                  <a:pt x="5635625" y="692152"/>
                </a:lnTo>
                <a:cubicBezTo>
                  <a:pt x="5635625" y="755277"/>
                  <a:pt x="5584452" y="806450"/>
                  <a:pt x="5521327" y="806450"/>
                </a:cubicBezTo>
                <a:lnTo>
                  <a:pt x="114298" y="806450"/>
                </a:lnTo>
                <a:cubicBezTo>
                  <a:pt x="51173" y="806450"/>
                  <a:pt x="0" y="755277"/>
                  <a:pt x="0" y="69215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F1F5F9">
              <a:alpha val="10196"/>
            </a:srgbClr>
          </a:solidFill>
          <a:ln w="8467">
            <a:solidFill>
              <a:srgbClr val="F1F5F9">
                <a:alpha val="2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750" y="3727447"/>
            <a:ext cx="54006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D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Lewis, P., Perez, E., Piktus, A., et al.</a:t>
            </a:r>
            <a:r>
              <a:rPr lang="en-US" sz="12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(2020). Retrieval-augmented generation for knowledge-intensive NLP tasks. NeurIPS.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84175" y="4498975"/>
            <a:ext cx="5635625" cy="558800"/>
          </a:xfrm>
          <a:custGeom>
            <a:avLst/>
            <a:gdLst/>
            <a:ahLst/>
            <a:cxnLst/>
            <a:rect l="l" t="t" r="r" b="b"/>
            <a:pathLst>
              <a:path w="5635625" h="558800">
                <a:moveTo>
                  <a:pt x="114303" y="0"/>
                </a:moveTo>
                <a:lnTo>
                  <a:pt x="5521322" y="0"/>
                </a:lnTo>
                <a:cubicBezTo>
                  <a:pt x="5584450" y="0"/>
                  <a:pt x="5635625" y="51175"/>
                  <a:pt x="5635625" y="114303"/>
                </a:cubicBezTo>
                <a:lnTo>
                  <a:pt x="5635625" y="444497"/>
                </a:lnTo>
                <a:cubicBezTo>
                  <a:pt x="5635625" y="507625"/>
                  <a:pt x="5584450" y="558800"/>
                  <a:pt x="5521322" y="558800"/>
                </a:cubicBezTo>
                <a:lnTo>
                  <a:pt x="114303" y="558800"/>
                </a:lnTo>
                <a:cubicBezTo>
                  <a:pt x="51175" y="558800"/>
                  <a:pt x="0" y="507625"/>
                  <a:pt x="0" y="44449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F1F5F9">
              <a:alpha val="10196"/>
            </a:srgbClr>
          </a:solidFill>
          <a:ln w="8467">
            <a:solidFill>
              <a:srgbClr val="F1F5F9">
                <a:alpha val="2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9750" y="4654553"/>
            <a:ext cx="54006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D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OpenAI.</a:t>
            </a:r>
            <a:r>
              <a:rPr lang="en-US" sz="12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(2023). GPT-4 technical report. https://arxiv.org/abs/2303.08774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175375" y="1717675"/>
            <a:ext cx="5635625" cy="806450"/>
          </a:xfrm>
          <a:custGeom>
            <a:avLst/>
            <a:gdLst/>
            <a:ahLst/>
            <a:cxnLst/>
            <a:rect l="l" t="t" r="r" b="b"/>
            <a:pathLst>
              <a:path w="5635625" h="806450">
                <a:moveTo>
                  <a:pt x="114298" y="0"/>
                </a:moveTo>
                <a:lnTo>
                  <a:pt x="5521327" y="0"/>
                </a:lnTo>
                <a:cubicBezTo>
                  <a:pt x="5584452" y="0"/>
                  <a:pt x="5635625" y="51173"/>
                  <a:pt x="5635625" y="114298"/>
                </a:cubicBezTo>
                <a:lnTo>
                  <a:pt x="5635625" y="692152"/>
                </a:lnTo>
                <a:cubicBezTo>
                  <a:pt x="5635625" y="755277"/>
                  <a:pt x="5584452" y="806450"/>
                  <a:pt x="5521327" y="806450"/>
                </a:cubicBezTo>
                <a:lnTo>
                  <a:pt x="114298" y="806450"/>
                </a:lnTo>
                <a:cubicBezTo>
                  <a:pt x="51173" y="806450"/>
                  <a:pt x="0" y="755277"/>
                  <a:pt x="0" y="69215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F1F5F9">
              <a:alpha val="10196"/>
            </a:srgbClr>
          </a:solidFill>
          <a:ln w="8467">
            <a:solidFill>
              <a:srgbClr val="F1F5F9">
                <a:alpha val="2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30950" y="1873253"/>
            <a:ext cx="54006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D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Radford, A., Kim, J. W., Hallacy, C., et al.</a:t>
            </a:r>
            <a:r>
              <a:rPr lang="en-US" sz="12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(2023). Whisper: Robust speech recognition via large-scale weak supervision. https://arxiv.org/abs/2212.04356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75375" y="2644772"/>
            <a:ext cx="5635625" cy="806450"/>
          </a:xfrm>
          <a:custGeom>
            <a:avLst/>
            <a:gdLst/>
            <a:ahLst/>
            <a:cxnLst/>
            <a:rect l="l" t="t" r="r" b="b"/>
            <a:pathLst>
              <a:path w="5635625" h="806450">
                <a:moveTo>
                  <a:pt x="114298" y="0"/>
                </a:moveTo>
                <a:lnTo>
                  <a:pt x="5521327" y="0"/>
                </a:lnTo>
                <a:cubicBezTo>
                  <a:pt x="5584452" y="0"/>
                  <a:pt x="5635625" y="51173"/>
                  <a:pt x="5635625" y="114298"/>
                </a:cubicBezTo>
                <a:lnTo>
                  <a:pt x="5635625" y="692152"/>
                </a:lnTo>
                <a:cubicBezTo>
                  <a:pt x="5635625" y="755277"/>
                  <a:pt x="5584452" y="806450"/>
                  <a:pt x="5521327" y="806450"/>
                </a:cubicBezTo>
                <a:lnTo>
                  <a:pt x="114298" y="806450"/>
                </a:lnTo>
                <a:cubicBezTo>
                  <a:pt x="51173" y="806450"/>
                  <a:pt x="0" y="755277"/>
                  <a:pt x="0" y="69215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F1F5F9">
              <a:alpha val="10196"/>
            </a:srgbClr>
          </a:solidFill>
          <a:ln w="8467">
            <a:solidFill>
              <a:srgbClr val="F1F5F9">
                <a:alpha val="2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30950" y="2800350"/>
            <a:ext cx="54006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D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Cassell, J., Sullivan, J., Prevost, S., &amp; Churchill, E.</a:t>
            </a:r>
            <a:r>
              <a:rPr lang="en-US" sz="12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(2000). Embodied conversational agents. MIT Press.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175375" y="3571878"/>
            <a:ext cx="5635625" cy="806450"/>
          </a:xfrm>
          <a:custGeom>
            <a:avLst/>
            <a:gdLst/>
            <a:ahLst/>
            <a:cxnLst/>
            <a:rect l="l" t="t" r="r" b="b"/>
            <a:pathLst>
              <a:path w="5635625" h="806450">
                <a:moveTo>
                  <a:pt x="114298" y="0"/>
                </a:moveTo>
                <a:lnTo>
                  <a:pt x="5521327" y="0"/>
                </a:lnTo>
                <a:cubicBezTo>
                  <a:pt x="5584452" y="0"/>
                  <a:pt x="5635625" y="51173"/>
                  <a:pt x="5635625" y="114298"/>
                </a:cubicBezTo>
                <a:lnTo>
                  <a:pt x="5635625" y="692152"/>
                </a:lnTo>
                <a:cubicBezTo>
                  <a:pt x="5635625" y="755277"/>
                  <a:pt x="5584452" y="806450"/>
                  <a:pt x="5521327" y="806450"/>
                </a:cubicBezTo>
                <a:lnTo>
                  <a:pt x="114298" y="806450"/>
                </a:lnTo>
                <a:cubicBezTo>
                  <a:pt x="51173" y="806450"/>
                  <a:pt x="0" y="755277"/>
                  <a:pt x="0" y="69215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F1F5F9">
              <a:alpha val="10196"/>
            </a:srgbClr>
          </a:solidFill>
          <a:ln w="8467">
            <a:solidFill>
              <a:srgbClr val="F1F5F9">
                <a:alpha val="2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30950" y="3727447"/>
            <a:ext cx="54006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D8B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Taylor, S., Theobalt, C., &amp; Matthews, I.</a:t>
            </a:r>
            <a:r>
              <a:rPr lang="en-US" sz="12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(2017). Deep learning for facial animation from speech. ACM Transactions on Graphics (SIGGRAPH).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175375" y="4498975"/>
            <a:ext cx="5635625" cy="844550"/>
          </a:xfrm>
          <a:custGeom>
            <a:avLst/>
            <a:gdLst/>
            <a:ahLst/>
            <a:cxnLst/>
            <a:rect l="l" t="t" r="r" b="b"/>
            <a:pathLst>
              <a:path w="5635625" h="844550">
                <a:moveTo>
                  <a:pt x="114301" y="0"/>
                </a:moveTo>
                <a:lnTo>
                  <a:pt x="5521324" y="0"/>
                </a:lnTo>
                <a:cubicBezTo>
                  <a:pt x="5584451" y="0"/>
                  <a:pt x="5635625" y="51174"/>
                  <a:pt x="5635625" y="114301"/>
                </a:cubicBezTo>
                <a:lnTo>
                  <a:pt x="5635625" y="730249"/>
                </a:lnTo>
                <a:cubicBezTo>
                  <a:pt x="5635625" y="793376"/>
                  <a:pt x="5584451" y="844550"/>
                  <a:pt x="5521324" y="844550"/>
                </a:cubicBezTo>
                <a:lnTo>
                  <a:pt x="114301" y="844550"/>
                </a:lnTo>
                <a:cubicBezTo>
                  <a:pt x="51174" y="844550"/>
                  <a:pt x="0" y="793376"/>
                  <a:pt x="0" y="730249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B8B">
                  <a:alpha val="30000"/>
                </a:srgbClr>
              </a:gs>
              <a:gs pos="100000">
                <a:srgbClr val="3D8B8B">
                  <a:alpha val="10000"/>
                </a:srgbClr>
              </a:gs>
            </a:gsLst>
            <a:lin ang="0" scaled="1"/>
          </a:gradFill>
          <a:ln w="8467">
            <a:solidFill>
              <a:srgbClr val="3D8B8B">
                <a:alpha val="4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51191" y="4778378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6789" y="109277"/>
                </a:moveTo>
                <a:lnTo>
                  <a:pt x="143545" y="157330"/>
                </a:lnTo>
                <a:cubicBezTo>
                  <a:pt x="149014" y="159562"/>
                  <a:pt x="154818" y="160734"/>
                  <a:pt x="160734" y="160734"/>
                </a:cubicBezTo>
                <a:cubicBezTo>
                  <a:pt x="166650" y="160734"/>
                  <a:pt x="172455" y="159562"/>
                  <a:pt x="177924" y="157330"/>
                </a:cubicBezTo>
                <a:lnTo>
                  <a:pt x="313209" y="101631"/>
                </a:lnTo>
                <a:cubicBezTo>
                  <a:pt x="318232" y="99566"/>
                  <a:pt x="321469" y="94710"/>
                  <a:pt x="321469" y="89297"/>
                </a:cubicBezTo>
                <a:cubicBezTo>
                  <a:pt x="321469" y="83883"/>
                  <a:pt x="318232" y="79028"/>
                  <a:pt x="313209" y="76963"/>
                </a:cubicBezTo>
                <a:lnTo>
                  <a:pt x="177924" y="21264"/>
                </a:lnTo>
                <a:cubicBezTo>
                  <a:pt x="172455" y="19031"/>
                  <a:pt x="166650" y="17859"/>
                  <a:pt x="160734" y="17859"/>
                </a:cubicBezTo>
                <a:cubicBezTo>
                  <a:pt x="154818" y="17859"/>
                  <a:pt x="149014" y="19031"/>
                  <a:pt x="143545" y="21264"/>
                </a:cubicBezTo>
                <a:lnTo>
                  <a:pt x="8260" y="76963"/>
                </a:lnTo>
                <a:cubicBezTo>
                  <a:pt x="3237" y="79028"/>
                  <a:pt x="0" y="83883"/>
                  <a:pt x="0" y="89297"/>
                </a:cubicBezTo>
                <a:lnTo>
                  <a:pt x="0" y="254496"/>
                </a:lnTo>
                <a:cubicBezTo>
                  <a:pt x="0" y="261919"/>
                  <a:pt x="5972" y="267891"/>
                  <a:pt x="13395" y="267891"/>
                </a:cubicBezTo>
                <a:cubicBezTo>
                  <a:pt x="20817" y="267891"/>
                  <a:pt x="26789" y="261919"/>
                  <a:pt x="26789" y="254496"/>
                </a:cubicBezTo>
                <a:lnTo>
                  <a:pt x="26789" y="109277"/>
                </a:lnTo>
                <a:close/>
                <a:moveTo>
                  <a:pt x="53578" y="149293"/>
                </a:moveTo>
                <a:lnTo>
                  <a:pt x="53578" y="214313"/>
                </a:lnTo>
                <a:cubicBezTo>
                  <a:pt x="53578" y="243892"/>
                  <a:pt x="101575" y="267891"/>
                  <a:pt x="160734" y="267891"/>
                </a:cubicBezTo>
                <a:cubicBezTo>
                  <a:pt x="219894" y="267891"/>
                  <a:pt x="267891" y="243892"/>
                  <a:pt x="267891" y="214313"/>
                </a:cubicBezTo>
                <a:lnTo>
                  <a:pt x="267891" y="149237"/>
                </a:lnTo>
                <a:lnTo>
                  <a:pt x="188137" y="182110"/>
                </a:lnTo>
                <a:cubicBezTo>
                  <a:pt x="179431" y="185682"/>
                  <a:pt x="170166" y="187523"/>
                  <a:pt x="160734" y="187523"/>
                </a:cubicBezTo>
                <a:cubicBezTo>
                  <a:pt x="151302" y="187523"/>
                  <a:pt x="142038" y="185682"/>
                  <a:pt x="133331" y="182110"/>
                </a:cubicBezTo>
                <a:lnTo>
                  <a:pt x="53578" y="149237"/>
                </a:lnTo>
                <a:close/>
              </a:path>
            </a:pathLst>
          </a:custGeom>
          <a:solidFill>
            <a:srgbClr val="3D8B8B"/>
          </a:solidFill>
          <a:ln/>
        </p:spPr>
      </p:sp>
      <p:sp>
        <p:nvSpPr>
          <p:cNvPr id="23" name="Text 20"/>
          <p:cNvSpPr/>
          <p:nvPr/>
        </p:nvSpPr>
        <p:spPr>
          <a:xfrm>
            <a:off x="6840538" y="4654553"/>
            <a:ext cx="163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840538" y="4959353"/>
            <a:ext cx="1628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42900" y="62484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Faculty of Artificial Intelligence and Engineering | February 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1158</TotalTime>
  <Words>1851</Words>
  <Application>Microsoft Office PowerPoint</Application>
  <PresentationFormat>Widescreen</PresentationFormat>
  <Paragraphs>313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Liter</vt:lpstr>
      <vt:lpstr>Hedvig Letters Sans</vt:lpstr>
      <vt:lpstr>Arial</vt:lpstr>
      <vt:lpstr>Quattrocento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Avatar for Academic Advising using Fine-Tuned Large Language Model</dc:title>
  <dc:subject>AI Avatar for Academic Advising using Fine-Tuned Large Language Model</dc:subject>
  <dc:creator>Kimi</dc:creator>
  <cp:lastModifiedBy>jet saw</cp:lastModifiedBy>
  <cp:revision>3</cp:revision>
  <dcterms:created xsi:type="dcterms:W3CDTF">2026-02-04T17:22:04Z</dcterms:created>
  <dcterms:modified xsi:type="dcterms:W3CDTF">2026-02-06T01:16:36Z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 Avatar for Academic Advising using Fine-Tuned Large Language Model","ContentProducer":"001191110108MACG2KBH8F10000","ProduceID":"19c296de-7a72-8d1b-8000-00008110883d","ReservedCode1":"","ContentPropagator":"001191110108MACG2KBH8F20000","PropagateID":"19c296de-7a72-8d1b-8000-00008110883d","ReservedCode2":""}</vt:lpwstr>
  </property>
</Properties>
</file>