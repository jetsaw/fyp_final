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embeddedFontLst>
    <p:embeddedFont>
      <p:font typeface="Liter" panose="020B0604020202020204" charset="0"/>
      <p:regular r:id="rId14"/>
    </p:embeddedFont>
    <p:embeddedFont>
      <p:font typeface="Quattrocento Sans" panose="020B0502050000020003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1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16324F"/>
            </a:gs>
            <a:gs pos="60000">
              <a:srgbClr val="0B1120"/>
            </a:gs>
            <a:gs pos="100000">
              <a:srgbClr val="070C18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3fdooaxa2pxm/mnt/agents/output/e-bee-advisor/images/2_Abstract_technology_background_futuristic.png"/>
          <p:cNvPicPr>
            <a:picLocks noChangeAspect="1"/>
          </p:cNvPicPr>
          <p:nvPr/>
        </p:nvPicPr>
        <p:blipFill>
          <a:blip r:embed="rId3">
            <a:alphaModFix amt="8000"/>
          </a:blip>
          <a:srcRect l="160" r="1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2000" y="8382000"/>
            <a:ext cx="5080000" cy="254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  <a:ln/>
          <a:effectLst>
            <a:outerShdw blurRad="1016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62000" y="50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6B6D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HIVE AVATAR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4478000" y="558800"/>
            <a:ext cx="101600" cy="10160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50800" dir="2700000" algn="bl" rotWithShape="0">
              <a:srgbClr val="10B981">
                <a:alpha val="5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4681200" y="4826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06B6D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2000" y="2032000"/>
            <a:ext cx="838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kern="0" spc="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Avatar for Academic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2794000"/>
            <a:ext cx="825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kern="0" spc="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Advising using Fine-Tuned LLM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381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kern="0" spc="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Hive Avatar: E-Bee Advisor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4572000"/>
            <a:ext cx="2540000" cy="254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2000" y="4889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Jet Saw Jun Jie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2000" y="5524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Faculty of Artificial Intelligence and Engineering (FAIE)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University (MMU)</a:t>
            </a:r>
            <a:endParaRPr lang="en-US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D22BDE-4FBF-73BC-AC31-622474A52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9628" y="1219200"/>
            <a:ext cx="4337051" cy="61338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1270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2000" y="1714500"/>
            <a:ext cx="787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06B6D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semester, the same issue happens.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000" y="2413000"/>
            <a:ext cx="787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 queues of students waiting for academic advising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cases are enrolment issues and subject eligibility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repeatedly ask simple questions like: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i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"If my credit hours is X, can I take this subject?"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Advisors spend time answering repetitive queries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6604000"/>
            <a:ext cx="7874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6000" y="688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651000" y="66675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Delays, frustration, and inefficient use of academic resources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14000" y="2286000"/>
            <a:ext cx="4572000" cy="4572000"/>
          </a:xfrm>
          <a:prstGeom prst="ellipse">
            <a:avLst/>
          </a:prstGeom>
          <a:gradFill flip="none" rotWithShape="1">
            <a:gsLst>
              <a:gs pos="0">
                <a:srgbClr val="1E293B"/>
              </a:gs>
              <a:gs pos="100000">
                <a:srgbClr val="0F172A"/>
              </a:gs>
            </a:gsLst>
            <a:path path="circle"/>
          </a:gra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47500" y="3302000"/>
            <a:ext cx="1905000" cy="1524000"/>
          </a:xfrm>
          <a:custGeom>
            <a:avLst/>
            <a:gdLst/>
            <a:ahLst/>
            <a:cxnLst/>
            <a:rect l="l" t="t" r="r" b="b"/>
            <a:pathLst>
              <a:path w="1905000" h="1524000">
                <a:moveTo>
                  <a:pt x="952500" y="47625"/>
                </a:moveTo>
                <a:cubicBezTo>
                  <a:pt x="1123352" y="47625"/>
                  <a:pt x="1262063" y="186335"/>
                  <a:pt x="1262063" y="357188"/>
                </a:cubicBezTo>
                <a:cubicBezTo>
                  <a:pt x="1262063" y="528040"/>
                  <a:pt x="1123352" y="666750"/>
                  <a:pt x="952500" y="666750"/>
                </a:cubicBezTo>
                <a:cubicBezTo>
                  <a:pt x="781648" y="666750"/>
                  <a:pt x="642938" y="528040"/>
                  <a:pt x="642938" y="357188"/>
                </a:cubicBezTo>
                <a:cubicBezTo>
                  <a:pt x="642938" y="186335"/>
                  <a:pt x="781648" y="47625"/>
                  <a:pt x="952500" y="47625"/>
                </a:cubicBezTo>
                <a:close/>
                <a:moveTo>
                  <a:pt x="285750" y="261938"/>
                </a:moveTo>
                <a:cubicBezTo>
                  <a:pt x="404032" y="261938"/>
                  <a:pt x="500063" y="357968"/>
                  <a:pt x="500063" y="476250"/>
                </a:cubicBezTo>
                <a:cubicBezTo>
                  <a:pt x="500063" y="594532"/>
                  <a:pt x="404032" y="690563"/>
                  <a:pt x="285750" y="690563"/>
                </a:cubicBezTo>
                <a:cubicBezTo>
                  <a:pt x="167468" y="690563"/>
                  <a:pt x="71438" y="594532"/>
                  <a:pt x="71438" y="476250"/>
                </a:cubicBezTo>
                <a:cubicBezTo>
                  <a:pt x="71438" y="357968"/>
                  <a:pt x="167468" y="261938"/>
                  <a:pt x="285750" y="261938"/>
                </a:cubicBezTo>
                <a:close/>
                <a:moveTo>
                  <a:pt x="0" y="1238250"/>
                </a:moveTo>
                <a:cubicBezTo>
                  <a:pt x="0" y="1027807"/>
                  <a:pt x="170557" y="857250"/>
                  <a:pt x="381000" y="857250"/>
                </a:cubicBezTo>
                <a:cubicBezTo>
                  <a:pt x="419100" y="857250"/>
                  <a:pt x="456009" y="862905"/>
                  <a:pt x="490835" y="873323"/>
                </a:cubicBezTo>
                <a:cubicBezTo>
                  <a:pt x="392906" y="982861"/>
                  <a:pt x="333375" y="1127522"/>
                  <a:pt x="333375" y="1285875"/>
                </a:cubicBezTo>
                <a:lnTo>
                  <a:pt x="333375" y="1333500"/>
                </a:lnTo>
                <a:cubicBezTo>
                  <a:pt x="333375" y="1367433"/>
                  <a:pt x="340519" y="1399580"/>
                  <a:pt x="353318" y="1428750"/>
                </a:cubicBezTo>
                <a:lnTo>
                  <a:pt x="95250" y="1428750"/>
                </a:lnTo>
                <a:cubicBezTo>
                  <a:pt x="42565" y="1428750"/>
                  <a:pt x="0" y="1386185"/>
                  <a:pt x="0" y="1333500"/>
                </a:cubicBezTo>
                <a:lnTo>
                  <a:pt x="0" y="1238250"/>
                </a:lnTo>
                <a:close/>
                <a:moveTo>
                  <a:pt x="1551682" y="1428750"/>
                </a:moveTo>
                <a:cubicBezTo>
                  <a:pt x="1564481" y="1399580"/>
                  <a:pt x="1571625" y="1367433"/>
                  <a:pt x="1571625" y="1333500"/>
                </a:cubicBezTo>
                <a:lnTo>
                  <a:pt x="1571625" y="1285875"/>
                </a:lnTo>
                <a:cubicBezTo>
                  <a:pt x="1571625" y="1127522"/>
                  <a:pt x="1512094" y="982861"/>
                  <a:pt x="1414165" y="873323"/>
                </a:cubicBezTo>
                <a:cubicBezTo>
                  <a:pt x="1448991" y="862905"/>
                  <a:pt x="1485900" y="857250"/>
                  <a:pt x="1524000" y="857250"/>
                </a:cubicBezTo>
                <a:cubicBezTo>
                  <a:pt x="1734443" y="857250"/>
                  <a:pt x="1905000" y="1027807"/>
                  <a:pt x="1905000" y="1238250"/>
                </a:cubicBezTo>
                <a:lnTo>
                  <a:pt x="1905000" y="1333500"/>
                </a:lnTo>
                <a:cubicBezTo>
                  <a:pt x="1905000" y="1386185"/>
                  <a:pt x="1862435" y="1428750"/>
                  <a:pt x="1809750" y="1428750"/>
                </a:cubicBezTo>
                <a:lnTo>
                  <a:pt x="1551682" y="1428750"/>
                </a:lnTo>
                <a:close/>
                <a:moveTo>
                  <a:pt x="1404938" y="476250"/>
                </a:moveTo>
                <a:cubicBezTo>
                  <a:pt x="1404938" y="357968"/>
                  <a:pt x="1500968" y="261938"/>
                  <a:pt x="1619250" y="261938"/>
                </a:cubicBezTo>
                <a:cubicBezTo>
                  <a:pt x="1737532" y="261938"/>
                  <a:pt x="1833563" y="357968"/>
                  <a:pt x="1833563" y="476250"/>
                </a:cubicBezTo>
                <a:cubicBezTo>
                  <a:pt x="1833563" y="594532"/>
                  <a:pt x="1737532" y="690563"/>
                  <a:pt x="1619250" y="690563"/>
                </a:cubicBezTo>
                <a:cubicBezTo>
                  <a:pt x="1500968" y="690563"/>
                  <a:pt x="1404938" y="594532"/>
                  <a:pt x="1404938" y="476250"/>
                </a:cubicBezTo>
                <a:close/>
                <a:moveTo>
                  <a:pt x="476250" y="1285875"/>
                </a:moveTo>
                <a:cubicBezTo>
                  <a:pt x="476250" y="1022747"/>
                  <a:pt x="689372" y="809625"/>
                  <a:pt x="952500" y="809625"/>
                </a:cubicBezTo>
                <a:cubicBezTo>
                  <a:pt x="1215628" y="809625"/>
                  <a:pt x="1428750" y="1022747"/>
                  <a:pt x="1428750" y="1285875"/>
                </a:cubicBezTo>
                <a:lnTo>
                  <a:pt x="1428750" y="1333500"/>
                </a:lnTo>
                <a:cubicBezTo>
                  <a:pt x="1428750" y="1386185"/>
                  <a:pt x="1386185" y="1428750"/>
                  <a:pt x="1333500" y="1428750"/>
                </a:cubicBezTo>
                <a:lnTo>
                  <a:pt x="571500" y="1428750"/>
                </a:lnTo>
                <a:cubicBezTo>
                  <a:pt x="518815" y="1428750"/>
                  <a:pt x="476250" y="1386185"/>
                  <a:pt x="476250" y="1333500"/>
                </a:cubicBezTo>
                <a:lnTo>
                  <a:pt x="476250" y="1285875"/>
                </a:lnTo>
                <a:close/>
              </a:path>
            </a:pathLst>
          </a:custGeom>
          <a:solidFill>
            <a:srgbClr val="06B6D4">
              <a:alpha val="3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2827000" y="419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cubicBezTo>
                  <a:pt x="788373" y="0"/>
                  <a:pt x="1016000" y="227627"/>
                  <a:pt x="1016000" y="508000"/>
                </a:cubicBezTo>
                <a:cubicBezTo>
                  <a:pt x="1016000" y="788373"/>
                  <a:pt x="788373" y="1016000"/>
                  <a:pt x="508000" y="1016000"/>
                </a:cubicBezTo>
                <a:cubicBezTo>
                  <a:pt x="227627" y="1016000"/>
                  <a:pt x="0" y="788373"/>
                  <a:pt x="0" y="508000"/>
                </a:cubicBezTo>
                <a:cubicBezTo>
                  <a:pt x="0" y="227627"/>
                  <a:pt x="227627" y="0"/>
                  <a:pt x="508000" y="0"/>
                </a:cubicBezTo>
                <a:close/>
                <a:moveTo>
                  <a:pt x="460375" y="238125"/>
                </a:moveTo>
                <a:lnTo>
                  <a:pt x="460375" y="508000"/>
                </a:lnTo>
                <a:cubicBezTo>
                  <a:pt x="460375" y="523875"/>
                  <a:pt x="468313" y="538758"/>
                  <a:pt x="481608" y="547688"/>
                </a:cubicBezTo>
                <a:lnTo>
                  <a:pt x="672108" y="674688"/>
                </a:lnTo>
                <a:cubicBezTo>
                  <a:pt x="693936" y="689372"/>
                  <a:pt x="723503" y="683419"/>
                  <a:pt x="738188" y="661392"/>
                </a:cubicBezTo>
                <a:cubicBezTo>
                  <a:pt x="752872" y="639366"/>
                  <a:pt x="746919" y="609997"/>
                  <a:pt x="724892" y="595313"/>
                </a:cubicBezTo>
                <a:lnTo>
                  <a:pt x="555625" y="482600"/>
                </a:lnTo>
                <a:lnTo>
                  <a:pt x="555625" y="238125"/>
                </a:lnTo>
                <a:cubicBezTo>
                  <a:pt x="555625" y="211733"/>
                  <a:pt x="534392" y="190500"/>
                  <a:pt x="508000" y="190500"/>
                </a:cubicBezTo>
                <a:cubicBezTo>
                  <a:pt x="481608" y="190500"/>
                  <a:pt x="460375" y="211733"/>
                  <a:pt x="460375" y="238125"/>
                </a:cubicBezTo>
                <a:close/>
              </a:path>
            </a:pathLst>
          </a:custGeom>
          <a:solidFill>
            <a:srgbClr val="EF4444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922000" y="711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6B6D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 Waiting Queues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1524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2000" y="1714500"/>
            <a:ext cx="787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06B6D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 built an AI-powered academic advisor with an interactive avatar.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000" y="2413000"/>
            <a:ext cx="787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Provides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 answers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academic questions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Understands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structure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prerequisites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Available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anytime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more waiting</a:t>
            </a:r>
            <a:endParaRPr lang="en-US" sz="1800" dirty="0"/>
          </a:p>
          <a:p>
            <a:pPr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Supports both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and text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interaction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6096000"/>
            <a:ext cx="7874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6000" y="637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651000" y="6223000"/>
            <a:ext cx="673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Goal: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Reduce workload and improve student experience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906000" y="1651000"/>
            <a:ext cx="5334000" cy="5334000"/>
          </a:xfrm>
          <a:prstGeom prst="ellipse">
            <a:avLst/>
          </a:prstGeom>
          <a:gradFill flip="none" rotWithShape="1">
            <a:gsLst>
              <a:gs pos="0">
                <a:srgbClr val="10B981">
                  <a:alpha val="6000"/>
                </a:srgbClr>
              </a:gs>
              <a:gs pos="50000">
                <a:srgbClr val="06B6D4">
                  <a:alpha val="6000"/>
                </a:srgbClr>
              </a:gs>
              <a:gs pos="100000">
                <a:srgbClr val="06B6D4">
                  <a:alpha val="0"/>
                </a:srgbClr>
              </a:gs>
            </a:gsLst>
            <a:path path="circle"/>
          </a:gradFill>
          <a:ln/>
        </p:spPr>
      </p:sp>
      <p:sp>
        <p:nvSpPr>
          <p:cNvPr id="15" name="Shape 11"/>
          <p:cNvSpPr/>
          <p:nvPr/>
        </p:nvSpPr>
        <p:spPr>
          <a:xfrm>
            <a:off x="14938375" y="7366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363265" y="476250"/>
                </a:moveTo>
                <a:cubicBezTo>
                  <a:pt x="372318" y="448593"/>
                  <a:pt x="390426" y="423540"/>
                  <a:pt x="410890" y="401960"/>
                </a:cubicBezTo>
                <a:cubicBezTo>
                  <a:pt x="451445" y="359296"/>
                  <a:pt x="476250" y="301625"/>
                  <a:pt x="476250" y="238125"/>
                </a:cubicBezTo>
                <a:cubicBezTo>
                  <a:pt x="476250" y="106660"/>
                  <a:pt x="369590" y="0"/>
                  <a:pt x="238125" y="0"/>
                </a:cubicBezTo>
                <a:cubicBezTo>
                  <a:pt x="106660" y="0"/>
                  <a:pt x="0" y="106660"/>
                  <a:pt x="0" y="238125"/>
                </a:cubicBezTo>
                <a:cubicBezTo>
                  <a:pt x="0" y="301625"/>
                  <a:pt x="24805" y="359296"/>
                  <a:pt x="65360" y="401960"/>
                </a:cubicBezTo>
                <a:cubicBezTo>
                  <a:pt x="85824" y="423540"/>
                  <a:pt x="104056" y="448593"/>
                  <a:pt x="112985" y="476250"/>
                </a:cubicBezTo>
                <a:lnTo>
                  <a:pt x="363141" y="476250"/>
                </a:lnTo>
                <a:close/>
                <a:moveTo>
                  <a:pt x="357188" y="535781"/>
                </a:moveTo>
                <a:lnTo>
                  <a:pt x="119062" y="535781"/>
                </a:lnTo>
                <a:lnTo>
                  <a:pt x="119062" y="555625"/>
                </a:lnTo>
                <a:cubicBezTo>
                  <a:pt x="119062" y="610443"/>
                  <a:pt x="163463" y="654844"/>
                  <a:pt x="218281" y="654844"/>
                </a:cubicBezTo>
                <a:lnTo>
                  <a:pt x="257969" y="654844"/>
                </a:lnTo>
                <a:cubicBezTo>
                  <a:pt x="312787" y="654844"/>
                  <a:pt x="357188" y="610443"/>
                  <a:pt x="357188" y="555625"/>
                </a:cubicBezTo>
                <a:lnTo>
                  <a:pt x="357188" y="535781"/>
                </a:lnTo>
                <a:close/>
                <a:moveTo>
                  <a:pt x="228203" y="138906"/>
                </a:moveTo>
                <a:cubicBezTo>
                  <a:pt x="178842" y="138906"/>
                  <a:pt x="138906" y="178842"/>
                  <a:pt x="138906" y="228203"/>
                </a:cubicBezTo>
                <a:cubicBezTo>
                  <a:pt x="138906" y="244698"/>
                  <a:pt x="125636" y="257969"/>
                  <a:pt x="109141" y="257969"/>
                </a:cubicBezTo>
                <a:cubicBezTo>
                  <a:pt x="92646" y="257969"/>
                  <a:pt x="79375" y="244698"/>
                  <a:pt x="79375" y="228203"/>
                </a:cubicBezTo>
                <a:cubicBezTo>
                  <a:pt x="79375" y="145976"/>
                  <a:pt x="145976" y="79375"/>
                  <a:pt x="228203" y="79375"/>
                </a:cubicBezTo>
                <a:cubicBezTo>
                  <a:pt x="244698" y="79375"/>
                  <a:pt x="257969" y="92646"/>
                  <a:pt x="257969" y="109141"/>
                </a:cubicBezTo>
                <a:cubicBezTo>
                  <a:pt x="257969" y="125636"/>
                  <a:pt x="244698" y="138906"/>
                  <a:pt x="228203" y="138906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5FB981-1567-C2E2-A9E7-B4000A08B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154" y="1438731"/>
            <a:ext cx="4190998" cy="59272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1651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2000" y="1841500"/>
            <a:ext cx="4699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6000" y="2159000"/>
            <a:ext cx="711200" cy="711200"/>
          </a:xfrm>
          <a:prstGeom prst="ellipse">
            <a:avLst/>
          </a:prstGeom>
          <a:solidFill>
            <a:srgbClr val="0E7490">
              <a:alpha val="12549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17600" y="23114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1968500" y="222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Avatar Interaction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3111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3D avatar interface that engages students with a friendly, approachable personality.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778500" y="1841500"/>
            <a:ext cx="51435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2500" y="2159000"/>
            <a:ext cx="711200" cy="711200"/>
          </a:xfrm>
          <a:prstGeom prst="ellipse">
            <a:avLst/>
          </a:prstGeom>
          <a:solidFill>
            <a:srgbClr val="10B981">
              <a:alpha val="12549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184900" y="2311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6985000" y="22225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&amp; Prerequisite Guidance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32500" y="3111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knowledge of course structures, prerequisites, and academic requirements.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049000" y="1841500"/>
            <a:ext cx="4445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303000" y="2159000"/>
            <a:ext cx="711200" cy="711200"/>
          </a:xfrm>
          <a:prstGeom prst="ellipse">
            <a:avLst/>
          </a:prstGeom>
          <a:solidFill>
            <a:srgbClr val="0E7490">
              <a:alpha val="12549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06200" y="23114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76200" y="76200"/>
                </a:moveTo>
                <a:cubicBezTo>
                  <a:pt x="76200" y="34131"/>
                  <a:pt x="110331" y="0"/>
                  <a:pt x="152400" y="0"/>
                </a:cubicBezTo>
                <a:cubicBezTo>
                  <a:pt x="192326" y="0"/>
                  <a:pt x="225108" y="30718"/>
                  <a:pt x="228362" y="69850"/>
                </a:cubicBezTo>
                <a:lnTo>
                  <a:pt x="184150" y="69850"/>
                </a:lnTo>
                <a:cubicBezTo>
                  <a:pt x="173593" y="69850"/>
                  <a:pt x="165100" y="78343"/>
                  <a:pt x="165100" y="88900"/>
                </a:cubicBezTo>
                <a:cubicBezTo>
                  <a:pt x="165100" y="99457"/>
                  <a:pt x="173593" y="107950"/>
                  <a:pt x="184150" y="107950"/>
                </a:cubicBezTo>
                <a:lnTo>
                  <a:pt x="228600" y="107950"/>
                </a:lnTo>
                <a:lnTo>
                  <a:pt x="228600" y="146050"/>
                </a:lnTo>
                <a:lnTo>
                  <a:pt x="184150" y="146050"/>
                </a:lnTo>
                <a:cubicBezTo>
                  <a:pt x="173593" y="146050"/>
                  <a:pt x="165100" y="154543"/>
                  <a:pt x="165100" y="165100"/>
                </a:cubicBezTo>
                <a:cubicBezTo>
                  <a:pt x="165100" y="175657"/>
                  <a:pt x="173593" y="184150"/>
                  <a:pt x="184150" y="184150"/>
                </a:cubicBezTo>
                <a:lnTo>
                  <a:pt x="228362" y="184150"/>
                </a:lnTo>
                <a:cubicBezTo>
                  <a:pt x="225107" y="223282"/>
                  <a:pt x="192405" y="254000"/>
                  <a:pt x="152400" y="254000"/>
                </a:cubicBezTo>
                <a:cubicBezTo>
                  <a:pt x="110331" y="254000"/>
                  <a:pt x="76200" y="219869"/>
                  <a:pt x="76200" y="177800"/>
                </a:cubicBezTo>
                <a:lnTo>
                  <a:pt x="76200" y="76200"/>
                </a:lnTo>
                <a:close/>
                <a:moveTo>
                  <a:pt x="19050" y="127000"/>
                </a:moveTo>
                <a:cubicBezTo>
                  <a:pt x="29607" y="127000"/>
                  <a:pt x="38100" y="135493"/>
                  <a:pt x="38100" y="146050"/>
                </a:cubicBezTo>
                <a:lnTo>
                  <a:pt x="38100" y="177800"/>
                </a:lnTo>
                <a:cubicBezTo>
                  <a:pt x="38100" y="240903"/>
                  <a:pt x="89297" y="292100"/>
                  <a:pt x="152400" y="292100"/>
                </a:cubicBezTo>
                <a:cubicBezTo>
                  <a:pt x="215503" y="292100"/>
                  <a:pt x="266700" y="240903"/>
                  <a:pt x="266700" y="177800"/>
                </a:cubicBezTo>
                <a:lnTo>
                  <a:pt x="266700" y="146050"/>
                </a:lnTo>
                <a:cubicBezTo>
                  <a:pt x="266700" y="135493"/>
                  <a:pt x="275193" y="127000"/>
                  <a:pt x="285750" y="127000"/>
                </a:cubicBezTo>
                <a:cubicBezTo>
                  <a:pt x="296307" y="127000"/>
                  <a:pt x="304800" y="135493"/>
                  <a:pt x="304800" y="146050"/>
                </a:cubicBezTo>
                <a:lnTo>
                  <a:pt x="304800" y="177800"/>
                </a:lnTo>
                <a:cubicBezTo>
                  <a:pt x="304800" y="255508"/>
                  <a:pt x="246618" y="319643"/>
                  <a:pt x="171450" y="329009"/>
                </a:cubicBezTo>
                <a:lnTo>
                  <a:pt x="171450" y="368300"/>
                </a:lnTo>
                <a:lnTo>
                  <a:pt x="209550" y="368300"/>
                </a:lnTo>
                <a:cubicBezTo>
                  <a:pt x="220107" y="368300"/>
                  <a:pt x="228600" y="376793"/>
                  <a:pt x="228600" y="387350"/>
                </a:cubicBezTo>
                <a:cubicBezTo>
                  <a:pt x="228600" y="397907"/>
                  <a:pt x="220107" y="406400"/>
                  <a:pt x="209550" y="406400"/>
                </a:cubicBezTo>
                <a:lnTo>
                  <a:pt x="95250" y="406400"/>
                </a:lnTo>
                <a:cubicBezTo>
                  <a:pt x="84693" y="406400"/>
                  <a:pt x="76200" y="397907"/>
                  <a:pt x="76200" y="387350"/>
                </a:cubicBezTo>
                <a:cubicBezTo>
                  <a:pt x="76200" y="376793"/>
                  <a:pt x="84693" y="368300"/>
                  <a:pt x="95250" y="368300"/>
                </a:cubicBezTo>
                <a:lnTo>
                  <a:pt x="133350" y="368300"/>
                </a:lnTo>
                <a:lnTo>
                  <a:pt x="133350" y="329009"/>
                </a:lnTo>
                <a:cubicBezTo>
                  <a:pt x="58182" y="319643"/>
                  <a:pt x="0" y="255508"/>
                  <a:pt x="0" y="177800"/>
                </a:cubicBezTo>
                <a:lnTo>
                  <a:pt x="0" y="146050"/>
                </a:lnTo>
                <a:cubicBezTo>
                  <a:pt x="0" y="135493"/>
                  <a:pt x="8493" y="127000"/>
                  <a:pt x="19050" y="1270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12255500" y="222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+ Text Modes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303000" y="3111500"/>
            <a:ext cx="393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Flexible input methods — speak naturally or type questions for instant responses.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276600" y="47625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30600" y="5080000"/>
            <a:ext cx="711200" cy="711200"/>
          </a:xfrm>
          <a:prstGeom prst="ellipse">
            <a:avLst/>
          </a:prstGeom>
          <a:solidFill>
            <a:srgbClr val="10B981">
              <a:alpha val="12549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657600" y="5232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27000" y="0"/>
                </a:moveTo>
                <a:cubicBezTo>
                  <a:pt x="141049" y="0"/>
                  <a:pt x="152400" y="11351"/>
                  <a:pt x="152400" y="25400"/>
                </a:cubicBezTo>
                <a:lnTo>
                  <a:pt x="152400" y="50800"/>
                </a:lnTo>
                <a:lnTo>
                  <a:pt x="254000" y="50800"/>
                </a:lnTo>
                <a:cubicBezTo>
                  <a:pt x="268049" y="50800"/>
                  <a:pt x="279400" y="62151"/>
                  <a:pt x="279400" y="76200"/>
                </a:cubicBezTo>
                <a:cubicBezTo>
                  <a:pt x="279400" y="90249"/>
                  <a:pt x="268049" y="101600"/>
                  <a:pt x="254000" y="101600"/>
                </a:cubicBezTo>
                <a:lnTo>
                  <a:pt x="246380" y="101600"/>
                </a:lnTo>
                <a:lnTo>
                  <a:pt x="239713" y="119936"/>
                </a:lnTo>
                <a:cubicBezTo>
                  <a:pt x="226695" y="155813"/>
                  <a:pt x="207089" y="188595"/>
                  <a:pt x="182404" y="216773"/>
                </a:cubicBezTo>
                <a:cubicBezTo>
                  <a:pt x="193675" y="223758"/>
                  <a:pt x="205423" y="229949"/>
                  <a:pt x="217646" y="235426"/>
                </a:cubicBezTo>
                <a:lnTo>
                  <a:pt x="257651" y="253206"/>
                </a:lnTo>
                <a:lnTo>
                  <a:pt x="307023" y="142081"/>
                </a:lnTo>
                <a:cubicBezTo>
                  <a:pt x="311071" y="132874"/>
                  <a:pt x="320199" y="127000"/>
                  <a:pt x="330200" y="127000"/>
                </a:cubicBezTo>
                <a:cubicBezTo>
                  <a:pt x="340201" y="127000"/>
                  <a:pt x="349329" y="132874"/>
                  <a:pt x="353377" y="142081"/>
                </a:cubicBezTo>
                <a:lnTo>
                  <a:pt x="454977" y="370681"/>
                </a:lnTo>
                <a:cubicBezTo>
                  <a:pt x="460692" y="383540"/>
                  <a:pt x="454898" y="398542"/>
                  <a:pt x="442119" y="404178"/>
                </a:cubicBezTo>
                <a:cubicBezTo>
                  <a:pt x="429339" y="409813"/>
                  <a:pt x="414258" y="404098"/>
                  <a:pt x="408622" y="391319"/>
                </a:cubicBezTo>
                <a:lnTo>
                  <a:pt x="392747" y="355600"/>
                </a:lnTo>
                <a:lnTo>
                  <a:pt x="267732" y="355600"/>
                </a:lnTo>
                <a:lnTo>
                  <a:pt x="251857" y="391319"/>
                </a:lnTo>
                <a:cubicBezTo>
                  <a:pt x="246142" y="404178"/>
                  <a:pt x="231140" y="409892"/>
                  <a:pt x="218361" y="404178"/>
                </a:cubicBezTo>
                <a:cubicBezTo>
                  <a:pt x="205581" y="398463"/>
                  <a:pt x="199787" y="383461"/>
                  <a:pt x="205502" y="370681"/>
                </a:cubicBezTo>
                <a:lnTo>
                  <a:pt x="237093" y="299641"/>
                </a:lnTo>
                <a:lnTo>
                  <a:pt x="197088" y="281861"/>
                </a:lnTo>
                <a:cubicBezTo>
                  <a:pt x="178832" y="273764"/>
                  <a:pt x="161369" y="264081"/>
                  <a:pt x="144859" y="252968"/>
                </a:cubicBezTo>
                <a:cubicBezTo>
                  <a:pt x="127952" y="266621"/>
                  <a:pt x="109458" y="278527"/>
                  <a:pt x="89694" y="288449"/>
                </a:cubicBezTo>
                <a:lnTo>
                  <a:pt x="62151" y="302101"/>
                </a:lnTo>
                <a:cubicBezTo>
                  <a:pt x="49609" y="308372"/>
                  <a:pt x="34369" y="303292"/>
                  <a:pt x="28099" y="290751"/>
                </a:cubicBezTo>
                <a:cubicBezTo>
                  <a:pt x="21828" y="278209"/>
                  <a:pt x="26908" y="262969"/>
                  <a:pt x="39449" y="256699"/>
                </a:cubicBezTo>
                <a:lnTo>
                  <a:pt x="66834" y="242967"/>
                </a:lnTo>
                <a:cubicBezTo>
                  <a:pt x="79772" y="236458"/>
                  <a:pt x="92075" y="228918"/>
                  <a:pt x="103664" y="220504"/>
                </a:cubicBezTo>
                <a:cubicBezTo>
                  <a:pt x="92710" y="210423"/>
                  <a:pt x="82391" y="199549"/>
                  <a:pt x="72787" y="188039"/>
                </a:cubicBezTo>
                <a:lnTo>
                  <a:pt x="64770" y="178356"/>
                </a:lnTo>
                <a:cubicBezTo>
                  <a:pt x="55801" y="167561"/>
                  <a:pt x="57229" y="151527"/>
                  <a:pt x="68024" y="142558"/>
                </a:cubicBezTo>
                <a:cubicBezTo>
                  <a:pt x="78819" y="133588"/>
                  <a:pt x="94853" y="135017"/>
                  <a:pt x="103822" y="145812"/>
                </a:cubicBezTo>
                <a:lnTo>
                  <a:pt x="111919" y="155496"/>
                </a:lnTo>
                <a:cubicBezTo>
                  <a:pt x="121047" y="166529"/>
                  <a:pt x="131048" y="176768"/>
                  <a:pt x="141605" y="186214"/>
                </a:cubicBezTo>
                <a:cubicBezTo>
                  <a:pt x="163433" y="162084"/>
                  <a:pt x="180657" y="133747"/>
                  <a:pt x="192008" y="102552"/>
                </a:cubicBezTo>
                <a:lnTo>
                  <a:pt x="192405" y="101600"/>
                </a:lnTo>
                <a:lnTo>
                  <a:pt x="25479" y="101600"/>
                </a:lnTo>
                <a:cubicBezTo>
                  <a:pt x="11351" y="101600"/>
                  <a:pt x="0" y="90249"/>
                  <a:pt x="0" y="76200"/>
                </a:cubicBezTo>
                <a:cubicBezTo>
                  <a:pt x="0" y="62151"/>
                  <a:pt x="11351" y="50800"/>
                  <a:pt x="25400" y="50800"/>
                </a:cubicBezTo>
                <a:lnTo>
                  <a:pt x="101600" y="50800"/>
                </a:lnTo>
                <a:lnTo>
                  <a:pt x="101600" y="25400"/>
                </a:lnTo>
                <a:cubicBezTo>
                  <a:pt x="101600" y="11351"/>
                  <a:pt x="112951" y="0"/>
                  <a:pt x="127000" y="0"/>
                </a:cubicBezTo>
                <a:close/>
                <a:moveTo>
                  <a:pt x="330200" y="214948"/>
                </a:moveTo>
                <a:lnTo>
                  <a:pt x="290274" y="304800"/>
                </a:lnTo>
                <a:lnTo>
                  <a:pt x="370126" y="304800"/>
                </a:lnTo>
                <a:lnTo>
                  <a:pt x="330200" y="21494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4483100" y="5143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530600" y="6032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Supports both English and Malay (Bahasa Malaysia) for diverse student populations.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293100" y="47625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547100" y="5080000"/>
            <a:ext cx="711200" cy="711200"/>
          </a:xfrm>
          <a:prstGeom prst="ellipse">
            <a:avLst/>
          </a:prstGeom>
          <a:solidFill>
            <a:srgbClr val="0E7490">
              <a:alpha val="12549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674100" y="5232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8"/>
          <p:cNvSpPr/>
          <p:nvPr/>
        </p:nvSpPr>
        <p:spPr>
          <a:xfrm>
            <a:off x="9499600" y="5143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Domain-Specific Knowledge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547100" y="60325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Fine-tuned on academic data for accurate, programme-specific advising.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588000" y="7874000"/>
            <a:ext cx="5080000" cy="12700"/>
          </a:xfrm>
          <a:prstGeom prst="rect">
            <a:avLst/>
          </a:prstGeom>
          <a:gradFill flip="none" rotWithShape="1">
            <a:gsLst>
              <a:gs pos="0">
                <a:srgbClr val="06B6D4">
                  <a:alpha val="0"/>
                </a:srgbClr>
              </a:gs>
              <a:gs pos="50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2159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TECHNOLOGY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2000" y="1651000"/>
            <a:ext cx="889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system combines two key components: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2349500"/>
            <a:ext cx="7112000" cy="406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2000" y="2349500"/>
            <a:ext cx="7112000" cy="50800"/>
          </a:xfrm>
          <a:prstGeom prst="rect">
            <a:avLst/>
          </a:prstGeom>
          <a:gradFill flip="none" rotWithShape="1">
            <a:gsLst>
              <a:gs pos="0">
                <a:srgbClr val="0E7490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1143000" y="2730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556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Large Language Model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41275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Qwen3.5 2B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trained on academic data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Specialized for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Robotics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programme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Optimized for academic advising scenarios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382000" y="2349500"/>
            <a:ext cx="7112000" cy="406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82000" y="2349500"/>
            <a:ext cx="7112000" cy="508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</p:sp>
      <p:sp>
        <p:nvSpPr>
          <p:cNvPr id="16" name="Shape 13"/>
          <p:cNvSpPr/>
          <p:nvPr/>
        </p:nvSpPr>
        <p:spPr>
          <a:xfrm>
            <a:off x="8801100" y="2730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8763000" y="3556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 (RAG)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63000" y="41275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Retrieves real data from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SOP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course database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Ensures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accurate and reliable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responses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Reduces hallucination in generated answers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62000" y="6858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0E7490">
              <a:alpha val="8235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1250" y="7048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1342" y="-26789"/>
                </a:moveTo>
                <a:lnTo>
                  <a:pt x="276027" y="9723"/>
                </a:lnTo>
                <a:lnTo>
                  <a:pt x="312539" y="24408"/>
                </a:lnTo>
                <a:cubicBezTo>
                  <a:pt x="315516" y="25598"/>
                  <a:pt x="317500" y="28575"/>
                  <a:pt x="317500" y="31750"/>
                </a:cubicBezTo>
                <a:cubicBezTo>
                  <a:pt x="317500" y="34925"/>
                  <a:pt x="315516" y="37902"/>
                  <a:pt x="312539" y="39092"/>
                </a:cubicBezTo>
                <a:lnTo>
                  <a:pt x="276027" y="53777"/>
                </a:lnTo>
                <a:lnTo>
                  <a:pt x="261342" y="90289"/>
                </a:lnTo>
                <a:cubicBezTo>
                  <a:pt x="260152" y="93266"/>
                  <a:pt x="257175" y="95250"/>
                  <a:pt x="254000" y="95250"/>
                </a:cubicBezTo>
                <a:cubicBezTo>
                  <a:pt x="250825" y="95250"/>
                  <a:pt x="247848" y="93266"/>
                  <a:pt x="246658" y="90289"/>
                </a:cubicBezTo>
                <a:lnTo>
                  <a:pt x="231973" y="53777"/>
                </a:lnTo>
                <a:lnTo>
                  <a:pt x="195461" y="39092"/>
                </a:lnTo>
                <a:cubicBezTo>
                  <a:pt x="192484" y="37902"/>
                  <a:pt x="190500" y="34925"/>
                  <a:pt x="190500" y="31750"/>
                </a:cubicBezTo>
                <a:cubicBezTo>
                  <a:pt x="190500" y="28575"/>
                  <a:pt x="192484" y="25598"/>
                  <a:pt x="195461" y="24408"/>
                </a:cubicBezTo>
                <a:lnTo>
                  <a:pt x="231973" y="9723"/>
                </a:lnTo>
                <a:lnTo>
                  <a:pt x="246658" y="-26789"/>
                </a:lnTo>
                <a:cubicBezTo>
                  <a:pt x="247848" y="-29766"/>
                  <a:pt x="250825" y="-31750"/>
                  <a:pt x="254000" y="-31750"/>
                </a:cubicBezTo>
                <a:cubicBezTo>
                  <a:pt x="257175" y="-31750"/>
                  <a:pt x="260152" y="-29766"/>
                  <a:pt x="261342" y="-26789"/>
                </a:cubicBezTo>
                <a:close/>
                <a:moveTo>
                  <a:pt x="109835" y="41374"/>
                </a:moveTo>
                <a:lnTo>
                  <a:pt x="131167" y="91083"/>
                </a:lnTo>
                <a:lnTo>
                  <a:pt x="180876" y="112415"/>
                </a:lnTo>
                <a:cubicBezTo>
                  <a:pt x="186730" y="114895"/>
                  <a:pt x="190500" y="120650"/>
                  <a:pt x="190500" y="127000"/>
                </a:cubicBezTo>
                <a:cubicBezTo>
                  <a:pt x="190500" y="133350"/>
                  <a:pt x="186730" y="139105"/>
                  <a:pt x="180876" y="141585"/>
                </a:cubicBezTo>
                <a:lnTo>
                  <a:pt x="131167" y="162917"/>
                </a:lnTo>
                <a:lnTo>
                  <a:pt x="109835" y="212626"/>
                </a:lnTo>
                <a:cubicBezTo>
                  <a:pt x="107355" y="218480"/>
                  <a:pt x="101600" y="222250"/>
                  <a:pt x="95250" y="222250"/>
                </a:cubicBezTo>
                <a:cubicBezTo>
                  <a:pt x="88900" y="222250"/>
                  <a:pt x="83145" y="218480"/>
                  <a:pt x="80665" y="212626"/>
                </a:cubicBezTo>
                <a:lnTo>
                  <a:pt x="59333" y="162917"/>
                </a:lnTo>
                <a:lnTo>
                  <a:pt x="9624" y="141585"/>
                </a:lnTo>
                <a:cubicBezTo>
                  <a:pt x="3770" y="139105"/>
                  <a:pt x="0" y="133350"/>
                  <a:pt x="0" y="127000"/>
                </a:cubicBezTo>
                <a:cubicBezTo>
                  <a:pt x="0" y="120650"/>
                  <a:pt x="3770" y="114895"/>
                  <a:pt x="9624" y="112415"/>
                </a:cubicBezTo>
                <a:lnTo>
                  <a:pt x="59333" y="91083"/>
                </a:lnTo>
                <a:lnTo>
                  <a:pt x="80665" y="41374"/>
                </a:lnTo>
                <a:cubicBezTo>
                  <a:pt x="83145" y="35520"/>
                  <a:pt x="88900" y="31750"/>
                  <a:pt x="95250" y="31750"/>
                </a:cubicBezTo>
                <a:cubicBezTo>
                  <a:pt x="101600" y="31750"/>
                  <a:pt x="107355" y="35520"/>
                  <a:pt x="109835" y="41374"/>
                </a:cubicBezTo>
                <a:close/>
                <a:moveTo>
                  <a:pt x="460375" y="301625"/>
                </a:moveTo>
                <a:cubicBezTo>
                  <a:pt x="466725" y="301625"/>
                  <a:pt x="472480" y="305395"/>
                  <a:pt x="474960" y="311249"/>
                </a:cubicBezTo>
                <a:lnTo>
                  <a:pt x="496292" y="360958"/>
                </a:lnTo>
                <a:lnTo>
                  <a:pt x="546001" y="382290"/>
                </a:lnTo>
                <a:cubicBezTo>
                  <a:pt x="551855" y="384770"/>
                  <a:pt x="555625" y="390525"/>
                  <a:pt x="555625" y="396875"/>
                </a:cubicBezTo>
                <a:cubicBezTo>
                  <a:pt x="555625" y="403225"/>
                  <a:pt x="551855" y="408980"/>
                  <a:pt x="546001" y="411460"/>
                </a:cubicBezTo>
                <a:lnTo>
                  <a:pt x="496292" y="432792"/>
                </a:lnTo>
                <a:lnTo>
                  <a:pt x="474960" y="482501"/>
                </a:lnTo>
                <a:cubicBezTo>
                  <a:pt x="472480" y="488355"/>
                  <a:pt x="466725" y="492125"/>
                  <a:pt x="460375" y="492125"/>
                </a:cubicBezTo>
                <a:cubicBezTo>
                  <a:pt x="454025" y="492125"/>
                  <a:pt x="448270" y="488355"/>
                  <a:pt x="445790" y="482501"/>
                </a:cubicBezTo>
                <a:lnTo>
                  <a:pt x="424458" y="432792"/>
                </a:lnTo>
                <a:lnTo>
                  <a:pt x="374749" y="411460"/>
                </a:lnTo>
                <a:cubicBezTo>
                  <a:pt x="368895" y="408980"/>
                  <a:pt x="365125" y="403225"/>
                  <a:pt x="365125" y="396875"/>
                </a:cubicBezTo>
                <a:cubicBezTo>
                  <a:pt x="365125" y="390525"/>
                  <a:pt x="368895" y="384770"/>
                  <a:pt x="374749" y="382290"/>
                </a:cubicBezTo>
                <a:lnTo>
                  <a:pt x="424458" y="360958"/>
                </a:lnTo>
                <a:lnTo>
                  <a:pt x="445790" y="311249"/>
                </a:lnTo>
                <a:cubicBezTo>
                  <a:pt x="448270" y="305395"/>
                  <a:pt x="454025" y="301625"/>
                  <a:pt x="460375" y="301625"/>
                </a:cubicBezTo>
                <a:close/>
                <a:moveTo>
                  <a:pt x="456406" y="0"/>
                </a:moveTo>
                <a:cubicBezTo>
                  <a:pt x="467320" y="0"/>
                  <a:pt x="477838" y="4366"/>
                  <a:pt x="485676" y="12105"/>
                </a:cubicBezTo>
                <a:lnTo>
                  <a:pt x="527645" y="54074"/>
                </a:lnTo>
                <a:cubicBezTo>
                  <a:pt x="535384" y="61913"/>
                  <a:pt x="539750" y="72430"/>
                  <a:pt x="539750" y="83344"/>
                </a:cubicBezTo>
                <a:cubicBezTo>
                  <a:pt x="539750" y="94258"/>
                  <a:pt x="535384" y="104775"/>
                  <a:pt x="527645" y="112613"/>
                </a:cubicBezTo>
                <a:lnTo>
                  <a:pt x="440134" y="200124"/>
                </a:lnTo>
                <a:lnTo>
                  <a:pt x="339626" y="99616"/>
                </a:lnTo>
                <a:lnTo>
                  <a:pt x="427137" y="12105"/>
                </a:lnTo>
                <a:cubicBezTo>
                  <a:pt x="434975" y="4366"/>
                  <a:pt x="445492" y="0"/>
                  <a:pt x="456406" y="0"/>
                </a:cubicBezTo>
                <a:close/>
                <a:moveTo>
                  <a:pt x="43855" y="395387"/>
                </a:moveTo>
                <a:lnTo>
                  <a:pt x="305991" y="133251"/>
                </a:lnTo>
                <a:lnTo>
                  <a:pt x="406499" y="233759"/>
                </a:lnTo>
                <a:lnTo>
                  <a:pt x="144363" y="495895"/>
                </a:lnTo>
                <a:cubicBezTo>
                  <a:pt x="136525" y="503634"/>
                  <a:pt x="126008" y="508000"/>
                  <a:pt x="115094" y="508000"/>
                </a:cubicBezTo>
                <a:cubicBezTo>
                  <a:pt x="104180" y="508000"/>
                  <a:pt x="93663" y="503634"/>
                  <a:pt x="85824" y="495895"/>
                </a:cubicBezTo>
                <a:lnTo>
                  <a:pt x="43855" y="453926"/>
                </a:lnTo>
                <a:cubicBezTo>
                  <a:pt x="36116" y="446088"/>
                  <a:pt x="31750" y="435570"/>
                  <a:pt x="31750" y="424656"/>
                </a:cubicBezTo>
                <a:cubicBezTo>
                  <a:pt x="31750" y="413742"/>
                  <a:pt x="36116" y="403225"/>
                  <a:pt x="43855" y="39538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1905000" y="6985000"/>
            <a:ext cx="132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</a:t>
            </a: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Smart + factual answers powered by fine-tuned AI + real academic data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1651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FLOW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2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" y="266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380802"/>
                  <a:pt x="349448" y="301625"/>
                  <a:pt x="251718" y="301625"/>
                </a:cubicBezTo>
                <a:lnTo>
                  <a:pt x="192782" y="301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0" y="31115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2921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9500" y="2667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90500" y="0"/>
                </a:moveTo>
                <a:cubicBezTo>
                  <a:pt x="137914" y="0"/>
                  <a:pt x="95250" y="42664"/>
                  <a:pt x="95250" y="95250"/>
                </a:cubicBezTo>
                <a:lnTo>
                  <a:pt x="95250" y="222250"/>
                </a:lnTo>
                <a:cubicBezTo>
                  <a:pt x="95250" y="274836"/>
                  <a:pt x="137914" y="317500"/>
                  <a:pt x="190500" y="317500"/>
                </a:cubicBezTo>
                <a:cubicBezTo>
                  <a:pt x="243086" y="317500"/>
                  <a:pt x="285750" y="274836"/>
                  <a:pt x="285750" y="222250"/>
                </a:cubicBezTo>
                <a:lnTo>
                  <a:pt x="285750" y="95250"/>
                </a:lnTo>
                <a:cubicBezTo>
                  <a:pt x="285750" y="42664"/>
                  <a:pt x="243086" y="0"/>
                  <a:pt x="190500" y="0"/>
                </a:cubicBezTo>
                <a:close/>
                <a:moveTo>
                  <a:pt x="47625" y="182563"/>
                </a:moveTo>
                <a:cubicBezTo>
                  <a:pt x="47625" y="169366"/>
                  <a:pt x="37009" y="158750"/>
                  <a:pt x="23812" y="158750"/>
                </a:cubicBezTo>
                <a:cubicBezTo>
                  <a:pt x="10616" y="158750"/>
                  <a:pt x="0" y="169366"/>
                  <a:pt x="0" y="182563"/>
                </a:cubicBezTo>
                <a:lnTo>
                  <a:pt x="0" y="222250"/>
                </a:lnTo>
                <a:cubicBezTo>
                  <a:pt x="0" y="319385"/>
                  <a:pt x="72727" y="399554"/>
                  <a:pt x="166688" y="411262"/>
                </a:cubicBezTo>
                <a:lnTo>
                  <a:pt x="166688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261937" y="508000"/>
                </a:lnTo>
                <a:cubicBezTo>
                  <a:pt x="275134" y="508000"/>
                  <a:pt x="285750" y="497384"/>
                  <a:pt x="285750" y="484187"/>
                </a:cubicBezTo>
                <a:cubicBezTo>
                  <a:pt x="285750" y="470991"/>
                  <a:pt x="275134" y="460375"/>
                  <a:pt x="261937" y="460375"/>
                </a:cubicBezTo>
                <a:lnTo>
                  <a:pt x="214313" y="460375"/>
                </a:lnTo>
                <a:lnTo>
                  <a:pt x="214313" y="411262"/>
                </a:lnTo>
                <a:cubicBezTo>
                  <a:pt x="308273" y="399554"/>
                  <a:pt x="381000" y="319385"/>
                  <a:pt x="381000" y="222250"/>
                </a:cubicBezTo>
                <a:lnTo>
                  <a:pt x="381000" y="182563"/>
                </a:lnTo>
                <a:cubicBezTo>
                  <a:pt x="381000" y="169366"/>
                  <a:pt x="370384" y="158750"/>
                  <a:pt x="357188" y="158750"/>
                </a:cubicBezTo>
                <a:cubicBezTo>
                  <a:pt x="343991" y="158750"/>
                  <a:pt x="333375" y="169366"/>
                  <a:pt x="333375" y="182563"/>
                </a:cubicBezTo>
                <a:lnTo>
                  <a:pt x="333375" y="222250"/>
                </a:lnTo>
                <a:cubicBezTo>
                  <a:pt x="333375" y="301129"/>
                  <a:pt x="269379" y="365125"/>
                  <a:pt x="190500" y="365125"/>
                </a:cubicBezTo>
                <a:cubicBezTo>
                  <a:pt x="111621" y="365125"/>
                  <a:pt x="47625" y="301129"/>
                  <a:pt x="47625" y="222250"/>
                </a:cubicBezTo>
                <a:lnTo>
                  <a:pt x="47625" y="182563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4" name="Text 11"/>
          <p:cNvSpPr/>
          <p:nvPr/>
        </p:nvSpPr>
        <p:spPr>
          <a:xfrm>
            <a:off x="2921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Speech-to-Text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99000" y="31115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5080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15000" y="266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8" name="Text 15"/>
          <p:cNvSpPr/>
          <p:nvPr/>
        </p:nvSpPr>
        <p:spPr>
          <a:xfrm>
            <a:off x="5080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Model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58000" y="31115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7239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05750" y="266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7239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 Retrieval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17000" y="31115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9398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969500" y="2667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412651" y="208855"/>
                </a:moveTo>
                <a:cubicBezTo>
                  <a:pt x="424755" y="205581"/>
                  <a:pt x="437455" y="211336"/>
                  <a:pt x="442912" y="222548"/>
                </a:cubicBezTo>
                <a:lnTo>
                  <a:pt x="461367" y="259854"/>
                </a:lnTo>
                <a:cubicBezTo>
                  <a:pt x="471587" y="261243"/>
                  <a:pt x="481608" y="264021"/>
                  <a:pt x="491034" y="267891"/>
                </a:cubicBezTo>
                <a:lnTo>
                  <a:pt x="525760" y="244773"/>
                </a:lnTo>
                <a:cubicBezTo>
                  <a:pt x="536178" y="237827"/>
                  <a:pt x="549970" y="239216"/>
                  <a:pt x="558800" y="248047"/>
                </a:cubicBezTo>
                <a:lnTo>
                  <a:pt x="577850" y="267097"/>
                </a:lnTo>
                <a:cubicBezTo>
                  <a:pt x="586680" y="275927"/>
                  <a:pt x="588070" y="289818"/>
                  <a:pt x="581124" y="300137"/>
                </a:cubicBezTo>
                <a:lnTo>
                  <a:pt x="558006" y="334764"/>
                </a:lnTo>
                <a:cubicBezTo>
                  <a:pt x="559891" y="339427"/>
                  <a:pt x="561578" y="344289"/>
                  <a:pt x="562967" y="349349"/>
                </a:cubicBezTo>
                <a:cubicBezTo>
                  <a:pt x="564356" y="354409"/>
                  <a:pt x="565249" y="359370"/>
                  <a:pt x="565944" y="364430"/>
                </a:cubicBezTo>
                <a:lnTo>
                  <a:pt x="603349" y="382885"/>
                </a:lnTo>
                <a:cubicBezTo>
                  <a:pt x="614561" y="388441"/>
                  <a:pt x="620316" y="401141"/>
                  <a:pt x="617041" y="413147"/>
                </a:cubicBezTo>
                <a:lnTo>
                  <a:pt x="610096" y="439142"/>
                </a:lnTo>
                <a:cubicBezTo>
                  <a:pt x="606822" y="451148"/>
                  <a:pt x="595610" y="459284"/>
                  <a:pt x="583109" y="458490"/>
                </a:cubicBezTo>
                <a:lnTo>
                  <a:pt x="541437" y="455811"/>
                </a:lnTo>
                <a:cubicBezTo>
                  <a:pt x="535186" y="463848"/>
                  <a:pt x="527943" y="471289"/>
                  <a:pt x="519708" y="477639"/>
                </a:cubicBezTo>
                <a:lnTo>
                  <a:pt x="522387" y="519212"/>
                </a:lnTo>
                <a:cubicBezTo>
                  <a:pt x="523180" y="531713"/>
                  <a:pt x="515045" y="543024"/>
                  <a:pt x="503039" y="546199"/>
                </a:cubicBezTo>
                <a:lnTo>
                  <a:pt x="477044" y="553145"/>
                </a:lnTo>
                <a:cubicBezTo>
                  <a:pt x="464939" y="556419"/>
                  <a:pt x="452338" y="550664"/>
                  <a:pt x="446782" y="539452"/>
                </a:cubicBezTo>
                <a:lnTo>
                  <a:pt x="428327" y="502146"/>
                </a:lnTo>
                <a:cubicBezTo>
                  <a:pt x="418108" y="500757"/>
                  <a:pt x="408087" y="497979"/>
                  <a:pt x="398661" y="494109"/>
                </a:cubicBezTo>
                <a:lnTo>
                  <a:pt x="363934" y="517227"/>
                </a:lnTo>
                <a:cubicBezTo>
                  <a:pt x="353516" y="524173"/>
                  <a:pt x="339725" y="522784"/>
                  <a:pt x="330895" y="513953"/>
                </a:cubicBezTo>
                <a:lnTo>
                  <a:pt x="311845" y="494903"/>
                </a:lnTo>
                <a:cubicBezTo>
                  <a:pt x="303014" y="486073"/>
                  <a:pt x="301625" y="472281"/>
                  <a:pt x="308570" y="461863"/>
                </a:cubicBezTo>
                <a:lnTo>
                  <a:pt x="331688" y="427137"/>
                </a:lnTo>
                <a:cubicBezTo>
                  <a:pt x="329803" y="422473"/>
                  <a:pt x="328116" y="417612"/>
                  <a:pt x="326727" y="412552"/>
                </a:cubicBezTo>
                <a:cubicBezTo>
                  <a:pt x="325338" y="407491"/>
                  <a:pt x="324445" y="402431"/>
                  <a:pt x="323751" y="397470"/>
                </a:cubicBezTo>
                <a:lnTo>
                  <a:pt x="286345" y="379016"/>
                </a:lnTo>
                <a:cubicBezTo>
                  <a:pt x="275134" y="373459"/>
                  <a:pt x="269478" y="360759"/>
                  <a:pt x="272653" y="348754"/>
                </a:cubicBezTo>
                <a:lnTo>
                  <a:pt x="279598" y="322759"/>
                </a:lnTo>
                <a:cubicBezTo>
                  <a:pt x="282873" y="310753"/>
                  <a:pt x="294084" y="302617"/>
                  <a:pt x="306586" y="303411"/>
                </a:cubicBezTo>
                <a:lnTo>
                  <a:pt x="348159" y="306090"/>
                </a:lnTo>
                <a:cubicBezTo>
                  <a:pt x="354409" y="298053"/>
                  <a:pt x="361652" y="290612"/>
                  <a:pt x="369887" y="284262"/>
                </a:cubicBezTo>
                <a:lnTo>
                  <a:pt x="367209" y="242788"/>
                </a:lnTo>
                <a:cubicBezTo>
                  <a:pt x="366415" y="230287"/>
                  <a:pt x="374551" y="218976"/>
                  <a:pt x="386556" y="215801"/>
                </a:cubicBezTo>
                <a:lnTo>
                  <a:pt x="412552" y="208855"/>
                </a:lnTo>
                <a:close/>
                <a:moveTo>
                  <a:pt x="444897" y="337344"/>
                </a:moveTo>
                <a:cubicBezTo>
                  <a:pt x="420802" y="337371"/>
                  <a:pt x="401263" y="356955"/>
                  <a:pt x="401290" y="381050"/>
                </a:cubicBezTo>
                <a:cubicBezTo>
                  <a:pt x="401318" y="405144"/>
                  <a:pt x="420902" y="424684"/>
                  <a:pt x="444996" y="424656"/>
                </a:cubicBezTo>
                <a:cubicBezTo>
                  <a:pt x="469091" y="424629"/>
                  <a:pt x="488630" y="405045"/>
                  <a:pt x="488603" y="380950"/>
                </a:cubicBezTo>
                <a:cubicBezTo>
                  <a:pt x="488575" y="356856"/>
                  <a:pt x="468991" y="337316"/>
                  <a:pt x="444897" y="337344"/>
                </a:cubicBezTo>
                <a:close/>
                <a:moveTo>
                  <a:pt x="223143" y="-45145"/>
                </a:moveTo>
                <a:lnTo>
                  <a:pt x="249138" y="-38199"/>
                </a:lnTo>
                <a:cubicBezTo>
                  <a:pt x="261144" y="-34925"/>
                  <a:pt x="269280" y="-23614"/>
                  <a:pt x="268486" y="-11212"/>
                </a:cubicBezTo>
                <a:lnTo>
                  <a:pt x="265807" y="30262"/>
                </a:lnTo>
                <a:cubicBezTo>
                  <a:pt x="274042" y="36612"/>
                  <a:pt x="281285" y="43954"/>
                  <a:pt x="287536" y="52090"/>
                </a:cubicBezTo>
                <a:lnTo>
                  <a:pt x="329208" y="49411"/>
                </a:lnTo>
                <a:cubicBezTo>
                  <a:pt x="341610" y="48617"/>
                  <a:pt x="352921" y="56753"/>
                  <a:pt x="356195" y="68759"/>
                </a:cubicBezTo>
                <a:lnTo>
                  <a:pt x="363141" y="94754"/>
                </a:lnTo>
                <a:cubicBezTo>
                  <a:pt x="366316" y="106759"/>
                  <a:pt x="360660" y="119459"/>
                  <a:pt x="349448" y="125016"/>
                </a:cubicBezTo>
                <a:lnTo>
                  <a:pt x="312043" y="143470"/>
                </a:lnTo>
                <a:cubicBezTo>
                  <a:pt x="311348" y="148530"/>
                  <a:pt x="310356" y="153591"/>
                  <a:pt x="309066" y="158552"/>
                </a:cubicBezTo>
                <a:cubicBezTo>
                  <a:pt x="307777" y="163512"/>
                  <a:pt x="305991" y="168473"/>
                  <a:pt x="304105" y="173137"/>
                </a:cubicBezTo>
                <a:lnTo>
                  <a:pt x="327223" y="207863"/>
                </a:lnTo>
                <a:cubicBezTo>
                  <a:pt x="334169" y="218281"/>
                  <a:pt x="332780" y="232073"/>
                  <a:pt x="323949" y="240903"/>
                </a:cubicBezTo>
                <a:lnTo>
                  <a:pt x="304899" y="259953"/>
                </a:lnTo>
                <a:cubicBezTo>
                  <a:pt x="296069" y="268784"/>
                  <a:pt x="282277" y="270173"/>
                  <a:pt x="271859" y="263227"/>
                </a:cubicBezTo>
                <a:lnTo>
                  <a:pt x="237133" y="240109"/>
                </a:lnTo>
                <a:cubicBezTo>
                  <a:pt x="227707" y="243979"/>
                  <a:pt x="217686" y="246757"/>
                  <a:pt x="207466" y="248146"/>
                </a:cubicBezTo>
                <a:lnTo>
                  <a:pt x="189012" y="285452"/>
                </a:lnTo>
                <a:cubicBezTo>
                  <a:pt x="183455" y="296664"/>
                  <a:pt x="170755" y="302320"/>
                  <a:pt x="158750" y="299145"/>
                </a:cubicBezTo>
                <a:lnTo>
                  <a:pt x="132755" y="292199"/>
                </a:lnTo>
                <a:cubicBezTo>
                  <a:pt x="120650" y="288925"/>
                  <a:pt x="112613" y="277614"/>
                  <a:pt x="113407" y="265212"/>
                </a:cubicBezTo>
                <a:lnTo>
                  <a:pt x="116086" y="223639"/>
                </a:lnTo>
                <a:cubicBezTo>
                  <a:pt x="107851" y="217289"/>
                  <a:pt x="100608" y="209947"/>
                  <a:pt x="94357" y="201811"/>
                </a:cubicBezTo>
                <a:lnTo>
                  <a:pt x="52685" y="204490"/>
                </a:lnTo>
                <a:cubicBezTo>
                  <a:pt x="40283" y="205284"/>
                  <a:pt x="28972" y="197148"/>
                  <a:pt x="25698" y="185142"/>
                </a:cubicBezTo>
                <a:lnTo>
                  <a:pt x="18752" y="159147"/>
                </a:lnTo>
                <a:cubicBezTo>
                  <a:pt x="15577" y="147141"/>
                  <a:pt x="21233" y="134441"/>
                  <a:pt x="32445" y="128885"/>
                </a:cubicBezTo>
                <a:lnTo>
                  <a:pt x="69850" y="110430"/>
                </a:lnTo>
                <a:cubicBezTo>
                  <a:pt x="70545" y="105370"/>
                  <a:pt x="71537" y="100409"/>
                  <a:pt x="72827" y="95349"/>
                </a:cubicBezTo>
                <a:cubicBezTo>
                  <a:pt x="74216" y="90289"/>
                  <a:pt x="75803" y="85427"/>
                  <a:pt x="77788" y="80764"/>
                </a:cubicBezTo>
                <a:lnTo>
                  <a:pt x="54670" y="46137"/>
                </a:lnTo>
                <a:cubicBezTo>
                  <a:pt x="47724" y="35719"/>
                  <a:pt x="49113" y="21927"/>
                  <a:pt x="57944" y="13097"/>
                </a:cubicBezTo>
                <a:lnTo>
                  <a:pt x="76994" y="-5953"/>
                </a:lnTo>
                <a:cubicBezTo>
                  <a:pt x="85824" y="-14784"/>
                  <a:pt x="99616" y="-16173"/>
                  <a:pt x="110034" y="-9227"/>
                </a:cubicBezTo>
                <a:lnTo>
                  <a:pt x="144760" y="13891"/>
                </a:lnTo>
                <a:cubicBezTo>
                  <a:pt x="154186" y="10021"/>
                  <a:pt x="164207" y="7243"/>
                  <a:pt x="174427" y="5854"/>
                </a:cubicBezTo>
                <a:lnTo>
                  <a:pt x="192881" y="-31452"/>
                </a:lnTo>
                <a:cubicBezTo>
                  <a:pt x="198437" y="-42664"/>
                  <a:pt x="211038" y="-48320"/>
                  <a:pt x="223143" y="-45145"/>
                </a:cubicBezTo>
                <a:close/>
                <a:moveTo>
                  <a:pt x="190897" y="83344"/>
                </a:moveTo>
                <a:cubicBezTo>
                  <a:pt x="166802" y="83344"/>
                  <a:pt x="147241" y="102905"/>
                  <a:pt x="147241" y="127000"/>
                </a:cubicBezTo>
                <a:cubicBezTo>
                  <a:pt x="147241" y="151095"/>
                  <a:pt x="166802" y="170656"/>
                  <a:pt x="190897" y="170656"/>
                </a:cubicBezTo>
                <a:cubicBezTo>
                  <a:pt x="214991" y="170656"/>
                  <a:pt x="234553" y="151095"/>
                  <a:pt x="234553" y="127000"/>
                </a:cubicBezTo>
                <a:cubicBezTo>
                  <a:pt x="234553" y="102905"/>
                  <a:pt x="214991" y="83344"/>
                  <a:pt x="190897" y="8334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9398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Gen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176000" y="31115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11557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128500" y="2667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529431" y="32246"/>
                </a:moveTo>
                <a:cubicBezTo>
                  <a:pt x="519212" y="23912"/>
                  <a:pt x="504230" y="25499"/>
                  <a:pt x="495895" y="35719"/>
                </a:cubicBezTo>
                <a:cubicBezTo>
                  <a:pt x="487561" y="45938"/>
                  <a:pt x="489148" y="60920"/>
                  <a:pt x="499368" y="69255"/>
                </a:cubicBezTo>
                <a:cubicBezTo>
                  <a:pt x="553145" y="112911"/>
                  <a:pt x="587375" y="179388"/>
                  <a:pt x="587375" y="254000"/>
                </a:cubicBezTo>
                <a:cubicBezTo>
                  <a:pt x="587375" y="328613"/>
                  <a:pt x="553145" y="395089"/>
                  <a:pt x="499368" y="438845"/>
                </a:cubicBezTo>
                <a:cubicBezTo>
                  <a:pt x="489148" y="447179"/>
                  <a:pt x="487660" y="462161"/>
                  <a:pt x="495895" y="472380"/>
                </a:cubicBezTo>
                <a:cubicBezTo>
                  <a:pt x="504130" y="482600"/>
                  <a:pt x="519212" y="484088"/>
                  <a:pt x="529431" y="475853"/>
                </a:cubicBezTo>
                <a:cubicBezTo>
                  <a:pt x="593824" y="423366"/>
                  <a:pt x="635000" y="343495"/>
                  <a:pt x="635000" y="254000"/>
                </a:cubicBezTo>
                <a:cubicBezTo>
                  <a:pt x="635000" y="164505"/>
                  <a:pt x="593824" y="84534"/>
                  <a:pt x="529431" y="32246"/>
                </a:cubicBezTo>
                <a:close/>
                <a:moveTo>
                  <a:pt x="469404" y="106164"/>
                </a:moveTo>
                <a:cubicBezTo>
                  <a:pt x="459184" y="97830"/>
                  <a:pt x="444202" y="99417"/>
                  <a:pt x="435868" y="109637"/>
                </a:cubicBezTo>
                <a:cubicBezTo>
                  <a:pt x="427534" y="119856"/>
                  <a:pt x="429121" y="134838"/>
                  <a:pt x="439341" y="143173"/>
                </a:cubicBezTo>
                <a:cubicBezTo>
                  <a:pt x="471587" y="169366"/>
                  <a:pt x="492125" y="209252"/>
                  <a:pt x="492125" y="254000"/>
                </a:cubicBezTo>
                <a:cubicBezTo>
                  <a:pt x="492125" y="298748"/>
                  <a:pt x="471587" y="338634"/>
                  <a:pt x="439341" y="364927"/>
                </a:cubicBezTo>
                <a:cubicBezTo>
                  <a:pt x="429121" y="373261"/>
                  <a:pt x="427633" y="388243"/>
                  <a:pt x="435868" y="398463"/>
                </a:cubicBezTo>
                <a:cubicBezTo>
                  <a:pt x="444103" y="408682"/>
                  <a:pt x="459184" y="410170"/>
                  <a:pt x="469404" y="401935"/>
                </a:cubicBezTo>
                <a:cubicBezTo>
                  <a:pt x="512266" y="367010"/>
                  <a:pt x="539750" y="313730"/>
                  <a:pt x="539750" y="254099"/>
                </a:cubicBezTo>
                <a:cubicBezTo>
                  <a:pt x="539750" y="194469"/>
                  <a:pt x="512266" y="141188"/>
                  <a:pt x="469404" y="106263"/>
                </a:cubicBezTo>
                <a:close/>
                <a:moveTo>
                  <a:pt x="409377" y="180082"/>
                </a:moveTo>
                <a:cubicBezTo>
                  <a:pt x="399157" y="171748"/>
                  <a:pt x="384175" y="173335"/>
                  <a:pt x="375841" y="183555"/>
                </a:cubicBezTo>
                <a:cubicBezTo>
                  <a:pt x="367506" y="193774"/>
                  <a:pt x="369094" y="208756"/>
                  <a:pt x="379313" y="217091"/>
                </a:cubicBezTo>
                <a:cubicBezTo>
                  <a:pt x="390029" y="225822"/>
                  <a:pt x="396875" y="239117"/>
                  <a:pt x="396875" y="254000"/>
                </a:cubicBezTo>
                <a:cubicBezTo>
                  <a:pt x="396875" y="268883"/>
                  <a:pt x="390029" y="282178"/>
                  <a:pt x="379313" y="291009"/>
                </a:cubicBezTo>
                <a:cubicBezTo>
                  <a:pt x="369094" y="299343"/>
                  <a:pt x="367605" y="314325"/>
                  <a:pt x="375841" y="324545"/>
                </a:cubicBezTo>
                <a:cubicBezTo>
                  <a:pt x="384076" y="334764"/>
                  <a:pt x="399157" y="336252"/>
                  <a:pt x="409377" y="328017"/>
                </a:cubicBezTo>
                <a:cubicBezTo>
                  <a:pt x="430709" y="310455"/>
                  <a:pt x="444500" y="283865"/>
                  <a:pt x="444500" y="254000"/>
                </a:cubicBezTo>
                <a:cubicBezTo>
                  <a:pt x="444500" y="224135"/>
                  <a:pt x="430709" y="197545"/>
                  <a:pt x="409377" y="180082"/>
                </a:cubicBezTo>
                <a:close/>
                <a:moveTo>
                  <a:pt x="79375" y="349250"/>
                </a:moveTo>
                <a:lnTo>
                  <a:pt x="127000" y="349250"/>
                </a:lnTo>
                <a:lnTo>
                  <a:pt x="260052" y="467519"/>
                </a:lnTo>
                <a:cubicBezTo>
                  <a:pt x="266402" y="473174"/>
                  <a:pt x="274538" y="476250"/>
                  <a:pt x="282972" y="476250"/>
                </a:cubicBezTo>
                <a:cubicBezTo>
                  <a:pt x="302022" y="476250"/>
                  <a:pt x="317500" y="460772"/>
                  <a:pt x="317500" y="441722"/>
                </a:cubicBezTo>
                <a:lnTo>
                  <a:pt x="317500" y="66278"/>
                </a:lnTo>
                <a:cubicBezTo>
                  <a:pt x="317500" y="47228"/>
                  <a:pt x="302022" y="31750"/>
                  <a:pt x="282972" y="31750"/>
                </a:cubicBezTo>
                <a:cubicBezTo>
                  <a:pt x="274538" y="31750"/>
                  <a:pt x="266402" y="34826"/>
                  <a:pt x="260052" y="40481"/>
                </a:cubicBezTo>
                <a:lnTo>
                  <a:pt x="127000" y="158750"/>
                </a:lnTo>
                <a:lnTo>
                  <a:pt x="79375" y="158750"/>
                </a:lnTo>
                <a:cubicBezTo>
                  <a:pt x="53082" y="158750"/>
                  <a:pt x="31750" y="180082"/>
                  <a:pt x="31750" y="206375"/>
                </a:cubicBezTo>
                <a:lnTo>
                  <a:pt x="31750" y="301625"/>
                </a:lnTo>
                <a:cubicBezTo>
                  <a:pt x="31750" y="327918"/>
                  <a:pt x="53082" y="349250"/>
                  <a:pt x="79375" y="3492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Text 27"/>
          <p:cNvSpPr/>
          <p:nvPr/>
        </p:nvSpPr>
        <p:spPr>
          <a:xfrm>
            <a:off x="11557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3335000" y="3111500"/>
            <a:ext cx="381000" cy="0"/>
          </a:xfrm>
          <a:prstGeom prst="straightConnector1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arrow"/>
          </a:ln>
        </p:spPr>
      </p:sp>
      <p:sp>
        <p:nvSpPr>
          <p:cNvPr id="32" name="Shape 29"/>
          <p:cNvSpPr/>
          <p:nvPr/>
        </p:nvSpPr>
        <p:spPr>
          <a:xfrm>
            <a:off x="13716000" y="2540000"/>
            <a:ext cx="1778000" cy="12700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33" name="Shape 30"/>
          <p:cNvSpPr/>
          <p:nvPr/>
        </p:nvSpPr>
        <p:spPr>
          <a:xfrm>
            <a:off x="14287500" y="2667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13716000" y="32766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Avatar Output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62000" y="40640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Mode: Full pipeline | Text Mode: Bypasses STT and TTS steps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588000" y="4699000"/>
            <a:ext cx="5080000" cy="127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Shape 34"/>
          <p:cNvSpPr/>
          <p:nvPr/>
        </p:nvSpPr>
        <p:spPr>
          <a:xfrm>
            <a:off x="2032000" y="5207000"/>
            <a:ext cx="12192000" cy="2984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40000" y="546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AI Architecture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2540000" y="5969000"/>
            <a:ext cx="1117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system combines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reasoning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(fine-tuned LLM) with </a:t>
            </a:r>
            <a:r>
              <a:rPr lang="en-US" sz="18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 data retrieval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(RAG) to produce responses that are both intelligent and factually grounded.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hybrid approach ensures students receive accurate academic guidance based on official university documents.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762000" y="4508500"/>
            <a:ext cx="14732000" cy="12700"/>
          </a:xfrm>
          <a:prstGeom prst="rect">
            <a:avLst/>
          </a:prstGeom>
          <a:gradFill flip="none" rotWithShape="1">
            <a:gsLst>
              <a:gs pos="0">
                <a:srgbClr val="06B6D4">
                  <a:alpha val="0"/>
                </a:srgbClr>
              </a:gs>
              <a:gs pos="30000">
                <a:srgbClr val="06B6D4">
                  <a:alpha val="25000"/>
                </a:srgbClr>
              </a:gs>
              <a:gs pos="70000">
                <a:srgbClr val="06B6D4">
                  <a:alpha val="25000"/>
                </a:srgbClr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1016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2000" y="18415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" y="2095500"/>
            <a:ext cx="3429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97%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016000" y="3048000"/>
            <a:ext cx="292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Accuracy on evaluation dataset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59000" y="412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10B981">
              <a:alpha val="3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8415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2095500"/>
            <a:ext cx="3429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700+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4826000" y="304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Academic Q&amp;A handled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37250" y="381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06B6D4">
              <a:alpha val="3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382000" y="18415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82000" y="2095500"/>
            <a:ext cx="3429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+ BM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36000" y="304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Multi-language support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747250" y="381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58750" y="0"/>
                </a:moveTo>
                <a:cubicBezTo>
                  <a:pt x="176312" y="0"/>
                  <a:pt x="190500" y="14188"/>
                  <a:pt x="190500" y="31750"/>
                </a:cubicBezTo>
                <a:lnTo>
                  <a:pt x="190500" y="63500"/>
                </a:lnTo>
                <a:lnTo>
                  <a:pt x="317500" y="63500"/>
                </a:lnTo>
                <a:cubicBezTo>
                  <a:pt x="335062" y="63500"/>
                  <a:pt x="349250" y="77688"/>
                  <a:pt x="349250" y="95250"/>
                </a:cubicBezTo>
                <a:cubicBezTo>
                  <a:pt x="349250" y="112812"/>
                  <a:pt x="335062" y="127000"/>
                  <a:pt x="317500" y="127000"/>
                </a:cubicBezTo>
                <a:lnTo>
                  <a:pt x="307975" y="127000"/>
                </a:lnTo>
                <a:lnTo>
                  <a:pt x="299641" y="149920"/>
                </a:lnTo>
                <a:cubicBezTo>
                  <a:pt x="283369" y="194766"/>
                  <a:pt x="258862" y="235744"/>
                  <a:pt x="228005" y="270966"/>
                </a:cubicBezTo>
                <a:cubicBezTo>
                  <a:pt x="242094" y="279698"/>
                  <a:pt x="256778" y="287437"/>
                  <a:pt x="272058" y="294283"/>
                </a:cubicBezTo>
                <a:lnTo>
                  <a:pt x="322064" y="316508"/>
                </a:lnTo>
                <a:lnTo>
                  <a:pt x="383778" y="177602"/>
                </a:lnTo>
                <a:cubicBezTo>
                  <a:pt x="388838" y="166092"/>
                  <a:pt x="400248" y="158750"/>
                  <a:pt x="412750" y="158750"/>
                </a:cubicBezTo>
                <a:cubicBezTo>
                  <a:pt x="425252" y="158750"/>
                  <a:pt x="436662" y="166092"/>
                  <a:pt x="441722" y="177602"/>
                </a:cubicBezTo>
                <a:lnTo>
                  <a:pt x="568722" y="463352"/>
                </a:lnTo>
                <a:cubicBezTo>
                  <a:pt x="575866" y="479425"/>
                  <a:pt x="568623" y="498177"/>
                  <a:pt x="552648" y="505222"/>
                </a:cubicBezTo>
                <a:cubicBezTo>
                  <a:pt x="536674" y="512266"/>
                  <a:pt x="517823" y="505123"/>
                  <a:pt x="510778" y="489148"/>
                </a:cubicBezTo>
                <a:lnTo>
                  <a:pt x="490934" y="444500"/>
                </a:lnTo>
                <a:lnTo>
                  <a:pt x="334665" y="444500"/>
                </a:lnTo>
                <a:lnTo>
                  <a:pt x="314821" y="489148"/>
                </a:lnTo>
                <a:cubicBezTo>
                  <a:pt x="307677" y="505222"/>
                  <a:pt x="288925" y="512366"/>
                  <a:pt x="272951" y="505222"/>
                </a:cubicBezTo>
                <a:cubicBezTo>
                  <a:pt x="256977" y="498078"/>
                  <a:pt x="249734" y="479326"/>
                  <a:pt x="256877" y="463352"/>
                </a:cubicBezTo>
                <a:lnTo>
                  <a:pt x="296366" y="374551"/>
                </a:lnTo>
                <a:lnTo>
                  <a:pt x="246360" y="352326"/>
                </a:lnTo>
                <a:cubicBezTo>
                  <a:pt x="223540" y="342205"/>
                  <a:pt x="201712" y="330101"/>
                  <a:pt x="181074" y="316210"/>
                </a:cubicBezTo>
                <a:cubicBezTo>
                  <a:pt x="159941" y="333276"/>
                  <a:pt x="136823" y="348159"/>
                  <a:pt x="112117" y="360561"/>
                </a:cubicBezTo>
                <a:lnTo>
                  <a:pt x="77688" y="377627"/>
                </a:lnTo>
                <a:cubicBezTo>
                  <a:pt x="62012" y="385465"/>
                  <a:pt x="42962" y="379115"/>
                  <a:pt x="35123" y="363438"/>
                </a:cubicBezTo>
                <a:cubicBezTo>
                  <a:pt x="27285" y="347762"/>
                  <a:pt x="33635" y="328712"/>
                  <a:pt x="49312" y="320873"/>
                </a:cubicBezTo>
                <a:lnTo>
                  <a:pt x="83542" y="303709"/>
                </a:lnTo>
                <a:cubicBezTo>
                  <a:pt x="99715" y="295573"/>
                  <a:pt x="115094" y="286147"/>
                  <a:pt x="129580" y="275630"/>
                </a:cubicBezTo>
                <a:cubicBezTo>
                  <a:pt x="115888" y="263029"/>
                  <a:pt x="102989" y="249436"/>
                  <a:pt x="90984" y="235049"/>
                </a:cubicBezTo>
                <a:lnTo>
                  <a:pt x="80962" y="222945"/>
                </a:lnTo>
                <a:cubicBezTo>
                  <a:pt x="69751" y="209451"/>
                  <a:pt x="71537" y="189409"/>
                  <a:pt x="85030" y="178197"/>
                </a:cubicBezTo>
                <a:cubicBezTo>
                  <a:pt x="98524" y="166985"/>
                  <a:pt x="118566" y="168771"/>
                  <a:pt x="129778" y="182265"/>
                </a:cubicBezTo>
                <a:lnTo>
                  <a:pt x="139898" y="194370"/>
                </a:lnTo>
                <a:cubicBezTo>
                  <a:pt x="151309" y="208161"/>
                  <a:pt x="163810" y="220960"/>
                  <a:pt x="177006" y="232767"/>
                </a:cubicBezTo>
                <a:cubicBezTo>
                  <a:pt x="204291" y="202605"/>
                  <a:pt x="225822" y="167184"/>
                  <a:pt x="240010" y="128191"/>
                </a:cubicBezTo>
                <a:lnTo>
                  <a:pt x="240506" y="127000"/>
                </a:lnTo>
                <a:lnTo>
                  <a:pt x="31849" y="127000"/>
                </a:lnTo>
                <a:cubicBezTo>
                  <a:pt x="14188" y="127000"/>
                  <a:pt x="0" y="112812"/>
                  <a:pt x="0" y="95250"/>
                </a:cubicBezTo>
                <a:cubicBezTo>
                  <a:pt x="0" y="77688"/>
                  <a:pt x="14188" y="63500"/>
                  <a:pt x="31750" y="63500"/>
                </a:cubicBezTo>
                <a:lnTo>
                  <a:pt x="127000" y="63500"/>
                </a:lnTo>
                <a:lnTo>
                  <a:pt x="127000" y="31750"/>
                </a:lnTo>
                <a:cubicBezTo>
                  <a:pt x="127000" y="14188"/>
                  <a:pt x="141188" y="0"/>
                  <a:pt x="158750" y="0"/>
                </a:cubicBezTo>
                <a:close/>
                <a:moveTo>
                  <a:pt x="412750" y="268684"/>
                </a:moveTo>
                <a:lnTo>
                  <a:pt x="362843" y="381000"/>
                </a:lnTo>
                <a:lnTo>
                  <a:pt x="462657" y="381000"/>
                </a:lnTo>
                <a:lnTo>
                  <a:pt x="412750" y="268684"/>
                </a:lnTo>
                <a:close/>
              </a:path>
            </a:pathLst>
          </a:custGeom>
          <a:solidFill>
            <a:srgbClr val="06B6D4">
              <a:alpha val="3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2192000" y="18415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192000" y="2095500"/>
            <a:ext cx="3429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2s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446000" y="3048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interaction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620750" y="3810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06B6D4">
              <a:alpha val="3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2000" y="5207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0E7490">
              <a:alpha val="6275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270000" y="558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2159000" y="558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159000" y="6223000"/>
            <a:ext cx="127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Fine-tuning + RAG</a:t>
            </a: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significantly improves reliability over base models. The combination of domain-specific training and real-time data retrieval ensures responses are both contextually appropriate and factually accurate.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62000" y="8128000"/>
            <a:ext cx="14732000" cy="127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50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1651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 DEMO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DEMO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pic>
        <p:nvPicPr>
          <p:cNvPr id="8" name="Image 1" descr="https://kimi-img.moonshot.cn/pub/slides/okc/h3fdooaxa2pxm/mnt/agents/output/e-bee-advisor/images/layout.png"/>
          <p:cNvPicPr>
            <a:picLocks noChangeAspect="1"/>
          </p:cNvPicPr>
          <p:nvPr/>
        </p:nvPicPr>
        <p:blipFill>
          <a:blip r:embed="rId3"/>
          <a:srcRect l="-22018" r="-22018"/>
          <a:stretch/>
        </p:blipFill>
        <p:spPr>
          <a:xfrm>
            <a:off x="762000" y="1651000"/>
            <a:ext cx="5588000" cy="685800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Text 5"/>
          <p:cNvSpPr/>
          <p:nvPr/>
        </p:nvSpPr>
        <p:spPr>
          <a:xfrm>
            <a:off x="6858000" y="1841500"/>
            <a:ext cx="863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 Virtual Academic Advisor"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858000" y="2540000"/>
            <a:ext cx="838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AI avatar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interface with 3D character</a:t>
            </a:r>
            <a:endParaRPr lang="en-US" sz="1800" dirty="0"/>
          </a:p>
          <a:p>
            <a:pPr marL="285750" indent="-28575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mode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typed queries</a:t>
            </a:r>
            <a:endParaRPr lang="en-US" sz="1800" dirty="0"/>
          </a:p>
          <a:p>
            <a:pPr marL="285750" indent="-28575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mode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hands-free interaction</a:t>
            </a:r>
            <a:endParaRPr lang="en-US" sz="1800" dirty="0"/>
          </a:p>
          <a:p>
            <a:pPr marL="285750" indent="-28575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response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</a:t>
            </a:r>
            <a:endParaRPr lang="en-US" sz="1800" dirty="0"/>
          </a:p>
          <a:p>
            <a:pPr marL="285750" indent="-28575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Student-friendly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dark theme design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858000" y="5715000"/>
            <a:ext cx="8382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12000" y="6032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7874000" y="59055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Positioned as </a:t>
            </a:r>
            <a:r>
              <a:rPr lang="en-US" sz="18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 virtual academic advisor"</a:t>
            </a: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always available to help students with course-related questions.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2032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2000" y="1714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1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Solves Real University Problems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23495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6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31237" y="0"/>
                  <a:pt x="254000" y="22763"/>
                  <a:pt x="254000" y="50800"/>
                </a:cubicBezTo>
                <a:cubicBezTo>
                  <a:pt x="254000" y="78837"/>
                  <a:pt x="231237" y="101600"/>
                  <a:pt x="203200" y="101600"/>
                </a:cubicBezTo>
                <a:cubicBezTo>
                  <a:pt x="175163" y="101600"/>
                  <a:pt x="152400" y="78837"/>
                  <a:pt x="152400" y="50800"/>
                </a:cubicBezTo>
                <a:cubicBezTo>
                  <a:pt x="152400" y="22763"/>
                  <a:pt x="175163" y="0"/>
                  <a:pt x="203200" y="0"/>
                </a:cubicBezTo>
                <a:close/>
                <a:moveTo>
                  <a:pt x="279400" y="247650"/>
                </a:moveTo>
                <a:cubicBezTo>
                  <a:pt x="279400" y="267494"/>
                  <a:pt x="269319" y="284956"/>
                  <a:pt x="254000" y="295196"/>
                </a:cubicBezTo>
                <a:lnTo>
                  <a:pt x="254000" y="368300"/>
                </a:lnTo>
                <a:cubicBezTo>
                  <a:pt x="254000" y="389334"/>
                  <a:pt x="236934" y="406400"/>
                  <a:pt x="215900" y="406400"/>
                </a:cubicBezTo>
                <a:lnTo>
                  <a:pt x="190500" y="406400"/>
                </a:lnTo>
                <a:cubicBezTo>
                  <a:pt x="169466" y="406400"/>
                  <a:pt x="152400" y="389334"/>
                  <a:pt x="152400" y="368300"/>
                </a:cubicBezTo>
                <a:lnTo>
                  <a:pt x="152400" y="295196"/>
                </a:lnTo>
                <a:cubicBezTo>
                  <a:pt x="137081" y="284956"/>
                  <a:pt x="127000" y="267494"/>
                  <a:pt x="127000" y="247650"/>
                </a:cubicBezTo>
                <a:lnTo>
                  <a:pt x="127000" y="215900"/>
                </a:lnTo>
                <a:cubicBezTo>
                  <a:pt x="127000" y="173831"/>
                  <a:pt x="161131" y="139700"/>
                  <a:pt x="203200" y="139700"/>
                </a:cubicBezTo>
                <a:cubicBezTo>
                  <a:pt x="245269" y="139700"/>
                  <a:pt x="279400" y="173831"/>
                  <a:pt x="279400" y="215900"/>
                </a:cubicBezTo>
                <a:lnTo>
                  <a:pt x="279400" y="247650"/>
                </a:lnTo>
                <a:close/>
                <a:moveTo>
                  <a:pt x="76200" y="25400"/>
                </a:moveTo>
                <a:cubicBezTo>
                  <a:pt x="100733" y="25400"/>
                  <a:pt x="120650" y="45317"/>
                  <a:pt x="120650" y="69850"/>
                </a:cubicBezTo>
                <a:cubicBezTo>
                  <a:pt x="120650" y="94383"/>
                  <a:pt x="100733" y="114300"/>
                  <a:pt x="76200" y="114300"/>
                </a:cubicBezTo>
                <a:cubicBezTo>
                  <a:pt x="51667" y="114300"/>
                  <a:pt x="31750" y="94383"/>
                  <a:pt x="31750" y="69850"/>
                </a:cubicBezTo>
                <a:cubicBezTo>
                  <a:pt x="31750" y="45317"/>
                  <a:pt x="51667" y="25400"/>
                  <a:pt x="76200" y="25400"/>
                </a:cubicBezTo>
                <a:close/>
                <a:moveTo>
                  <a:pt x="88900" y="215900"/>
                </a:moveTo>
                <a:lnTo>
                  <a:pt x="88900" y="241300"/>
                </a:lnTo>
                <a:cubicBezTo>
                  <a:pt x="88900" y="267097"/>
                  <a:pt x="98504" y="290592"/>
                  <a:pt x="114300" y="308531"/>
                </a:cubicBezTo>
                <a:lnTo>
                  <a:pt x="114300" y="368300"/>
                </a:lnTo>
                <a:cubicBezTo>
                  <a:pt x="114300" y="369253"/>
                  <a:pt x="114300" y="370284"/>
                  <a:pt x="114379" y="371237"/>
                </a:cubicBezTo>
                <a:cubicBezTo>
                  <a:pt x="107633" y="377269"/>
                  <a:pt x="98742" y="381000"/>
                  <a:pt x="88900" y="381000"/>
                </a:cubicBezTo>
                <a:lnTo>
                  <a:pt x="63500" y="381000"/>
                </a:lnTo>
                <a:cubicBezTo>
                  <a:pt x="42466" y="381000"/>
                  <a:pt x="25400" y="363934"/>
                  <a:pt x="25400" y="342900"/>
                </a:cubicBezTo>
                <a:lnTo>
                  <a:pt x="25400" y="297974"/>
                </a:lnTo>
                <a:cubicBezTo>
                  <a:pt x="10239" y="289243"/>
                  <a:pt x="0" y="272812"/>
                  <a:pt x="0" y="254000"/>
                </a:cubicBezTo>
                <a:lnTo>
                  <a:pt x="0" y="228600"/>
                </a:lnTo>
                <a:cubicBezTo>
                  <a:pt x="0" y="186531"/>
                  <a:pt x="34131" y="152400"/>
                  <a:pt x="76200" y="152400"/>
                </a:cubicBezTo>
                <a:cubicBezTo>
                  <a:pt x="86281" y="152400"/>
                  <a:pt x="95885" y="154384"/>
                  <a:pt x="104696" y="157877"/>
                </a:cubicBezTo>
                <a:cubicBezTo>
                  <a:pt x="94694" y="174863"/>
                  <a:pt x="88900" y="194707"/>
                  <a:pt x="88900" y="215900"/>
                </a:cubicBezTo>
                <a:close/>
                <a:moveTo>
                  <a:pt x="292100" y="368300"/>
                </a:moveTo>
                <a:lnTo>
                  <a:pt x="292100" y="308531"/>
                </a:lnTo>
                <a:cubicBezTo>
                  <a:pt x="307896" y="290671"/>
                  <a:pt x="317500" y="267097"/>
                  <a:pt x="317500" y="241300"/>
                </a:cubicBezTo>
                <a:lnTo>
                  <a:pt x="317500" y="215900"/>
                </a:lnTo>
                <a:cubicBezTo>
                  <a:pt x="317500" y="194707"/>
                  <a:pt x="311706" y="174943"/>
                  <a:pt x="301704" y="157877"/>
                </a:cubicBezTo>
                <a:cubicBezTo>
                  <a:pt x="310515" y="154305"/>
                  <a:pt x="320119" y="152400"/>
                  <a:pt x="330200" y="152400"/>
                </a:cubicBezTo>
                <a:cubicBezTo>
                  <a:pt x="372269" y="152400"/>
                  <a:pt x="406400" y="186531"/>
                  <a:pt x="406400" y="228600"/>
                </a:cubicBezTo>
                <a:lnTo>
                  <a:pt x="406400" y="254000"/>
                </a:lnTo>
                <a:cubicBezTo>
                  <a:pt x="406400" y="272812"/>
                  <a:pt x="396161" y="289243"/>
                  <a:pt x="381000" y="297974"/>
                </a:cubicBezTo>
                <a:lnTo>
                  <a:pt x="381000" y="342900"/>
                </a:lnTo>
                <a:cubicBezTo>
                  <a:pt x="381000" y="363934"/>
                  <a:pt x="363934" y="381000"/>
                  <a:pt x="342900" y="381000"/>
                </a:cubicBezTo>
                <a:lnTo>
                  <a:pt x="317500" y="381000"/>
                </a:lnTo>
                <a:cubicBezTo>
                  <a:pt x="307737" y="381000"/>
                  <a:pt x="298768" y="377349"/>
                  <a:pt x="292021" y="371237"/>
                </a:cubicBezTo>
                <a:cubicBezTo>
                  <a:pt x="292021" y="370284"/>
                  <a:pt x="292100" y="369253"/>
                  <a:pt x="292100" y="368300"/>
                </a:cubicBezTo>
                <a:close/>
                <a:moveTo>
                  <a:pt x="330200" y="25400"/>
                </a:moveTo>
                <a:cubicBezTo>
                  <a:pt x="354733" y="25400"/>
                  <a:pt x="374650" y="45317"/>
                  <a:pt x="374650" y="69850"/>
                </a:cubicBezTo>
                <a:cubicBezTo>
                  <a:pt x="374650" y="94383"/>
                  <a:pt x="354733" y="114300"/>
                  <a:pt x="330200" y="114300"/>
                </a:cubicBezTo>
                <a:cubicBezTo>
                  <a:pt x="305667" y="114300"/>
                  <a:pt x="285750" y="94383"/>
                  <a:pt x="285750" y="69850"/>
                </a:cubicBezTo>
                <a:cubicBezTo>
                  <a:pt x="285750" y="45317"/>
                  <a:pt x="305667" y="25400"/>
                  <a:pt x="330200" y="254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3022600"/>
            <a:ext cx="292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long queues during enrolment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45000" y="23495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99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4699000" y="3022600"/>
            <a:ext cx="292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Automates repetitive academic questions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41275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5200" y="4318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1600" y="76200"/>
                </a:moveTo>
                <a:cubicBezTo>
                  <a:pt x="101600" y="48181"/>
                  <a:pt x="124381" y="25400"/>
                  <a:pt x="152400" y="25400"/>
                </a:cubicBezTo>
                <a:lnTo>
                  <a:pt x="431800" y="25400"/>
                </a:lnTo>
                <a:cubicBezTo>
                  <a:pt x="459819" y="25400"/>
                  <a:pt x="482600" y="48181"/>
                  <a:pt x="482600" y="76200"/>
                </a:cubicBezTo>
                <a:lnTo>
                  <a:pt x="482600" y="266700"/>
                </a:lnTo>
                <a:lnTo>
                  <a:pt x="406400" y="266700"/>
                </a:lnTo>
                <a:lnTo>
                  <a:pt x="406400" y="254000"/>
                </a:lnTo>
                <a:cubicBezTo>
                  <a:pt x="406400" y="239951"/>
                  <a:pt x="395049" y="228600"/>
                  <a:pt x="381000" y="228600"/>
                </a:cubicBezTo>
                <a:lnTo>
                  <a:pt x="330200" y="228600"/>
                </a:lnTo>
                <a:cubicBezTo>
                  <a:pt x="316151" y="228600"/>
                  <a:pt x="304800" y="239951"/>
                  <a:pt x="304800" y="254000"/>
                </a:cubicBezTo>
                <a:lnTo>
                  <a:pt x="304800" y="266700"/>
                </a:lnTo>
                <a:lnTo>
                  <a:pt x="202327" y="266700"/>
                </a:lnTo>
                <a:cubicBezTo>
                  <a:pt x="210979" y="251777"/>
                  <a:pt x="215900" y="234394"/>
                  <a:pt x="215900" y="215900"/>
                </a:cubicBezTo>
                <a:cubicBezTo>
                  <a:pt x="215900" y="159782"/>
                  <a:pt x="170418" y="114300"/>
                  <a:pt x="114300" y="114300"/>
                </a:cubicBezTo>
                <a:cubicBezTo>
                  <a:pt x="110014" y="114300"/>
                  <a:pt x="105727" y="114538"/>
                  <a:pt x="101600" y="115094"/>
                </a:cubicBezTo>
                <a:lnTo>
                  <a:pt x="101600" y="76200"/>
                </a:lnTo>
                <a:close/>
                <a:moveTo>
                  <a:pt x="264319" y="355600"/>
                </a:moveTo>
                <a:cubicBezTo>
                  <a:pt x="260271" y="336391"/>
                  <a:pt x="251381" y="319008"/>
                  <a:pt x="238839" y="304800"/>
                </a:cubicBezTo>
                <a:lnTo>
                  <a:pt x="482600" y="304800"/>
                </a:lnTo>
                <a:cubicBezTo>
                  <a:pt x="482600" y="332819"/>
                  <a:pt x="459819" y="355600"/>
                  <a:pt x="431800" y="355600"/>
                </a:cubicBezTo>
                <a:lnTo>
                  <a:pt x="264319" y="355600"/>
                </a:lnTo>
                <a:close/>
                <a:moveTo>
                  <a:pt x="50800" y="215900"/>
                </a:moveTo>
                <a:cubicBezTo>
                  <a:pt x="50800" y="180853"/>
                  <a:pt x="79253" y="152400"/>
                  <a:pt x="114300" y="152400"/>
                </a:cubicBezTo>
                <a:cubicBezTo>
                  <a:pt x="149347" y="152400"/>
                  <a:pt x="177800" y="180853"/>
                  <a:pt x="177800" y="215900"/>
                </a:cubicBezTo>
                <a:cubicBezTo>
                  <a:pt x="177800" y="250947"/>
                  <a:pt x="149347" y="279400"/>
                  <a:pt x="114300" y="279400"/>
                </a:cubicBezTo>
                <a:cubicBezTo>
                  <a:pt x="79253" y="279400"/>
                  <a:pt x="50800" y="250947"/>
                  <a:pt x="50800" y="215900"/>
                </a:cubicBezTo>
                <a:close/>
                <a:moveTo>
                  <a:pt x="0" y="381000"/>
                </a:moveTo>
                <a:cubicBezTo>
                  <a:pt x="0" y="338931"/>
                  <a:pt x="34131" y="304800"/>
                  <a:pt x="76200" y="304800"/>
                </a:cubicBezTo>
                <a:lnTo>
                  <a:pt x="152400" y="304800"/>
                </a:lnTo>
                <a:cubicBezTo>
                  <a:pt x="194469" y="304800"/>
                  <a:pt x="228600" y="338931"/>
                  <a:pt x="228600" y="381000"/>
                </a:cubicBezTo>
                <a:cubicBezTo>
                  <a:pt x="228600" y="395049"/>
                  <a:pt x="217249" y="406400"/>
                  <a:pt x="2032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4800600"/>
            <a:ext cx="292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Frees up lecturers for complex advising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445000" y="41275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9800" y="4318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4699000" y="4800600"/>
            <a:ext cx="292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student decision-making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2000" y="1841500"/>
            <a:ext cx="12700" cy="3937000"/>
          </a:xfrm>
          <a:prstGeom prst="rect">
            <a:avLst/>
          </a:prstGeom>
          <a:gradFill flip="none" rotWithShape="1">
            <a:gsLst>
              <a:gs pos="0">
                <a:srgbClr val="334155">
                  <a:alpha val="0"/>
                </a:srgbClr>
              </a:gs>
              <a:gs pos="30000">
                <a:srgbClr val="334155"/>
              </a:gs>
              <a:gs pos="70000">
                <a:srgbClr val="334155"/>
              </a:gs>
              <a:gs pos="100000">
                <a:srgbClr val="334155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22" name="Text 19"/>
          <p:cNvSpPr/>
          <p:nvPr/>
        </p:nvSpPr>
        <p:spPr>
          <a:xfrm>
            <a:off x="8890000" y="17145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1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Also Useful For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890000" y="2349500"/>
            <a:ext cx="6604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69400" y="2603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28600" y="50800"/>
                </a:moveTo>
                <a:lnTo>
                  <a:pt x="279400" y="50800"/>
                </a:lnTo>
                <a:lnTo>
                  <a:pt x="279400" y="381000"/>
                </a:lnTo>
                <a:cubicBezTo>
                  <a:pt x="279400" y="395049"/>
                  <a:pt x="290751" y="406400"/>
                  <a:pt x="304800" y="406400"/>
                </a:cubicBezTo>
                <a:lnTo>
                  <a:pt x="330200" y="406400"/>
                </a:lnTo>
                <a:cubicBezTo>
                  <a:pt x="344249" y="406400"/>
                  <a:pt x="355600" y="395049"/>
                  <a:pt x="355600" y="381000"/>
                </a:cubicBezTo>
                <a:cubicBezTo>
                  <a:pt x="355600" y="366951"/>
                  <a:pt x="344249" y="355600"/>
                  <a:pt x="330200" y="355600"/>
                </a:cubicBezTo>
                <a:lnTo>
                  <a:pt x="330200" y="50800"/>
                </a:lnTo>
                <a:cubicBezTo>
                  <a:pt x="330200" y="22781"/>
                  <a:pt x="307419" y="0"/>
                  <a:pt x="279400" y="0"/>
                </a:cubicBezTo>
                <a:lnTo>
                  <a:pt x="203200" y="0"/>
                </a:lnTo>
                <a:lnTo>
                  <a:pt x="203200" y="0"/>
                </a:lnTo>
                <a:lnTo>
                  <a:pt x="76200" y="0"/>
                </a:ln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11351" y="355600"/>
                  <a:pt x="0" y="366951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203200" y="406400"/>
                </a:lnTo>
                <a:cubicBezTo>
                  <a:pt x="217249" y="406400"/>
                  <a:pt x="228600" y="395049"/>
                  <a:pt x="228600" y="381000"/>
                </a:cubicBezTo>
                <a:lnTo>
                  <a:pt x="228600" y="50800"/>
                </a:lnTo>
                <a:close/>
                <a:moveTo>
                  <a:pt x="127000" y="203200"/>
                </a:moveTo>
                <a:cubicBezTo>
                  <a:pt x="127000" y="189181"/>
                  <a:pt x="138381" y="177800"/>
                  <a:pt x="152400" y="177800"/>
                </a:cubicBezTo>
                <a:cubicBezTo>
                  <a:pt x="166419" y="177800"/>
                  <a:pt x="177800" y="189181"/>
                  <a:pt x="177800" y="203200"/>
                </a:cubicBezTo>
                <a:cubicBezTo>
                  <a:pt x="177800" y="217219"/>
                  <a:pt x="166419" y="228600"/>
                  <a:pt x="152400" y="228600"/>
                </a:cubicBezTo>
                <a:cubicBezTo>
                  <a:pt x="138381" y="228600"/>
                  <a:pt x="127000" y="217219"/>
                  <a:pt x="127000" y="2032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9715500" y="24384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Day / Orientation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students explore programmes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890000" y="3619500"/>
            <a:ext cx="6604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8" name="Text 25"/>
          <p:cNvSpPr/>
          <p:nvPr/>
        </p:nvSpPr>
        <p:spPr>
          <a:xfrm>
            <a:off x="9715500" y="37084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Structure Guide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Explains prerequisites and pathways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90000" y="4889500"/>
            <a:ext cx="6604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0" y="514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518" y="0"/>
                </a:moveTo>
                <a:cubicBezTo>
                  <a:pt x="189468" y="0"/>
                  <a:pt x="178117" y="11351"/>
                  <a:pt x="178117" y="25400"/>
                </a:cubicBezTo>
                <a:lnTo>
                  <a:pt x="178117" y="50800"/>
                </a:lnTo>
                <a:lnTo>
                  <a:pt x="51117" y="50800"/>
                </a:lnTo>
                <a:cubicBezTo>
                  <a:pt x="37068" y="50800"/>
                  <a:pt x="25717" y="62151"/>
                  <a:pt x="25717" y="76200"/>
                </a:cubicBezTo>
                <a:lnTo>
                  <a:pt x="25717" y="127000"/>
                </a:lnTo>
                <a:cubicBezTo>
                  <a:pt x="25717" y="141049"/>
                  <a:pt x="37068" y="152400"/>
                  <a:pt x="51117" y="152400"/>
                </a:cubicBezTo>
                <a:lnTo>
                  <a:pt x="178117" y="152400"/>
                </a:lnTo>
                <a:lnTo>
                  <a:pt x="178117" y="203200"/>
                </a:lnTo>
                <a:lnTo>
                  <a:pt x="56356" y="203200"/>
                </a:lnTo>
                <a:cubicBezTo>
                  <a:pt x="53022" y="203200"/>
                  <a:pt x="49768" y="204549"/>
                  <a:pt x="47387" y="206931"/>
                </a:cubicBezTo>
                <a:lnTo>
                  <a:pt x="9287" y="245031"/>
                </a:lnTo>
                <a:cubicBezTo>
                  <a:pt x="4366" y="249952"/>
                  <a:pt x="4366" y="258048"/>
                  <a:pt x="9287" y="262969"/>
                </a:cubicBezTo>
                <a:lnTo>
                  <a:pt x="47387" y="301069"/>
                </a:lnTo>
                <a:cubicBezTo>
                  <a:pt x="49768" y="303451"/>
                  <a:pt x="53022" y="304800"/>
                  <a:pt x="56356" y="304800"/>
                </a:cubicBezTo>
                <a:lnTo>
                  <a:pt x="178117" y="304800"/>
                </a:lnTo>
                <a:lnTo>
                  <a:pt x="178117" y="381000"/>
                </a:lnTo>
                <a:cubicBezTo>
                  <a:pt x="178117" y="395049"/>
                  <a:pt x="189468" y="406400"/>
                  <a:pt x="203518" y="406400"/>
                </a:cubicBezTo>
                <a:cubicBezTo>
                  <a:pt x="217567" y="406400"/>
                  <a:pt x="228918" y="395049"/>
                  <a:pt x="228918" y="381000"/>
                </a:cubicBezTo>
                <a:lnTo>
                  <a:pt x="228918" y="304800"/>
                </a:lnTo>
                <a:lnTo>
                  <a:pt x="355918" y="304800"/>
                </a:lnTo>
                <a:cubicBezTo>
                  <a:pt x="369967" y="304800"/>
                  <a:pt x="381317" y="293449"/>
                  <a:pt x="381317" y="279400"/>
                </a:cubicBezTo>
                <a:lnTo>
                  <a:pt x="381317" y="228600"/>
                </a:lnTo>
                <a:cubicBezTo>
                  <a:pt x="381317" y="214551"/>
                  <a:pt x="369967" y="203200"/>
                  <a:pt x="355918" y="203200"/>
                </a:cubicBezTo>
                <a:lnTo>
                  <a:pt x="228918" y="203200"/>
                </a:lnTo>
                <a:lnTo>
                  <a:pt x="228918" y="152400"/>
                </a:lnTo>
                <a:lnTo>
                  <a:pt x="350679" y="152400"/>
                </a:lnTo>
                <a:cubicBezTo>
                  <a:pt x="354012" y="152400"/>
                  <a:pt x="357267" y="151051"/>
                  <a:pt x="359648" y="148669"/>
                </a:cubicBezTo>
                <a:lnTo>
                  <a:pt x="397748" y="110569"/>
                </a:lnTo>
                <a:cubicBezTo>
                  <a:pt x="402669" y="105648"/>
                  <a:pt x="402669" y="97552"/>
                  <a:pt x="397748" y="92631"/>
                </a:cubicBezTo>
                <a:lnTo>
                  <a:pt x="359648" y="54531"/>
                </a:lnTo>
                <a:cubicBezTo>
                  <a:pt x="357267" y="52149"/>
                  <a:pt x="354012" y="50800"/>
                  <a:pt x="350679" y="50800"/>
                </a:cubicBezTo>
                <a:lnTo>
                  <a:pt x="228918" y="50800"/>
                </a:lnTo>
                <a:lnTo>
                  <a:pt x="228918" y="25400"/>
                </a:lnTo>
                <a:cubicBezTo>
                  <a:pt x="228918" y="11351"/>
                  <a:pt x="217567" y="0"/>
                  <a:pt x="203518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8"/>
          <p:cNvSpPr/>
          <p:nvPr/>
        </p:nvSpPr>
        <p:spPr>
          <a:xfrm>
            <a:off x="9715500" y="4978400"/>
            <a:ext cx="552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Campus Guide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Acts as an interactive guide for visitors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62000" y="6223000"/>
            <a:ext cx="14732000" cy="1524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0E7490">
                  <a:alpha val="8000"/>
                </a:srgbClr>
              </a:gs>
              <a:gs pos="100000">
                <a:srgbClr val="10B981">
                  <a:alpha val="6000"/>
                </a:srgbClr>
              </a:gs>
            </a:gsLst>
            <a:lin ang="0" scaled="1"/>
          </a:gra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31900" y="6604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68498" y="-22503"/>
                </a:moveTo>
                <a:cubicBezTo>
                  <a:pt x="363617" y="-32028"/>
                  <a:pt x="353735" y="-38100"/>
                  <a:pt x="343019" y="-38100"/>
                </a:cubicBezTo>
                <a:cubicBezTo>
                  <a:pt x="332303" y="-38100"/>
                  <a:pt x="322421" y="-32028"/>
                  <a:pt x="317540" y="-22503"/>
                </a:cubicBezTo>
                <a:lnTo>
                  <a:pt x="229910" y="149185"/>
                </a:lnTo>
                <a:lnTo>
                  <a:pt x="39529" y="179427"/>
                </a:lnTo>
                <a:cubicBezTo>
                  <a:pt x="28932" y="181094"/>
                  <a:pt x="20122" y="188595"/>
                  <a:pt x="16788" y="198834"/>
                </a:cubicBezTo>
                <a:cubicBezTo>
                  <a:pt x="13454" y="209074"/>
                  <a:pt x="16193" y="220266"/>
                  <a:pt x="23693" y="227886"/>
                </a:cubicBezTo>
                <a:lnTo>
                  <a:pt x="159901" y="364212"/>
                </a:lnTo>
                <a:lnTo>
                  <a:pt x="129897" y="554593"/>
                </a:lnTo>
                <a:cubicBezTo>
                  <a:pt x="128230" y="565190"/>
                  <a:pt x="132636" y="575905"/>
                  <a:pt x="141327" y="582216"/>
                </a:cubicBezTo>
                <a:cubicBezTo>
                  <a:pt x="150019" y="588526"/>
                  <a:pt x="161449" y="589478"/>
                  <a:pt x="171093" y="584597"/>
                </a:cubicBezTo>
                <a:lnTo>
                  <a:pt x="343019" y="497205"/>
                </a:lnTo>
                <a:lnTo>
                  <a:pt x="514826" y="584597"/>
                </a:lnTo>
                <a:cubicBezTo>
                  <a:pt x="524351" y="589478"/>
                  <a:pt x="535900" y="588526"/>
                  <a:pt x="544592" y="582216"/>
                </a:cubicBezTo>
                <a:cubicBezTo>
                  <a:pt x="553283" y="575905"/>
                  <a:pt x="557689" y="565309"/>
                  <a:pt x="556022" y="554593"/>
                </a:cubicBezTo>
                <a:lnTo>
                  <a:pt x="525899" y="364212"/>
                </a:lnTo>
                <a:lnTo>
                  <a:pt x="662107" y="227886"/>
                </a:lnTo>
                <a:cubicBezTo>
                  <a:pt x="669727" y="220266"/>
                  <a:pt x="672346" y="209074"/>
                  <a:pt x="669012" y="198834"/>
                </a:cubicBezTo>
                <a:cubicBezTo>
                  <a:pt x="665678" y="188595"/>
                  <a:pt x="656987" y="181094"/>
                  <a:pt x="646271" y="179427"/>
                </a:cubicBezTo>
                <a:lnTo>
                  <a:pt x="456009" y="149185"/>
                </a:lnTo>
                <a:lnTo>
                  <a:pt x="368498" y="-2250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2159000" y="6477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system doesn't just answer questions — it </a:t>
            </a:r>
            <a:r>
              <a:rPr lang="en-US" sz="20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transforms how students interact with academic services</a:t>
            </a: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making information accessible 24/7 and empowering better academic decisions.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533400"/>
            <a:ext cx="2540000" cy="2540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50800" dir="2700000" algn="bl" rotWithShape="0">
              <a:srgbClr val="10B981">
                <a:alpha val="37647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2000" y="12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&amp; SCALABILITY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7874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2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&amp; SCALABILITY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1371600"/>
            <a:ext cx="1016000" cy="38100"/>
          </a:xfrm>
          <a:prstGeom prst="rect">
            <a:avLst/>
          </a:prstGeom>
          <a:solidFill>
            <a:srgbClr val="06B6D4"/>
          </a:solidFill>
          <a:ln/>
          <a:effectLst>
            <a:outerShdw blurRad="50800" dist="50800" dir="2700000" algn="bl" rotWithShape="0">
              <a:srgbClr val="06B6D4">
                <a:alpha val="25098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2000" y="18415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00" y="1841500"/>
            <a:ext cx="50800" cy="177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7"/>
          <p:cNvSpPr/>
          <p:nvPr/>
        </p:nvSpPr>
        <p:spPr>
          <a:xfrm>
            <a:off x="1174750" y="2222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158750"/>
                </a:lnTo>
                <a:cubicBezTo>
                  <a:pt x="0" y="176312"/>
                  <a:pt x="14188" y="190500"/>
                  <a:pt x="31750" y="190500"/>
                </a:cubicBezTo>
                <a:cubicBezTo>
                  <a:pt x="49312" y="190500"/>
                  <a:pt x="63500" y="176312"/>
                  <a:pt x="63500" y="158750"/>
                </a:cubicBezTo>
                <a:lnTo>
                  <a:pt x="63500" y="95250"/>
                </a:lnTo>
                <a:lnTo>
                  <a:pt x="127000" y="95250"/>
                </a:lnTo>
                <a:cubicBezTo>
                  <a:pt x="144562" y="95250"/>
                  <a:pt x="158750" y="81062"/>
                  <a:pt x="158750" y="63500"/>
                </a:cubicBezTo>
                <a:cubicBezTo>
                  <a:pt x="158750" y="45938"/>
                  <a:pt x="144562" y="31750"/>
                  <a:pt x="127000" y="31750"/>
                </a:cubicBezTo>
                <a:lnTo>
                  <a:pt x="31750" y="31750"/>
                </a:lnTo>
                <a:close/>
                <a:moveTo>
                  <a:pt x="63500" y="349250"/>
                </a:moveTo>
                <a:cubicBezTo>
                  <a:pt x="63500" y="331688"/>
                  <a:pt x="49312" y="317500"/>
                  <a:pt x="31750" y="317500"/>
                </a:cubicBezTo>
                <a:cubicBezTo>
                  <a:pt x="14188" y="317500"/>
                  <a:pt x="0" y="331688"/>
                  <a:pt x="0" y="349250"/>
                </a:cubicBezTo>
                <a:lnTo>
                  <a:pt x="0" y="444500"/>
                </a:lnTo>
                <a:cubicBezTo>
                  <a:pt x="0" y="462062"/>
                  <a:pt x="14188" y="476250"/>
                  <a:pt x="31750" y="476250"/>
                </a:cubicBezTo>
                <a:lnTo>
                  <a:pt x="127000" y="476250"/>
                </a:lnTo>
                <a:cubicBezTo>
                  <a:pt x="144562" y="476250"/>
                  <a:pt x="158750" y="462062"/>
                  <a:pt x="158750" y="444500"/>
                </a:cubicBezTo>
                <a:cubicBezTo>
                  <a:pt x="158750" y="426938"/>
                  <a:pt x="144562" y="412750"/>
                  <a:pt x="127000" y="412750"/>
                </a:cubicBezTo>
                <a:lnTo>
                  <a:pt x="63500" y="412750"/>
                </a:lnTo>
                <a:lnTo>
                  <a:pt x="63500" y="349250"/>
                </a:lnTo>
                <a:close/>
                <a:moveTo>
                  <a:pt x="317500" y="31750"/>
                </a:moveTo>
                <a:cubicBezTo>
                  <a:pt x="299938" y="31750"/>
                  <a:pt x="285750" y="45938"/>
                  <a:pt x="285750" y="63500"/>
                </a:cubicBezTo>
                <a:cubicBezTo>
                  <a:pt x="285750" y="81062"/>
                  <a:pt x="299938" y="95250"/>
                  <a:pt x="317500" y="95250"/>
                </a:cubicBezTo>
                <a:lnTo>
                  <a:pt x="381000" y="95250"/>
                </a:lnTo>
                <a:lnTo>
                  <a:pt x="381000" y="158750"/>
                </a:lnTo>
                <a:cubicBezTo>
                  <a:pt x="381000" y="176312"/>
                  <a:pt x="395188" y="190500"/>
                  <a:pt x="412750" y="190500"/>
                </a:cubicBezTo>
                <a:cubicBezTo>
                  <a:pt x="430312" y="190500"/>
                  <a:pt x="444500" y="176312"/>
                  <a:pt x="444500" y="158750"/>
                </a:cubicBezTo>
                <a:lnTo>
                  <a:pt x="444500" y="63500"/>
                </a:lnTo>
                <a:cubicBezTo>
                  <a:pt x="444500" y="45938"/>
                  <a:pt x="430312" y="31750"/>
                  <a:pt x="412750" y="31750"/>
                </a:cubicBezTo>
                <a:lnTo>
                  <a:pt x="317500" y="31750"/>
                </a:lnTo>
                <a:close/>
                <a:moveTo>
                  <a:pt x="444500" y="349250"/>
                </a:moveTo>
                <a:cubicBezTo>
                  <a:pt x="444500" y="331688"/>
                  <a:pt x="430312" y="317500"/>
                  <a:pt x="412750" y="317500"/>
                </a:cubicBezTo>
                <a:cubicBezTo>
                  <a:pt x="395188" y="317500"/>
                  <a:pt x="381000" y="331688"/>
                  <a:pt x="381000" y="349250"/>
                </a:cubicBezTo>
                <a:lnTo>
                  <a:pt x="381000" y="412750"/>
                </a:lnTo>
                <a:lnTo>
                  <a:pt x="317500" y="412750"/>
                </a:lnTo>
                <a:cubicBezTo>
                  <a:pt x="299938" y="412750"/>
                  <a:pt x="285750" y="426938"/>
                  <a:pt x="285750" y="444500"/>
                </a:cubicBezTo>
                <a:cubicBezTo>
                  <a:pt x="285750" y="462062"/>
                  <a:pt x="299938" y="476250"/>
                  <a:pt x="317500" y="476250"/>
                </a:cubicBezTo>
                <a:lnTo>
                  <a:pt x="412750" y="476250"/>
                </a:lnTo>
                <a:cubicBezTo>
                  <a:pt x="430312" y="476250"/>
                  <a:pt x="444500" y="462062"/>
                  <a:pt x="444500" y="444500"/>
                </a:cubicBezTo>
                <a:lnTo>
                  <a:pt x="444500" y="3492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1905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to Multiple Programmes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05000" y="25146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Extend beyond Intelligent Robotics to cover all faculties and programmes at the university.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82000" y="18415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82000" y="1841500"/>
            <a:ext cx="50800" cy="177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8794750" y="2222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27000" y="-31750"/>
                </a:moveTo>
                <a:cubicBezTo>
                  <a:pt x="144562" y="-31750"/>
                  <a:pt x="158750" y="-17562"/>
                  <a:pt x="158750" y="0"/>
                </a:cubicBezTo>
                <a:lnTo>
                  <a:pt x="158750" y="95250"/>
                </a:lnTo>
                <a:lnTo>
                  <a:pt x="285750" y="95250"/>
                </a:lnTo>
                <a:lnTo>
                  <a:pt x="285750" y="0"/>
                </a:lnTo>
                <a:cubicBezTo>
                  <a:pt x="285750" y="-17562"/>
                  <a:pt x="299938" y="-31750"/>
                  <a:pt x="317500" y="-31750"/>
                </a:cubicBezTo>
                <a:cubicBezTo>
                  <a:pt x="335062" y="-31750"/>
                  <a:pt x="349250" y="-17562"/>
                  <a:pt x="349250" y="0"/>
                </a:cubicBezTo>
                <a:lnTo>
                  <a:pt x="349250" y="95250"/>
                </a:ln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cubicBezTo>
                  <a:pt x="444500" y="144562"/>
                  <a:pt x="430312" y="158750"/>
                  <a:pt x="412750" y="158750"/>
                </a:cubicBezTo>
                <a:lnTo>
                  <a:pt x="412750" y="222250"/>
                </a:lnTo>
                <a:cubicBezTo>
                  <a:pt x="412750" y="316607"/>
                  <a:pt x="344091" y="394990"/>
                  <a:pt x="254000" y="410071"/>
                </a:cubicBezTo>
                <a:lnTo>
                  <a:pt x="254000" y="476250"/>
                </a:lnTo>
                <a:cubicBezTo>
                  <a:pt x="254000" y="493812"/>
                  <a:pt x="239812" y="508000"/>
                  <a:pt x="222250" y="508000"/>
                </a:cubicBezTo>
                <a:cubicBezTo>
                  <a:pt x="204688" y="508000"/>
                  <a:pt x="190500" y="493812"/>
                  <a:pt x="190500" y="476250"/>
                </a:cubicBezTo>
                <a:lnTo>
                  <a:pt x="190500" y="410071"/>
                </a:lnTo>
                <a:cubicBezTo>
                  <a:pt x="100409" y="394990"/>
                  <a:pt x="31750" y="316607"/>
                  <a:pt x="31750" y="222250"/>
                </a:cubicBez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95250" y="95250"/>
                </a:lnTo>
                <a:lnTo>
                  <a:pt x="95250" y="0"/>
                </a:lnTo>
                <a:cubicBezTo>
                  <a:pt x="95250" y="-17562"/>
                  <a:pt x="109438" y="-31750"/>
                  <a:pt x="127000" y="-317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9525000" y="2095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with University Systems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525000" y="25146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 with LMS, student portal, and enrolment systems for seamless data access.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62000" y="40005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2000" y="4000500"/>
            <a:ext cx="50800" cy="177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Shape 17"/>
          <p:cNvSpPr/>
          <p:nvPr/>
        </p:nvSpPr>
        <p:spPr>
          <a:xfrm>
            <a:off x="1206500" y="4381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5875" y="63500"/>
                </a:moveTo>
                <a:cubicBezTo>
                  <a:pt x="15875" y="28476"/>
                  <a:pt x="44351" y="0"/>
                  <a:pt x="79375" y="0"/>
                </a:cubicBezTo>
                <a:lnTo>
                  <a:pt x="301625" y="0"/>
                </a:lnTo>
                <a:cubicBezTo>
                  <a:pt x="336649" y="0"/>
                  <a:pt x="365125" y="28476"/>
                  <a:pt x="365125" y="63500"/>
                </a:cubicBezTo>
                <a:lnTo>
                  <a:pt x="365125" y="444500"/>
                </a:lnTo>
                <a:cubicBezTo>
                  <a:pt x="365125" y="479524"/>
                  <a:pt x="336649" y="508000"/>
                  <a:pt x="301625" y="508000"/>
                </a:cubicBezTo>
                <a:lnTo>
                  <a:pt x="79375" y="508000"/>
                </a:lnTo>
                <a:cubicBezTo>
                  <a:pt x="44351" y="508000"/>
                  <a:pt x="15875" y="479524"/>
                  <a:pt x="15875" y="444500"/>
                </a:cubicBezTo>
                <a:lnTo>
                  <a:pt x="15875" y="63500"/>
                </a:lnTo>
                <a:close/>
                <a:moveTo>
                  <a:pt x="127000" y="436563"/>
                </a:moveTo>
                <a:cubicBezTo>
                  <a:pt x="127000" y="449759"/>
                  <a:pt x="137616" y="460375"/>
                  <a:pt x="150813" y="460375"/>
                </a:cubicBezTo>
                <a:lnTo>
                  <a:pt x="230188" y="460375"/>
                </a:lnTo>
                <a:cubicBezTo>
                  <a:pt x="243384" y="460375"/>
                  <a:pt x="254000" y="449759"/>
                  <a:pt x="254000" y="436563"/>
                </a:cubicBezTo>
                <a:cubicBezTo>
                  <a:pt x="254000" y="423366"/>
                  <a:pt x="243384" y="412750"/>
                  <a:pt x="230188" y="412750"/>
                </a:cubicBezTo>
                <a:lnTo>
                  <a:pt x="150813" y="412750"/>
                </a:lnTo>
                <a:cubicBezTo>
                  <a:pt x="137616" y="412750"/>
                  <a:pt x="127000" y="423366"/>
                  <a:pt x="127000" y="436563"/>
                </a:cubicBezTo>
                <a:close/>
                <a:moveTo>
                  <a:pt x="301625" y="63500"/>
                </a:moveTo>
                <a:lnTo>
                  <a:pt x="79375" y="63500"/>
                </a:lnTo>
                <a:lnTo>
                  <a:pt x="79375" y="365125"/>
                </a:lnTo>
                <a:lnTo>
                  <a:pt x="301625" y="365125"/>
                </a:lnTo>
                <a:lnTo>
                  <a:pt x="301625" y="63500"/>
                </a:lnTo>
                <a:close/>
              </a:path>
            </a:pathLst>
          </a:custGeom>
          <a:solidFill>
            <a:srgbClr val="0E7490"/>
          </a:solidFill>
          <a:ln/>
        </p:spPr>
      </p:sp>
      <p:sp>
        <p:nvSpPr>
          <p:cNvPr id="21" name="Text 18"/>
          <p:cNvSpPr/>
          <p:nvPr/>
        </p:nvSpPr>
        <p:spPr>
          <a:xfrm>
            <a:off x="1905000" y="425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as Kiosks or Mobile Apps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905000" y="46736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kiosks on campus and mobile applications for on-the-go access.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82000" y="40005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82000" y="4000500"/>
            <a:ext cx="50800" cy="17780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06B6D4"/>
              </a:gs>
            </a:gsLst>
            <a:lin ang="540000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8763000" y="438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9525000" y="4254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Across Institutions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525000" y="46736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Adaptable framework for deployment at other universities and colleges.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62000" y="6350000"/>
            <a:ext cx="14732000" cy="1524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10B981">
                  <a:alpha val="13000"/>
                </a:srgbClr>
              </a:gs>
              <a:gs pos="100000">
                <a:srgbClr val="06B6D4">
                  <a:alpha val="8000"/>
                </a:srgbClr>
              </a:gs>
            </a:gsLst>
            <a:lin ang="0" scaled="1"/>
          </a:gra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70000" y="673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2159000" y="6604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159000" y="6985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1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advising for every university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0">
              <a:srgbClr val="16324F"/>
            </a:gs>
            <a:gs pos="60000">
              <a:srgbClr val="0B1120"/>
            </a:gs>
            <a:gs pos="100000">
              <a:srgbClr val="070C18"/>
            </a:gs>
          </a:gsLst>
          <a:path path="circl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3fdooaxa2pxm/mnt/agents/output/e-bee-advisor/images/2_Abstract_technology_background_futuristic.png"/>
          <p:cNvPicPr>
            <a:picLocks noChangeAspect="1"/>
          </p:cNvPicPr>
          <p:nvPr/>
        </p:nvPicPr>
        <p:blipFill>
          <a:blip r:embed="rId3">
            <a:alphaModFix amt="6000"/>
          </a:blip>
          <a:srcRect l="160" r="1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2000" y="1270000"/>
            <a:ext cx="5334000" cy="6604000"/>
          </a:xfrm>
          <a:prstGeom prst="ellipse">
            <a:avLst/>
          </a:prstGeom>
          <a:gradFill flip="none" rotWithShape="1">
            <a:gsLst>
              <a:gs pos="0">
                <a:srgbClr val="10B981">
                  <a:alpha val="7000"/>
                </a:srgbClr>
              </a:gs>
              <a:gs pos="50000">
                <a:srgbClr val="06B6D4">
                  <a:alpha val="3000"/>
                </a:srgbClr>
              </a:gs>
              <a:gs pos="100000">
                <a:srgbClr val="06B6D4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Text 1"/>
          <p:cNvSpPr/>
          <p:nvPr/>
        </p:nvSpPr>
        <p:spPr>
          <a:xfrm>
            <a:off x="6604000" y="127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kern="0" spc="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604000" y="2159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transforms academic advising: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604000" y="2794000"/>
            <a:ext cx="1905000" cy="254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  <a:ln/>
          <a:effectLst>
            <a:outerShdw blurRad="50800" dist="50800" dir="2700000" algn="bl" rotWithShape="0">
              <a:srgbClr val="10B981">
                <a:alpha val="25098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604000" y="3111500"/>
            <a:ext cx="863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17500" indent="-31750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</a:t>
            </a:r>
            <a:r>
              <a:rPr lang="en-US" sz="2000" b="1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 queues</a:t>
            </a: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r>
              <a:rPr lang="en-US" sz="20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 answers</a:t>
            </a:r>
            <a:endParaRPr lang="en-US" sz="2000" dirty="0"/>
          </a:p>
          <a:p>
            <a:pPr marL="317500" indent="-31750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</a:t>
            </a:r>
            <a:r>
              <a:rPr lang="en-US" sz="2000" b="1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repetitive workload</a:t>
            </a: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r>
              <a:rPr lang="en-US" sz="20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automated system</a:t>
            </a:r>
            <a:endParaRPr lang="en-US" sz="2000" dirty="0"/>
          </a:p>
          <a:p>
            <a:pPr marL="317500" indent="-317500">
              <a:lnSpc>
                <a:spcPct val="19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</a:t>
            </a:r>
            <a:r>
              <a:rPr lang="en-US" sz="2000" b="1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 access</a:t>
            </a:r>
            <a:r>
              <a:rPr lang="en-US" sz="20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r>
              <a:rPr lang="en-US" sz="2000" b="1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available AI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604000" y="5715000"/>
            <a:ext cx="8636000" cy="1270000"/>
          </a:xfrm>
          <a:prstGeom prst="roundRect">
            <a:avLst>
              <a:gd name="adj" fmla="val 8000"/>
            </a:avLst>
          </a:prstGeom>
          <a:solidFill>
            <a:srgbClr val="0E7490">
              <a:alpha val="8235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46900" y="603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06B6D4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7493000" y="5905500"/>
            <a:ext cx="749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i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"Instead of students waiting in line, the advisor is now always available."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04000" y="73660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Jet Saw Jun Jie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04000" y="79248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Faculty of Artificial Intelligence and Engineering (FAIE)</a:t>
            </a: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University (MMU)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04000" y="8509000"/>
            <a:ext cx="8636000" cy="254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50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4C8388-BB5A-0217-8B51-1FC39684D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36" y="1355834"/>
            <a:ext cx="4452664" cy="62973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714</Words>
  <Application>Microsoft Office PowerPoint</Application>
  <PresentationFormat>Custom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QuattrocentoSans</vt:lpstr>
      <vt:lpstr>Quattrocento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Avatar for Academic Advising using Fine-Tuned Large Language Model</dc:title>
  <dc:subject>AI Avatar for Academic Advising using Fine-Tuned Large Language Model</dc:subject>
  <dc:creator>Kimi</dc:creator>
  <cp:lastModifiedBy>jet saw</cp:lastModifiedBy>
  <cp:revision>3</cp:revision>
  <dcterms:created xsi:type="dcterms:W3CDTF">2026-04-27T21:19:39Z</dcterms:created>
  <dcterms:modified xsi:type="dcterms:W3CDTF">2026-04-28T14:04:55Z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Avatar for Academic Advising using Fine-Tuned Large Language Model","ContentProducer":"001191110108MACG2KBH8F10000","ProduceID":"19dd0c0e-e622-89e9-8000-00005278f277","ReservedCode1":"","ContentPropagator":"001191110108MACG2KBH8F20000","PropagateID":"19dd0c0e-e622-89e9-8000-00005278f277","ReservedCode2":""}</vt:lpwstr>
  </property>
</Properties>
</file>