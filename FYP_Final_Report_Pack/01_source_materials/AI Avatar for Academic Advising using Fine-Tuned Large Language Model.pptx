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Liter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amo.githubusercontent.com/71d6a273542cfc7d93d30aebb8d5079b555a02ab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0518" b="2051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0000"/>
                </a:srgbClr>
              </a:gs>
              <a:gs pos="100000">
                <a:srgbClr val="4DB6A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1260475"/>
            <a:ext cx="3159125" cy="387350"/>
          </a:xfrm>
          <a:custGeom>
            <a:avLst/>
            <a:gdLst/>
            <a:ahLst/>
            <a:cxnLst/>
            <a:rect l="l" t="t" r="r" b="b"/>
            <a:pathLst>
              <a:path w="3159125" h="387350">
                <a:moveTo>
                  <a:pt x="76199" y="0"/>
                </a:moveTo>
                <a:lnTo>
                  <a:pt x="3082926" y="0"/>
                </a:lnTo>
                <a:cubicBezTo>
                  <a:pt x="3125009" y="0"/>
                  <a:pt x="3159125" y="34116"/>
                  <a:pt x="3159125" y="76199"/>
                </a:cubicBezTo>
                <a:lnTo>
                  <a:pt x="3159125" y="311151"/>
                </a:lnTo>
                <a:cubicBezTo>
                  <a:pt x="3159125" y="353234"/>
                  <a:pt x="3125009" y="387350"/>
                  <a:pt x="308292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750" y="1339850"/>
            <a:ext cx="29258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6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Project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08200"/>
            <a:ext cx="1171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Avatar for Academic Advising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Fine-Tuned Large Language Model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7655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4108450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Integrating RAG, Voice Interaction, and Embodied AI for Intelligent Academic Support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254625"/>
            <a:ext cx="11430000" cy="6350"/>
          </a:xfrm>
          <a:custGeom>
            <a:avLst/>
            <a:gdLst/>
            <a:ahLst/>
            <a:cxnLst/>
            <a:rect l="l" t="t" r="r" b="b"/>
            <a:pathLst>
              <a:path w="11430000" h="6350">
                <a:moveTo>
                  <a:pt x="0" y="0"/>
                </a:moveTo>
                <a:lnTo>
                  <a:pt x="11430000" y="0"/>
                </a:lnTo>
                <a:lnTo>
                  <a:pt x="1143000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5528" y="56292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80803" y="-4353"/>
                </a:moveTo>
                <a:cubicBezTo>
                  <a:pt x="76985" y="-5123"/>
                  <a:pt x="73067" y="-5123"/>
                  <a:pt x="69250" y="-4353"/>
                </a:cubicBezTo>
                <a:lnTo>
                  <a:pt x="6463" y="8204"/>
                </a:lnTo>
                <a:cubicBezTo>
                  <a:pt x="2712" y="8941"/>
                  <a:pt x="0" y="12256"/>
                  <a:pt x="0" y="16073"/>
                </a:cubicBezTo>
                <a:cubicBezTo>
                  <a:pt x="0" y="19523"/>
                  <a:pt x="2177" y="22536"/>
                  <a:pt x="5358" y="23641"/>
                </a:cubicBezTo>
                <a:lnTo>
                  <a:pt x="5358" y="48220"/>
                </a:lnTo>
                <a:lnTo>
                  <a:pt x="100" y="74541"/>
                </a:lnTo>
                <a:cubicBezTo>
                  <a:pt x="33" y="74842"/>
                  <a:pt x="0" y="75177"/>
                  <a:pt x="0" y="75512"/>
                </a:cubicBezTo>
                <a:cubicBezTo>
                  <a:pt x="0" y="78191"/>
                  <a:pt x="2177" y="80401"/>
                  <a:pt x="4889" y="80401"/>
                </a:cubicBezTo>
                <a:lnTo>
                  <a:pt x="16576" y="80401"/>
                </a:lnTo>
                <a:cubicBezTo>
                  <a:pt x="19255" y="80401"/>
                  <a:pt x="21465" y="78224"/>
                  <a:pt x="21465" y="75512"/>
                </a:cubicBezTo>
                <a:cubicBezTo>
                  <a:pt x="21465" y="75177"/>
                  <a:pt x="21431" y="74875"/>
                  <a:pt x="21364" y="74541"/>
                </a:cubicBezTo>
                <a:lnTo>
                  <a:pt x="16073" y="48220"/>
                </a:lnTo>
                <a:lnTo>
                  <a:pt x="16073" y="25885"/>
                </a:lnTo>
                <a:lnTo>
                  <a:pt x="32147" y="29100"/>
                </a:lnTo>
                <a:lnTo>
                  <a:pt x="32147" y="48220"/>
                </a:lnTo>
                <a:cubicBezTo>
                  <a:pt x="32147" y="71895"/>
                  <a:pt x="51335" y="91083"/>
                  <a:pt x="75009" y="91083"/>
                </a:cubicBezTo>
                <a:cubicBezTo>
                  <a:pt x="98684" y="91083"/>
                  <a:pt x="117872" y="71895"/>
                  <a:pt x="117872" y="48220"/>
                </a:cubicBezTo>
                <a:lnTo>
                  <a:pt x="117872" y="29100"/>
                </a:lnTo>
                <a:lnTo>
                  <a:pt x="143556" y="23976"/>
                </a:lnTo>
                <a:cubicBezTo>
                  <a:pt x="147306" y="23206"/>
                  <a:pt x="150019" y="19891"/>
                  <a:pt x="150019" y="16073"/>
                </a:cubicBezTo>
                <a:cubicBezTo>
                  <a:pt x="150019" y="12256"/>
                  <a:pt x="147306" y="8941"/>
                  <a:pt x="143556" y="8204"/>
                </a:cubicBezTo>
                <a:lnTo>
                  <a:pt x="80803" y="-4353"/>
                </a:lnTo>
                <a:close/>
                <a:moveTo>
                  <a:pt x="75009" y="75009"/>
                </a:moveTo>
                <a:cubicBezTo>
                  <a:pt x="60208" y="75009"/>
                  <a:pt x="48220" y="63021"/>
                  <a:pt x="48220" y="48220"/>
                </a:cubicBezTo>
                <a:lnTo>
                  <a:pt x="101798" y="48220"/>
                </a:lnTo>
                <a:cubicBezTo>
                  <a:pt x="101798" y="63021"/>
                  <a:pt x="89810" y="75009"/>
                  <a:pt x="75009" y="75009"/>
                </a:cubicBezTo>
                <a:close/>
                <a:moveTo>
                  <a:pt x="40217" y="107190"/>
                </a:moveTo>
                <a:cubicBezTo>
                  <a:pt x="19656" y="116633"/>
                  <a:pt x="5358" y="137394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66973" y="171450"/>
                </a:lnTo>
                <a:lnTo>
                  <a:pt x="66973" y="122560"/>
                </a:lnTo>
                <a:lnTo>
                  <a:pt x="47752" y="108161"/>
                </a:lnTo>
                <a:cubicBezTo>
                  <a:pt x="45575" y="106520"/>
                  <a:pt x="42662" y="106085"/>
                  <a:pt x="40184" y="107223"/>
                </a:cubicBezTo>
                <a:close/>
                <a:moveTo>
                  <a:pt x="83046" y="171450"/>
                </a:move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37394"/>
                  <a:pt x="130362" y="116633"/>
                  <a:pt x="109802" y="107223"/>
                </a:cubicBezTo>
                <a:cubicBezTo>
                  <a:pt x="107324" y="106085"/>
                  <a:pt x="104410" y="106520"/>
                  <a:pt x="102234" y="108161"/>
                </a:cubicBezTo>
                <a:lnTo>
                  <a:pt x="83013" y="122560"/>
                </a:lnTo>
                <a:lnTo>
                  <a:pt x="83013" y="17145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1" name="Text 8"/>
          <p:cNvSpPr/>
          <p:nvPr/>
        </p:nvSpPr>
        <p:spPr>
          <a:xfrm>
            <a:off x="709613" y="54864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9613" y="567690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Jet Saw Jun Jie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4097" y="61626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1"/>
          <p:cNvSpPr/>
          <p:nvPr/>
        </p:nvSpPr>
        <p:spPr>
          <a:xfrm>
            <a:off x="709613" y="6019800"/>
            <a:ext cx="990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ID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9613" y="6210300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1231303401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12681" y="56292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7" name="Text 14"/>
          <p:cNvSpPr/>
          <p:nvPr/>
        </p:nvSpPr>
        <p:spPr>
          <a:xfrm>
            <a:off x="6538913" y="548640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Supervisor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8913" y="567690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Dr. Tan Wooi Haw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34113" y="6162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0" name="Text 17"/>
          <p:cNvSpPr/>
          <p:nvPr/>
        </p:nvSpPr>
        <p:spPr>
          <a:xfrm>
            <a:off x="6538913" y="601980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spc="53" kern="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Faculty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38913" y="6210300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Artificial Intelligence and Engineering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 &amp; Motivation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40970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044" y="1733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6002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Advising Today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194310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advising is a critical support service in higher education, helping students understand programme structures, subject prerequisites, and graduation requirements.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067050"/>
            <a:ext cx="5581650" cy="1466850"/>
          </a:xfrm>
          <a:custGeom>
            <a:avLst/>
            <a:gdLst/>
            <a:ahLst/>
            <a:cxnLst/>
            <a:rect l="l" t="t" r="r" b="b"/>
            <a:pathLst>
              <a:path w="5581650" h="1466850">
                <a:moveTo>
                  <a:pt x="0" y="0"/>
                </a:moveTo>
                <a:lnTo>
                  <a:pt x="5505447" y="0"/>
                </a:lnTo>
                <a:cubicBezTo>
                  <a:pt x="5547505" y="0"/>
                  <a:pt x="5581650" y="34145"/>
                  <a:pt x="5581650" y="76203"/>
                </a:cubicBezTo>
                <a:lnTo>
                  <a:pt x="5581650" y="1390647"/>
                </a:lnTo>
                <a:cubicBezTo>
                  <a:pt x="5581650" y="1432705"/>
                  <a:pt x="5547505" y="1466850"/>
                  <a:pt x="5505447" y="1466850"/>
                </a:cubicBez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067050"/>
            <a:ext cx="38100" cy="1466850"/>
          </a:xfrm>
          <a:custGeom>
            <a:avLst/>
            <a:gdLst/>
            <a:ahLst/>
            <a:cxnLst/>
            <a:rect l="l" t="t" r="r" b="b"/>
            <a:pathLst>
              <a:path w="38100" h="1466850">
                <a:moveTo>
                  <a:pt x="0" y="0"/>
                </a:moveTo>
                <a:lnTo>
                  <a:pt x="38100" y="0"/>
                </a:lnTo>
                <a:lnTo>
                  <a:pt x="38100" y="1466850"/>
                </a:lnTo>
                <a:lnTo>
                  <a:pt x="0" y="1466850"/>
                </a:lnTo>
                <a:lnTo>
                  <a:pt x="0" y="0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257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6763" y="33909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44648" y="95250"/>
                </a:moveTo>
                <a:cubicBezTo>
                  <a:pt x="39700" y="95250"/>
                  <a:pt x="35719" y="99231"/>
                  <a:pt x="35719" y="104180"/>
                </a:cubicBezTo>
                <a:cubicBezTo>
                  <a:pt x="35719" y="109128"/>
                  <a:pt x="39700" y="113109"/>
                  <a:pt x="44648" y="113109"/>
                </a:cubicBezTo>
                <a:lnTo>
                  <a:pt x="98227" y="113109"/>
                </a:lnTo>
                <a:cubicBezTo>
                  <a:pt x="103175" y="113109"/>
                  <a:pt x="107156" y="109128"/>
                  <a:pt x="107156" y="104180"/>
                </a:cubicBezTo>
                <a:cubicBezTo>
                  <a:pt x="107156" y="99231"/>
                  <a:pt x="103175" y="95250"/>
                  <a:pt x="98227" y="95250"/>
                </a:cubicBezTo>
                <a:lnTo>
                  <a:pt x="44648" y="95250"/>
                </a:lnTo>
                <a:close/>
                <a:moveTo>
                  <a:pt x="44648" y="130969"/>
                </a:moveTo>
                <a:cubicBezTo>
                  <a:pt x="39700" y="130969"/>
                  <a:pt x="35719" y="134950"/>
                  <a:pt x="35719" y="139898"/>
                </a:cubicBezTo>
                <a:cubicBezTo>
                  <a:pt x="35719" y="144847"/>
                  <a:pt x="39700" y="148828"/>
                  <a:pt x="44648" y="148828"/>
                </a:cubicBezTo>
                <a:lnTo>
                  <a:pt x="98227" y="148828"/>
                </a:lnTo>
                <a:cubicBezTo>
                  <a:pt x="103175" y="148828"/>
                  <a:pt x="107156" y="144847"/>
                  <a:pt x="107156" y="139898"/>
                </a:cubicBezTo>
                <a:cubicBezTo>
                  <a:pt x="107156" y="134950"/>
                  <a:pt x="103175" y="130969"/>
                  <a:pt x="98227" y="130969"/>
                </a:cubicBezTo>
                <a:lnTo>
                  <a:pt x="44648" y="130969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325755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 Methods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19200" y="3600450"/>
            <a:ext cx="46482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Traditionally, advising relies on manual consultations and static documents such as handbooks and PDFs, creating bottlenecks during peak periods.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7244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7244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914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2950" y="5048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4914900"/>
            <a:ext cx="466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Challenges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5257800"/>
            <a:ext cx="464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During peak academic periods, advisors experience high workloads while students face delays in receiving accurate information.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3475" y="2268141"/>
            <a:ext cx="5597525" cy="3349625"/>
          </a:xfrm>
          <a:custGeom>
            <a:avLst/>
            <a:gdLst/>
            <a:ahLst/>
            <a:cxnLst/>
            <a:rect l="l" t="t" r="r" b="b"/>
            <a:pathLst>
              <a:path w="5597525" h="3349625">
                <a:moveTo>
                  <a:pt x="114289" y="0"/>
                </a:moveTo>
                <a:lnTo>
                  <a:pt x="5483236" y="0"/>
                </a:lnTo>
                <a:cubicBezTo>
                  <a:pt x="5546356" y="0"/>
                  <a:pt x="5597525" y="51169"/>
                  <a:pt x="5597525" y="114289"/>
                </a:cubicBezTo>
                <a:lnTo>
                  <a:pt x="5597525" y="3235336"/>
                </a:lnTo>
                <a:cubicBezTo>
                  <a:pt x="5597525" y="3298456"/>
                  <a:pt x="5546356" y="3349625"/>
                  <a:pt x="5483236" y="3349625"/>
                </a:cubicBezTo>
                <a:lnTo>
                  <a:pt x="114289" y="3349625"/>
                </a:lnTo>
                <a:cubicBezTo>
                  <a:pt x="51169" y="3349625"/>
                  <a:pt x="0" y="3298456"/>
                  <a:pt x="0" y="3235336"/>
                </a:cubicBezTo>
                <a:lnTo>
                  <a:pt x="0" y="114289"/>
                </a:lnTo>
                <a:cubicBezTo>
                  <a:pt x="0" y="51211"/>
                  <a:pt x="51211" y="0"/>
                  <a:pt x="11428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5250" y="2499916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5" name="Shape 23"/>
          <p:cNvSpPr/>
          <p:nvPr/>
        </p:nvSpPr>
        <p:spPr>
          <a:xfrm>
            <a:off x="6626225" y="2652316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7092950" y="2614216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5250" y="3223816"/>
            <a:ext cx="5219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Recent advances in artificial intelligence provide an opportunity to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automate routine academic advising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 maintaining accuracy and accessibility.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8425" y="4253310"/>
            <a:ext cx="5121275" cy="1130300"/>
          </a:xfrm>
          <a:custGeom>
            <a:avLst/>
            <a:gdLst/>
            <a:ahLst/>
            <a:cxnLst/>
            <a:rect l="l" t="t" r="r" b="b"/>
            <a:pathLst>
              <a:path w="5121275" h="1130300">
                <a:moveTo>
                  <a:pt x="76205" y="0"/>
                </a:moveTo>
                <a:lnTo>
                  <a:pt x="5045070" y="0"/>
                </a:lnTo>
                <a:cubicBezTo>
                  <a:pt x="5087157" y="0"/>
                  <a:pt x="5121275" y="34118"/>
                  <a:pt x="5121275" y="76205"/>
                </a:cubicBezTo>
                <a:lnTo>
                  <a:pt x="5121275" y="1054095"/>
                </a:lnTo>
                <a:cubicBezTo>
                  <a:pt x="5121275" y="1096182"/>
                  <a:pt x="5087157" y="1130300"/>
                  <a:pt x="5045070" y="1130300"/>
                </a:cubicBezTo>
                <a:lnTo>
                  <a:pt x="76205" y="1130300"/>
                </a:lnTo>
                <a:cubicBezTo>
                  <a:pt x="34118" y="1130300"/>
                  <a:pt x="0" y="1096182"/>
                  <a:pt x="0" y="10540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 w="8467">
            <a:solidFill>
              <a:srgbClr val="4DB6AC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2100" y="4446984"/>
            <a:ext cx="48101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proposes an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AI-based academic advising system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enables natural language and voice-based interaction, with responses grounded in official faculty documents.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518" y="379518"/>
            <a:ext cx="11499381" cy="189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6" b="1" spc="52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Goals &amp;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518" y="645180"/>
            <a:ext cx="11603748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9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518" y="1138553"/>
            <a:ext cx="910842" cy="37952"/>
          </a:xfrm>
          <a:custGeom>
            <a:avLst/>
            <a:gdLst/>
            <a:ahLst/>
            <a:cxnLst/>
            <a:rect l="l" t="t" r="r" b="b"/>
            <a:pathLst>
              <a:path w="910842" h="37952">
                <a:moveTo>
                  <a:pt x="0" y="0"/>
                </a:moveTo>
                <a:lnTo>
                  <a:pt x="910842" y="0"/>
                </a:lnTo>
                <a:lnTo>
                  <a:pt x="910842" y="37952"/>
                </a:lnTo>
                <a:lnTo>
                  <a:pt x="0" y="37952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2680" y="1407377"/>
            <a:ext cx="11429802" cy="2805267"/>
          </a:xfrm>
          <a:custGeom>
            <a:avLst/>
            <a:gdLst/>
            <a:ahLst/>
            <a:cxnLst/>
            <a:rect l="l" t="t" r="r" b="b"/>
            <a:pathLst>
              <a:path w="11429802" h="2805267">
                <a:moveTo>
                  <a:pt x="113866" y="0"/>
                </a:moveTo>
                <a:lnTo>
                  <a:pt x="11315937" y="0"/>
                </a:lnTo>
                <a:cubicBezTo>
                  <a:pt x="11378823" y="0"/>
                  <a:pt x="11429802" y="50979"/>
                  <a:pt x="11429802" y="113866"/>
                </a:cubicBezTo>
                <a:lnTo>
                  <a:pt x="11429802" y="2691401"/>
                </a:lnTo>
                <a:cubicBezTo>
                  <a:pt x="11429802" y="2754287"/>
                  <a:pt x="11378823" y="2805267"/>
                  <a:pt x="11315937" y="2805267"/>
                </a:cubicBezTo>
                <a:lnTo>
                  <a:pt x="113866" y="2805267"/>
                </a:lnTo>
                <a:cubicBezTo>
                  <a:pt x="50979" y="2805267"/>
                  <a:pt x="0" y="2754287"/>
                  <a:pt x="0" y="2691401"/>
                </a:cubicBezTo>
                <a:lnTo>
                  <a:pt x="0" y="113866"/>
                </a:lnTo>
                <a:cubicBezTo>
                  <a:pt x="0" y="51022"/>
                  <a:pt x="51022" y="0"/>
                  <a:pt x="11386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3553" y="1638251"/>
            <a:ext cx="531325" cy="531325"/>
          </a:xfrm>
          <a:custGeom>
            <a:avLst/>
            <a:gdLst/>
            <a:ahLst/>
            <a:cxnLst/>
            <a:rect l="l" t="t" r="r" b="b"/>
            <a:pathLst>
              <a:path w="531325" h="531325">
                <a:moveTo>
                  <a:pt x="265662" y="0"/>
                </a:moveTo>
                <a:lnTo>
                  <a:pt x="265662" y="0"/>
                </a:lnTo>
                <a:cubicBezTo>
                  <a:pt x="412285" y="0"/>
                  <a:pt x="531325" y="119039"/>
                  <a:pt x="531325" y="265662"/>
                </a:cubicBezTo>
                <a:lnTo>
                  <a:pt x="531325" y="265662"/>
                </a:lnTo>
                <a:cubicBezTo>
                  <a:pt x="531325" y="412285"/>
                  <a:pt x="412285" y="531325"/>
                  <a:pt x="265662" y="531325"/>
                </a:cubicBezTo>
                <a:lnTo>
                  <a:pt x="265662" y="531325"/>
                </a:lnTo>
                <a:cubicBezTo>
                  <a:pt x="119039" y="531325"/>
                  <a:pt x="0" y="412285"/>
                  <a:pt x="0" y="265662"/>
                </a:cubicBezTo>
                <a:lnTo>
                  <a:pt x="0" y="265662"/>
                </a:lnTo>
                <a:cubicBezTo>
                  <a:pt x="0" y="119039"/>
                  <a:pt x="119039" y="0"/>
                  <a:pt x="26566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765360" y="1790058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99247" y="113855"/>
                </a:moveTo>
                <a:cubicBezTo>
                  <a:pt x="199247" y="66726"/>
                  <a:pt x="160984" y="28464"/>
                  <a:pt x="113855" y="28464"/>
                </a:cubicBezTo>
                <a:cubicBezTo>
                  <a:pt x="66726" y="28464"/>
                  <a:pt x="28464" y="66726"/>
                  <a:pt x="28464" y="113855"/>
                </a:cubicBezTo>
                <a:cubicBezTo>
                  <a:pt x="28464" y="160984"/>
                  <a:pt x="66726" y="199247"/>
                  <a:pt x="113855" y="199247"/>
                </a:cubicBezTo>
                <a:cubicBezTo>
                  <a:pt x="160984" y="199247"/>
                  <a:pt x="199247" y="160984"/>
                  <a:pt x="199247" y="113855"/>
                </a:cubicBezTo>
                <a:close/>
                <a:moveTo>
                  <a:pt x="0" y="113855"/>
                </a:moveTo>
                <a:cubicBezTo>
                  <a:pt x="0" y="51017"/>
                  <a:pt x="51017" y="0"/>
                  <a:pt x="113855" y="0"/>
                </a:cubicBezTo>
                <a:cubicBezTo>
                  <a:pt x="176694" y="0"/>
                  <a:pt x="227711" y="51017"/>
                  <a:pt x="227711" y="113855"/>
                </a:cubicBezTo>
                <a:cubicBezTo>
                  <a:pt x="227711" y="176694"/>
                  <a:pt x="176694" y="227711"/>
                  <a:pt x="113855" y="227711"/>
                </a:cubicBezTo>
                <a:cubicBezTo>
                  <a:pt x="51017" y="227711"/>
                  <a:pt x="0" y="176694"/>
                  <a:pt x="0" y="113855"/>
                </a:cubicBezTo>
                <a:close/>
                <a:moveTo>
                  <a:pt x="113855" y="149435"/>
                </a:moveTo>
                <a:cubicBezTo>
                  <a:pt x="133492" y="149435"/>
                  <a:pt x="149435" y="133492"/>
                  <a:pt x="149435" y="113855"/>
                </a:cubicBezTo>
                <a:cubicBezTo>
                  <a:pt x="149435" y="94218"/>
                  <a:pt x="133492" y="78275"/>
                  <a:pt x="113855" y="78275"/>
                </a:cubicBezTo>
                <a:cubicBezTo>
                  <a:pt x="94218" y="78275"/>
                  <a:pt x="78275" y="94218"/>
                  <a:pt x="78275" y="113855"/>
                </a:cubicBezTo>
                <a:cubicBezTo>
                  <a:pt x="78275" y="133492"/>
                  <a:pt x="94218" y="149435"/>
                  <a:pt x="113855" y="149435"/>
                </a:cubicBezTo>
                <a:close/>
                <a:moveTo>
                  <a:pt x="113855" y="49812"/>
                </a:moveTo>
                <a:cubicBezTo>
                  <a:pt x="149202" y="49812"/>
                  <a:pt x="177899" y="78509"/>
                  <a:pt x="177899" y="113855"/>
                </a:cubicBezTo>
                <a:cubicBezTo>
                  <a:pt x="177899" y="149202"/>
                  <a:pt x="149202" y="177899"/>
                  <a:pt x="113855" y="177899"/>
                </a:cubicBezTo>
                <a:cubicBezTo>
                  <a:pt x="78509" y="177899"/>
                  <a:pt x="49812" y="149202"/>
                  <a:pt x="49812" y="113855"/>
                </a:cubicBezTo>
                <a:cubicBezTo>
                  <a:pt x="49812" y="78509"/>
                  <a:pt x="78509" y="49812"/>
                  <a:pt x="113855" y="49812"/>
                </a:cubicBezTo>
                <a:close/>
                <a:moveTo>
                  <a:pt x="99623" y="113855"/>
                </a:moveTo>
                <a:cubicBezTo>
                  <a:pt x="99623" y="106000"/>
                  <a:pt x="106000" y="99623"/>
                  <a:pt x="113855" y="99623"/>
                </a:cubicBezTo>
                <a:cubicBezTo>
                  <a:pt x="121710" y="99623"/>
                  <a:pt x="128087" y="106000"/>
                  <a:pt x="128087" y="113855"/>
                </a:cubicBezTo>
                <a:cubicBezTo>
                  <a:pt x="128087" y="121710"/>
                  <a:pt x="121710" y="128087"/>
                  <a:pt x="113855" y="128087"/>
                </a:cubicBezTo>
                <a:cubicBezTo>
                  <a:pt x="106000" y="128087"/>
                  <a:pt x="99623" y="121710"/>
                  <a:pt x="99623" y="11385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296685" y="1752107"/>
            <a:ext cx="2001955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Objectives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6716" y="2362497"/>
            <a:ext cx="3526350" cy="1619275"/>
          </a:xfrm>
          <a:custGeom>
            <a:avLst/>
            <a:gdLst/>
            <a:ahLst/>
            <a:cxnLst/>
            <a:rect l="l" t="t" r="r" b="b"/>
            <a:pathLst>
              <a:path w="3526350" h="1619275">
                <a:moveTo>
                  <a:pt x="75895" y="0"/>
                </a:moveTo>
                <a:lnTo>
                  <a:pt x="3450455" y="0"/>
                </a:lnTo>
                <a:cubicBezTo>
                  <a:pt x="3492371" y="0"/>
                  <a:pt x="3526350" y="33980"/>
                  <a:pt x="3526350" y="75895"/>
                </a:cubicBezTo>
                <a:lnTo>
                  <a:pt x="3526350" y="1543379"/>
                </a:lnTo>
                <a:cubicBezTo>
                  <a:pt x="3526350" y="1585295"/>
                  <a:pt x="3492371" y="1619275"/>
                  <a:pt x="3450455" y="1619275"/>
                </a:cubicBezTo>
                <a:lnTo>
                  <a:pt x="75895" y="1619275"/>
                </a:lnTo>
                <a:cubicBezTo>
                  <a:pt x="33980" y="1619275"/>
                  <a:pt x="0" y="1585295"/>
                  <a:pt x="0" y="1543379"/>
                </a:cubicBezTo>
                <a:lnTo>
                  <a:pt x="0" y="75895"/>
                </a:lnTo>
                <a:cubicBezTo>
                  <a:pt x="0" y="34008"/>
                  <a:pt x="34008" y="0"/>
                  <a:pt x="758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637" y="2555418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66942" y="2555418"/>
            <a:ext cx="464909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03010" y="2612346"/>
            <a:ext cx="1233432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 LLM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637" y="3048791"/>
            <a:ext cx="3216411" cy="74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 a Large Language Model using faculty and programme information for domain-specific accuracy.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5988" y="2362497"/>
            <a:ext cx="3526350" cy="1619275"/>
          </a:xfrm>
          <a:custGeom>
            <a:avLst/>
            <a:gdLst/>
            <a:ahLst/>
            <a:cxnLst/>
            <a:rect l="l" t="t" r="r" b="b"/>
            <a:pathLst>
              <a:path w="3526350" h="1619275">
                <a:moveTo>
                  <a:pt x="75895" y="0"/>
                </a:moveTo>
                <a:lnTo>
                  <a:pt x="3450455" y="0"/>
                </a:lnTo>
                <a:cubicBezTo>
                  <a:pt x="3492371" y="0"/>
                  <a:pt x="3526350" y="33980"/>
                  <a:pt x="3526350" y="75895"/>
                </a:cubicBezTo>
                <a:lnTo>
                  <a:pt x="3526350" y="1543379"/>
                </a:lnTo>
                <a:cubicBezTo>
                  <a:pt x="3526350" y="1585295"/>
                  <a:pt x="3492371" y="1619275"/>
                  <a:pt x="3450455" y="1619275"/>
                </a:cubicBezTo>
                <a:lnTo>
                  <a:pt x="75895" y="1619275"/>
                </a:lnTo>
                <a:cubicBezTo>
                  <a:pt x="33980" y="1619275"/>
                  <a:pt x="0" y="1585295"/>
                  <a:pt x="0" y="1543379"/>
                </a:cubicBezTo>
                <a:lnTo>
                  <a:pt x="0" y="75895"/>
                </a:lnTo>
                <a:cubicBezTo>
                  <a:pt x="0" y="34008"/>
                  <a:pt x="34008" y="0"/>
                  <a:pt x="758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8909" y="2555418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486213" y="2555418"/>
            <a:ext cx="464909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2282" y="2612346"/>
            <a:ext cx="1261896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RAG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8909" y="3048791"/>
            <a:ext cx="3216411" cy="740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a Retrieval-Augmented Generation pipeline to ensure factual accuracy in responses.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55259" y="2362497"/>
            <a:ext cx="3526350" cy="1619275"/>
          </a:xfrm>
          <a:custGeom>
            <a:avLst/>
            <a:gdLst/>
            <a:ahLst/>
            <a:cxnLst/>
            <a:rect l="l" t="t" r="r" b="b"/>
            <a:pathLst>
              <a:path w="3526350" h="1619275">
                <a:moveTo>
                  <a:pt x="75895" y="0"/>
                </a:moveTo>
                <a:lnTo>
                  <a:pt x="3450455" y="0"/>
                </a:lnTo>
                <a:cubicBezTo>
                  <a:pt x="3492371" y="0"/>
                  <a:pt x="3526350" y="33980"/>
                  <a:pt x="3526350" y="75895"/>
                </a:cubicBezTo>
                <a:lnTo>
                  <a:pt x="3526350" y="1543379"/>
                </a:lnTo>
                <a:cubicBezTo>
                  <a:pt x="3526350" y="1585295"/>
                  <a:pt x="3492371" y="1619275"/>
                  <a:pt x="3450455" y="1619275"/>
                </a:cubicBezTo>
                <a:lnTo>
                  <a:pt x="75895" y="1619275"/>
                </a:lnTo>
                <a:cubicBezTo>
                  <a:pt x="33980" y="1619275"/>
                  <a:pt x="0" y="1585295"/>
                  <a:pt x="0" y="1543379"/>
                </a:cubicBezTo>
                <a:lnTo>
                  <a:pt x="0" y="75895"/>
                </a:lnTo>
                <a:cubicBezTo>
                  <a:pt x="0" y="34008"/>
                  <a:pt x="34008" y="0"/>
                  <a:pt x="758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48181" y="2555418"/>
            <a:ext cx="379518" cy="379518"/>
          </a:xfrm>
          <a:custGeom>
            <a:avLst/>
            <a:gdLst/>
            <a:ahLst/>
            <a:cxnLst/>
            <a:rect l="l" t="t" r="r" b="b"/>
            <a:pathLst>
              <a:path w="379518" h="379518">
                <a:moveTo>
                  <a:pt x="75904" y="0"/>
                </a:moveTo>
                <a:lnTo>
                  <a:pt x="303614" y="0"/>
                </a:lnTo>
                <a:cubicBezTo>
                  <a:pt x="345506" y="0"/>
                  <a:pt x="379518" y="34011"/>
                  <a:pt x="379518" y="75904"/>
                </a:cubicBezTo>
                <a:lnTo>
                  <a:pt x="379518" y="303614"/>
                </a:lnTo>
                <a:cubicBezTo>
                  <a:pt x="379518" y="345506"/>
                  <a:pt x="345506" y="379518"/>
                  <a:pt x="303614" y="379518"/>
                </a:cubicBezTo>
                <a:lnTo>
                  <a:pt x="75904" y="379518"/>
                </a:lnTo>
                <a:cubicBezTo>
                  <a:pt x="34011" y="379518"/>
                  <a:pt x="0" y="345506"/>
                  <a:pt x="0" y="303614"/>
                </a:cubicBezTo>
                <a:lnTo>
                  <a:pt x="0" y="75904"/>
                </a:lnTo>
                <a:cubicBezTo>
                  <a:pt x="0" y="34011"/>
                  <a:pt x="34011" y="0"/>
                  <a:pt x="75904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05485" y="2555418"/>
            <a:ext cx="464909" cy="37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41554" y="2612346"/>
            <a:ext cx="1366263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Interaction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8181" y="3048791"/>
            <a:ext cx="3216411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 natural two-way voice interaction for accessible academic advising.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2680" y="4449844"/>
            <a:ext cx="11429802" cy="2406774"/>
          </a:xfrm>
          <a:custGeom>
            <a:avLst/>
            <a:gdLst/>
            <a:ahLst/>
            <a:cxnLst/>
            <a:rect l="l" t="t" r="r" b="b"/>
            <a:pathLst>
              <a:path w="11429802" h="2406774">
                <a:moveTo>
                  <a:pt x="113864" y="0"/>
                </a:moveTo>
                <a:lnTo>
                  <a:pt x="11315938" y="0"/>
                </a:lnTo>
                <a:cubicBezTo>
                  <a:pt x="11378823" y="0"/>
                  <a:pt x="11429802" y="50979"/>
                  <a:pt x="11429802" y="113864"/>
                </a:cubicBezTo>
                <a:lnTo>
                  <a:pt x="11429802" y="2292909"/>
                </a:lnTo>
                <a:cubicBezTo>
                  <a:pt x="11429802" y="2355795"/>
                  <a:pt x="11378823" y="2406774"/>
                  <a:pt x="11315938" y="2406774"/>
                </a:cubicBezTo>
                <a:lnTo>
                  <a:pt x="113864" y="2406774"/>
                </a:lnTo>
                <a:cubicBezTo>
                  <a:pt x="50979" y="2406774"/>
                  <a:pt x="0" y="2355795"/>
                  <a:pt x="0" y="2292909"/>
                </a:cubicBezTo>
                <a:lnTo>
                  <a:pt x="0" y="113864"/>
                </a:lnTo>
                <a:cubicBezTo>
                  <a:pt x="0" y="50979"/>
                  <a:pt x="50979" y="0"/>
                  <a:pt x="11386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FFD54F">
                  <a:alpha val="5000"/>
                </a:srgbClr>
              </a:gs>
            </a:gsLst>
            <a:lin ang="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3553" y="4680716"/>
            <a:ext cx="531325" cy="531325"/>
          </a:xfrm>
          <a:custGeom>
            <a:avLst/>
            <a:gdLst/>
            <a:ahLst/>
            <a:cxnLst/>
            <a:rect l="l" t="t" r="r" b="b"/>
            <a:pathLst>
              <a:path w="531325" h="531325">
                <a:moveTo>
                  <a:pt x="265662" y="0"/>
                </a:moveTo>
                <a:lnTo>
                  <a:pt x="265662" y="0"/>
                </a:lnTo>
                <a:cubicBezTo>
                  <a:pt x="412285" y="0"/>
                  <a:pt x="531325" y="119039"/>
                  <a:pt x="531325" y="265662"/>
                </a:cubicBezTo>
                <a:lnTo>
                  <a:pt x="531325" y="265662"/>
                </a:lnTo>
                <a:cubicBezTo>
                  <a:pt x="531325" y="412285"/>
                  <a:pt x="412285" y="531325"/>
                  <a:pt x="265662" y="531325"/>
                </a:cubicBezTo>
                <a:lnTo>
                  <a:pt x="265662" y="531325"/>
                </a:lnTo>
                <a:cubicBezTo>
                  <a:pt x="119039" y="531325"/>
                  <a:pt x="0" y="412285"/>
                  <a:pt x="0" y="265662"/>
                </a:cubicBezTo>
                <a:lnTo>
                  <a:pt x="0" y="265662"/>
                </a:lnTo>
                <a:cubicBezTo>
                  <a:pt x="0" y="119039"/>
                  <a:pt x="119039" y="0"/>
                  <a:pt x="265662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6" name="Shape 24"/>
          <p:cNvSpPr/>
          <p:nvPr/>
        </p:nvSpPr>
        <p:spPr>
          <a:xfrm>
            <a:off x="751128" y="4832525"/>
            <a:ext cx="256174" cy="227711"/>
          </a:xfrm>
          <a:custGeom>
            <a:avLst/>
            <a:gdLst/>
            <a:ahLst/>
            <a:cxnLst/>
            <a:rect l="l" t="t" r="r" b="b"/>
            <a:pathLst>
              <a:path w="256174" h="227711">
                <a:moveTo>
                  <a:pt x="137649" y="-8406"/>
                </a:moveTo>
                <a:cubicBezTo>
                  <a:pt x="135826" y="-11964"/>
                  <a:pt x="132134" y="-14232"/>
                  <a:pt x="128132" y="-14232"/>
                </a:cubicBezTo>
                <a:cubicBezTo>
                  <a:pt x="124129" y="-14232"/>
                  <a:pt x="120438" y="-11964"/>
                  <a:pt x="118614" y="-8406"/>
                </a:cubicBezTo>
                <a:lnTo>
                  <a:pt x="85881" y="55727"/>
                </a:lnTo>
                <a:lnTo>
                  <a:pt x="14766" y="67023"/>
                </a:lnTo>
                <a:cubicBezTo>
                  <a:pt x="10807" y="67646"/>
                  <a:pt x="7516" y="70448"/>
                  <a:pt x="6271" y="74273"/>
                </a:cubicBezTo>
                <a:cubicBezTo>
                  <a:pt x="5026" y="78098"/>
                  <a:pt x="6049" y="82278"/>
                  <a:pt x="8850" y="85125"/>
                </a:cubicBezTo>
                <a:lnTo>
                  <a:pt x="59730" y="136048"/>
                </a:lnTo>
                <a:lnTo>
                  <a:pt x="48522" y="207163"/>
                </a:lnTo>
                <a:cubicBezTo>
                  <a:pt x="47899" y="211121"/>
                  <a:pt x="49545" y="215124"/>
                  <a:pt x="52791" y="217481"/>
                </a:cubicBezTo>
                <a:cubicBezTo>
                  <a:pt x="56038" y="219838"/>
                  <a:pt x="60308" y="220194"/>
                  <a:pt x="63910" y="218371"/>
                </a:cubicBezTo>
                <a:lnTo>
                  <a:pt x="128132" y="185726"/>
                </a:lnTo>
                <a:lnTo>
                  <a:pt x="192309" y="218371"/>
                </a:lnTo>
                <a:cubicBezTo>
                  <a:pt x="195867" y="220194"/>
                  <a:pt x="200181" y="219838"/>
                  <a:pt x="203427" y="217481"/>
                </a:cubicBezTo>
                <a:cubicBezTo>
                  <a:pt x="206674" y="215124"/>
                  <a:pt x="208320" y="211166"/>
                  <a:pt x="207697" y="207163"/>
                </a:cubicBezTo>
                <a:lnTo>
                  <a:pt x="196445" y="136048"/>
                </a:lnTo>
                <a:lnTo>
                  <a:pt x="247324" y="85125"/>
                </a:lnTo>
                <a:cubicBezTo>
                  <a:pt x="250170" y="82278"/>
                  <a:pt x="251149" y="78098"/>
                  <a:pt x="249903" y="74273"/>
                </a:cubicBezTo>
                <a:cubicBezTo>
                  <a:pt x="248658" y="70448"/>
                  <a:pt x="245411" y="67646"/>
                  <a:pt x="241409" y="67023"/>
                </a:cubicBezTo>
                <a:lnTo>
                  <a:pt x="170338" y="55727"/>
                </a:lnTo>
                <a:lnTo>
                  <a:pt x="137649" y="-8406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7" name="Text 25"/>
          <p:cNvSpPr/>
          <p:nvPr/>
        </p:nvSpPr>
        <p:spPr>
          <a:xfrm>
            <a:off x="1296685" y="4794573"/>
            <a:ext cx="2305569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3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 Objectives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716" y="5404963"/>
            <a:ext cx="3526350" cy="1220781"/>
          </a:xfrm>
          <a:custGeom>
            <a:avLst/>
            <a:gdLst/>
            <a:ahLst/>
            <a:cxnLst/>
            <a:rect l="l" t="t" r="r" b="b"/>
            <a:pathLst>
              <a:path w="3526350" h="1220781">
                <a:moveTo>
                  <a:pt x="75908" y="0"/>
                </a:moveTo>
                <a:lnTo>
                  <a:pt x="3450442" y="0"/>
                </a:lnTo>
                <a:cubicBezTo>
                  <a:pt x="3492365" y="0"/>
                  <a:pt x="3526350" y="33985"/>
                  <a:pt x="3526350" y="75908"/>
                </a:cubicBezTo>
                <a:lnTo>
                  <a:pt x="3526350" y="1144873"/>
                </a:lnTo>
                <a:cubicBezTo>
                  <a:pt x="3526350" y="1186796"/>
                  <a:pt x="3492365" y="1220781"/>
                  <a:pt x="3450442" y="1220781"/>
                </a:cubicBezTo>
                <a:lnTo>
                  <a:pt x="75908" y="1220781"/>
                </a:lnTo>
                <a:cubicBezTo>
                  <a:pt x="34013" y="1220781"/>
                  <a:pt x="0" y="1186768"/>
                  <a:pt x="0" y="1144873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3869" y="5635835"/>
            <a:ext cx="256174" cy="227711"/>
          </a:xfrm>
          <a:custGeom>
            <a:avLst/>
            <a:gdLst/>
            <a:ahLst/>
            <a:cxnLst/>
            <a:rect l="l" t="t" r="r" b="b"/>
            <a:pathLst>
              <a:path w="256174" h="227711">
                <a:moveTo>
                  <a:pt x="99623" y="3558"/>
                </a:moveTo>
                <a:cubicBezTo>
                  <a:pt x="129079" y="3558"/>
                  <a:pt x="152993" y="27472"/>
                  <a:pt x="152993" y="56928"/>
                </a:cubicBezTo>
                <a:cubicBezTo>
                  <a:pt x="152993" y="86383"/>
                  <a:pt x="129079" y="110297"/>
                  <a:pt x="99623" y="110297"/>
                </a:cubicBezTo>
                <a:cubicBezTo>
                  <a:pt x="70168" y="110297"/>
                  <a:pt x="46254" y="86383"/>
                  <a:pt x="46254" y="56928"/>
                </a:cubicBezTo>
                <a:cubicBezTo>
                  <a:pt x="46254" y="27472"/>
                  <a:pt x="70168" y="3558"/>
                  <a:pt x="99623" y="3558"/>
                </a:cubicBezTo>
                <a:close/>
                <a:moveTo>
                  <a:pt x="86414" y="135203"/>
                </a:moveTo>
                <a:lnTo>
                  <a:pt x="112832" y="135203"/>
                </a:lnTo>
                <a:cubicBezTo>
                  <a:pt x="114567" y="135203"/>
                  <a:pt x="116346" y="135248"/>
                  <a:pt x="118080" y="135381"/>
                </a:cubicBezTo>
                <a:cubicBezTo>
                  <a:pt x="110875" y="147923"/>
                  <a:pt x="106739" y="162422"/>
                  <a:pt x="106739" y="177899"/>
                </a:cubicBezTo>
                <a:cubicBezTo>
                  <a:pt x="106739" y="196489"/>
                  <a:pt x="112699" y="213701"/>
                  <a:pt x="122750" y="227711"/>
                </a:cubicBezTo>
                <a:lnTo>
                  <a:pt x="20325" y="227711"/>
                </a:lnTo>
                <a:cubicBezTo>
                  <a:pt x="13031" y="227711"/>
                  <a:pt x="7116" y="221795"/>
                  <a:pt x="7116" y="214502"/>
                </a:cubicBezTo>
                <a:cubicBezTo>
                  <a:pt x="7116" y="170694"/>
                  <a:pt x="42607" y="135203"/>
                  <a:pt x="86414" y="135203"/>
                </a:cubicBezTo>
                <a:close/>
                <a:moveTo>
                  <a:pt x="128087" y="177899"/>
                </a:moveTo>
                <a:cubicBezTo>
                  <a:pt x="128087" y="142552"/>
                  <a:pt x="156784" y="113855"/>
                  <a:pt x="192131" y="113855"/>
                </a:cubicBezTo>
                <a:cubicBezTo>
                  <a:pt x="227477" y="113855"/>
                  <a:pt x="256174" y="142552"/>
                  <a:pt x="256174" y="177899"/>
                </a:cubicBezTo>
                <a:cubicBezTo>
                  <a:pt x="256174" y="213245"/>
                  <a:pt x="227477" y="241942"/>
                  <a:pt x="192131" y="241942"/>
                </a:cubicBezTo>
                <a:cubicBezTo>
                  <a:pt x="156784" y="241942"/>
                  <a:pt x="128087" y="213245"/>
                  <a:pt x="128087" y="177899"/>
                </a:cubicBezTo>
                <a:close/>
                <a:moveTo>
                  <a:pt x="192131" y="142319"/>
                </a:moveTo>
                <a:cubicBezTo>
                  <a:pt x="188217" y="142319"/>
                  <a:pt x="185015" y="145521"/>
                  <a:pt x="185015" y="149435"/>
                </a:cubicBezTo>
                <a:lnTo>
                  <a:pt x="185015" y="177899"/>
                </a:lnTo>
                <a:cubicBezTo>
                  <a:pt x="185015" y="181813"/>
                  <a:pt x="188217" y="185015"/>
                  <a:pt x="192131" y="185015"/>
                </a:cubicBezTo>
                <a:lnTo>
                  <a:pt x="213479" y="185015"/>
                </a:lnTo>
                <a:cubicBezTo>
                  <a:pt x="217392" y="185015"/>
                  <a:pt x="220595" y="181813"/>
                  <a:pt x="220595" y="177899"/>
                </a:cubicBezTo>
                <a:cubicBezTo>
                  <a:pt x="220595" y="173985"/>
                  <a:pt x="217392" y="170783"/>
                  <a:pt x="213479" y="170783"/>
                </a:cubicBezTo>
                <a:lnTo>
                  <a:pt x="199247" y="170783"/>
                </a:lnTo>
                <a:lnTo>
                  <a:pt x="199247" y="149435"/>
                </a:lnTo>
                <a:cubicBezTo>
                  <a:pt x="199247" y="145521"/>
                  <a:pt x="196045" y="142319"/>
                  <a:pt x="192131" y="14231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0" name="Text 28"/>
          <p:cNvSpPr/>
          <p:nvPr/>
        </p:nvSpPr>
        <p:spPr>
          <a:xfrm>
            <a:off x="1246083" y="5597883"/>
            <a:ext cx="2789454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Workload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46083" y="5939449"/>
            <a:ext cx="2779966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academic staff workload by automating routine inquiries.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35988" y="5404963"/>
            <a:ext cx="3526350" cy="1220781"/>
          </a:xfrm>
          <a:custGeom>
            <a:avLst/>
            <a:gdLst/>
            <a:ahLst/>
            <a:cxnLst/>
            <a:rect l="l" t="t" r="r" b="b"/>
            <a:pathLst>
              <a:path w="3526350" h="1220781">
                <a:moveTo>
                  <a:pt x="75908" y="0"/>
                </a:moveTo>
                <a:lnTo>
                  <a:pt x="3450442" y="0"/>
                </a:lnTo>
                <a:cubicBezTo>
                  <a:pt x="3492365" y="0"/>
                  <a:pt x="3526350" y="33985"/>
                  <a:pt x="3526350" y="75908"/>
                </a:cubicBezTo>
                <a:lnTo>
                  <a:pt x="3526350" y="1144873"/>
                </a:lnTo>
                <a:cubicBezTo>
                  <a:pt x="3526350" y="1186796"/>
                  <a:pt x="3492365" y="1220781"/>
                  <a:pt x="3450442" y="1220781"/>
                </a:cubicBezTo>
                <a:lnTo>
                  <a:pt x="75908" y="1220781"/>
                </a:lnTo>
                <a:cubicBezTo>
                  <a:pt x="34013" y="1220781"/>
                  <a:pt x="0" y="1186768"/>
                  <a:pt x="0" y="1144873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7373" y="5635835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0" y="113855"/>
                </a:moveTo>
                <a:cubicBezTo>
                  <a:pt x="0" y="51017"/>
                  <a:pt x="51017" y="0"/>
                  <a:pt x="113855" y="0"/>
                </a:cubicBezTo>
                <a:cubicBezTo>
                  <a:pt x="176694" y="0"/>
                  <a:pt x="227711" y="51017"/>
                  <a:pt x="227711" y="113855"/>
                </a:cubicBezTo>
                <a:cubicBezTo>
                  <a:pt x="227711" y="176694"/>
                  <a:pt x="176694" y="227711"/>
                  <a:pt x="113855" y="227711"/>
                </a:cubicBezTo>
                <a:cubicBezTo>
                  <a:pt x="51017" y="227711"/>
                  <a:pt x="0" y="176694"/>
                  <a:pt x="0" y="113855"/>
                </a:cubicBezTo>
                <a:close/>
                <a:moveTo>
                  <a:pt x="128087" y="42696"/>
                </a:moveTo>
                <a:cubicBezTo>
                  <a:pt x="128087" y="34841"/>
                  <a:pt x="121710" y="28464"/>
                  <a:pt x="113855" y="28464"/>
                </a:cubicBezTo>
                <a:cubicBezTo>
                  <a:pt x="106000" y="28464"/>
                  <a:pt x="99623" y="34841"/>
                  <a:pt x="99623" y="42696"/>
                </a:cubicBezTo>
                <a:cubicBezTo>
                  <a:pt x="99623" y="50551"/>
                  <a:pt x="106000" y="56928"/>
                  <a:pt x="113855" y="56928"/>
                </a:cubicBezTo>
                <a:cubicBezTo>
                  <a:pt x="121710" y="56928"/>
                  <a:pt x="128087" y="50551"/>
                  <a:pt x="128087" y="42696"/>
                </a:cubicBezTo>
                <a:close/>
                <a:moveTo>
                  <a:pt x="113855" y="185015"/>
                </a:moveTo>
                <a:cubicBezTo>
                  <a:pt x="129555" y="185015"/>
                  <a:pt x="142319" y="172251"/>
                  <a:pt x="142319" y="156551"/>
                </a:cubicBezTo>
                <a:cubicBezTo>
                  <a:pt x="142319" y="149346"/>
                  <a:pt x="139651" y="142719"/>
                  <a:pt x="135203" y="137738"/>
                </a:cubicBezTo>
                <a:lnTo>
                  <a:pt x="166113" y="75963"/>
                </a:lnTo>
                <a:cubicBezTo>
                  <a:pt x="168737" y="70670"/>
                  <a:pt x="166602" y="64266"/>
                  <a:pt x="161354" y="61642"/>
                </a:cubicBezTo>
                <a:cubicBezTo>
                  <a:pt x="156106" y="59018"/>
                  <a:pt x="149657" y="61153"/>
                  <a:pt x="147033" y="66401"/>
                </a:cubicBezTo>
                <a:lnTo>
                  <a:pt x="116123" y="128176"/>
                </a:lnTo>
                <a:cubicBezTo>
                  <a:pt x="115367" y="128132"/>
                  <a:pt x="114611" y="128087"/>
                  <a:pt x="113855" y="128087"/>
                </a:cubicBezTo>
                <a:cubicBezTo>
                  <a:pt x="98156" y="128087"/>
                  <a:pt x="85391" y="140851"/>
                  <a:pt x="85391" y="156551"/>
                </a:cubicBezTo>
                <a:cubicBezTo>
                  <a:pt x="85391" y="172251"/>
                  <a:pt x="98156" y="185015"/>
                  <a:pt x="113855" y="185015"/>
                </a:cubicBezTo>
                <a:close/>
                <a:moveTo>
                  <a:pt x="78275" y="64044"/>
                </a:moveTo>
                <a:cubicBezTo>
                  <a:pt x="78275" y="56189"/>
                  <a:pt x="71898" y="49812"/>
                  <a:pt x="64044" y="49812"/>
                </a:cubicBezTo>
                <a:cubicBezTo>
                  <a:pt x="56189" y="49812"/>
                  <a:pt x="49812" y="56189"/>
                  <a:pt x="49812" y="64044"/>
                </a:cubicBezTo>
                <a:cubicBezTo>
                  <a:pt x="49812" y="71898"/>
                  <a:pt x="56189" y="78275"/>
                  <a:pt x="64044" y="78275"/>
                </a:cubicBezTo>
                <a:cubicBezTo>
                  <a:pt x="71898" y="78275"/>
                  <a:pt x="78275" y="71898"/>
                  <a:pt x="78275" y="64044"/>
                </a:cubicBezTo>
                <a:close/>
                <a:moveTo>
                  <a:pt x="42696" y="128087"/>
                </a:moveTo>
                <a:cubicBezTo>
                  <a:pt x="50551" y="128087"/>
                  <a:pt x="56928" y="121710"/>
                  <a:pt x="56928" y="113855"/>
                </a:cubicBezTo>
                <a:cubicBezTo>
                  <a:pt x="56928" y="106000"/>
                  <a:pt x="50551" y="99623"/>
                  <a:pt x="42696" y="99623"/>
                </a:cubicBezTo>
                <a:cubicBezTo>
                  <a:pt x="34841" y="99623"/>
                  <a:pt x="28464" y="106000"/>
                  <a:pt x="28464" y="113855"/>
                </a:cubicBezTo>
                <a:cubicBezTo>
                  <a:pt x="28464" y="121710"/>
                  <a:pt x="34841" y="128087"/>
                  <a:pt x="42696" y="128087"/>
                </a:cubicBezTo>
                <a:close/>
                <a:moveTo>
                  <a:pt x="199247" y="113855"/>
                </a:moveTo>
                <a:cubicBezTo>
                  <a:pt x="199247" y="106000"/>
                  <a:pt x="192870" y="99623"/>
                  <a:pt x="185015" y="99623"/>
                </a:cubicBezTo>
                <a:cubicBezTo>
                  <a:pt x="177160" y="99623"/>
                  <a:pt x="170783" y="106000"/>
                  <a:pt x="170783" y="113855"/>
                </a:cubicBezTo>
                <a:cubicBezTo>
                  <a:pt x="170783" y="121710"/>
                  <a:pt x="177160" y="128087"/>
                  <a:pt x="185015" y="128087"/>
                </a:cubicBezTo>
                <a:cubicBezTo>
                  <a:pt x="192870" y="128087"/>
                  <a:pt x="199247" y="121710"/>
                  <a:pt x="199247" y="113855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4" name="Text 32"/>
          <p:cNvSpPr/>
          <p:nvPr/>
        </p:nvSpPr>
        <p:spPr>
          <a:xfrm>
            <a:off x="4965354" y="5597883"/>
            <a:ext cx="2789454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Response Time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65354" y="5939449"/>
            <a:ext cx="2779966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response time for students seeking academic guidance.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55259" y="5404963"/>
            <a:ext cx="3526350" cy="1220781"/>
          </a:xfrm>
          <a:custGeom>
            <a:avLst/>
            <a:gdLst/>
            <a:ahLst/>
            <a:cxnLst/>
            <a:rect l="l" t="t" r="r" b="b"/>
            <a:pathLst>
              <a:path w="3526350" h="1220781">
                <a:moveTo>
                  <a:pt x="75908" y="0"/>
                </a:moveTo>
                <a:lnTo>
                  <a:pt x="3450442" y="0"/>
                </a:lnTo>
                <a:cubicBezTo>
                  <a:pt x="3492365" y="0"/>
                  <a:pt x="3526350" y="33985"/>
                  <a:pt x="3526350" y="75908"/>
                </a:cubicBezTo>
                <a:lnTo>
                  <a:pt x="3526350" y="1144873"/>
                </a:lnTo>
                <a:cubicBezTo>
                  <a:pt x="3526350" y="1186796"/>
                  <a:pt x="3492365" y="1220781"/>
                  <a:pt x="3450442" y="1220781"/>
                </a:cubicBezTo>
                <a:lnTo>
                  <a:pt x="75908" y="1220781"/>
                </a:lnTo>
                <a:cubicBezTo>
                  <a:pt x="34013" y="1220781"/>
                  <a:pt x="0" y="1186768"/>
                  <a:pt x="0" y="1144873"/>
                </a:cubicBezTo>
                <a:lnTo>
                  <a:pt x="0" y="75908"/>
                </a:lnTo>
                <a:cubicBezTo>
                  <a:pt x="0" y="34013"/>
                  <a:pt x="34013" y="0"/>
                  <a:pt x="7590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6645" y="5635835"/>
            <a:ext cx="227711" cy="227711"/>
          </a:xfrm>
          <a:custGeom>
            <a:avLst/>
            <a:gdLst/>
            <a:ahLst/>
            <a:cxnLst/>
            <a:rect l="l" t="t" r="r" b="b"/>
            <a:pathLst>
              <a:path w="227711" h="227711">
                <a:moveTo>
                  <a:pt x="113855" y="227711"/>
                </a:moveTo>
                <a:cubicBezTo>
                  <a:pt x="176694" y="227711"/>
                  <a:pt x="227711" y="176694"/>
                  <a:pt x="227711" y="113855"/>
                </a:cubicBezTo>
                <a:cubicBezTo>
                  <a:pt x="227711" y="51017"/>
                  <a:pt x="176694" y="0"/>
                  <a:pt x="113855" y="0"/>
                </a:cubicBezTo>
                <a:cubicBezTo>
                  <a:pt x="51017" y="0"/>
                  <a:pt x="0" y="51017"/>
                  <a:pt x="0" y="113855"/>
                </a:cubicBezTo>
                <a:cubicBezTo>
                  <a:pt x="0" y="176694"/>
                  <a:pt x="51017" y="227711"/>
                  <a:pt x="113855" y="227711"/>
                </a:cubicBezTo>
                <a:close/>
                <a:moveTo>
                  <a:pt x="73561" y="143164"/>
                </a:moveTo>
                <a:cubicBezTo>
                  <a:pt x="82634" y="155617"/>
                  <a:pt x="97311" y="163667"/>
                  <a:pt x="113855" y="163667"/>
                </a:cubicBezTo>
                <a:cubicBezTo>
                  <a:pt x="130400" y="163667"/>
                  <a:pt x="145076" y="155617"/>
                  <a:pt x="154149" y="143164"/>
                </a:cubicBezTo>
                <a:cubicBezTo>
                  <a:pt x="157618" y="138405"/>
                  <a:pt x="164290" y="137338"/>
                  <a:pt x="169048" y="140807"/>
                </a:cubicBezTo>
                <a:cubicBezTo>
                  <a:pt x="173807" y="144276"/>
                  <a:pt x="174875" y="150947"/>
                  <a:pt x="171406" y="155706"/>
                </a:cubicBezTo>
                <a:cubicBezTo>
                  <a:pt x="158463" y="173451"/>
                  <a:pt x="137516" y="185015"/>
                  <a:pt x="113855" y="185015"/>
                </a:cubicBezTo>
                <a:cubicBezTo>
                  <a:pt x="90195" y="185015"/>
                  <a:pt x="69247" y="173451"/>
                  <a:pt x="56305" y="155706"/>
                </a:cubicBezTo>
                <a:cubicBezTo>
                  <a:pt x="52836" y="150947"/>
                  <a:pt x="53903" y="144276"/>
                  <a:pt x="58662" y="140807"/>
                </a:cubicBezTo>
                <a:cubicBezTo>
                  <a:pt x="63421" y="137338"/>
                  <a:pt x="70092" y="138405"/>
                  <a:pt x="73561" y="143164"/>
                </a:cubicBezTo>
                <a:close/>
                <a:moveTo>
                  <a:pt x="64044" y="92507"/>
                </a:moveTo>
                <a:cubicBezTo>
                  <a:pt x="64044" y="84653"/>
                  <a:pt x="70421" y="78275"/>
                  <a:pt x="78275" y="78275"/>
                </a:cubicBezTo>
                <a:cubicBezTo>
                  <a:pt x="86130" y="78275"/>
                  <a:pt x="92507" y="84653"/>
                  <a:pt x="92507" y="92507"/>
                </a:cubicBezTo>
                <a:cubicBezTo>
                  <a:pt x="92507" y="100362"/>
                  <a:pt x="86130" y="106739"/>
                  <a:pt x="78275" y="106739"/>
                </a:cubicBezTo>
                <a:cubicBezTo>
                  <a:pt x="70421" y="106739"/>
                  <a:pt x="64044" y="100362"/>
                  <a:pt x="64044" y="92507"/>
                </a:cubicBezTo>
                <a:close/>
                <a:moveTo>
                  <a:pt x="149435" y="78275"/>
                </a:moveTo>
                <a:cubicBezTo>
                  <a:pt x="157290" y="78275"/>
                  <a:pt x="163667" y="84653"/>
                  <a:pt x="163667" y="92507"/>
                </a:cubicBezTo>
                <a:cubicBezTo>
                  <a:pt x="163667" y="100362"/>
                  <a:pt x="157290" y="106739"/>
                  <a:pt x="149435" y="106739"/>
                </a:cubicBezTo>
                <a:cubicBezTo>
                  <a:pt x="141580" y="106739"/>
                  <a:pt x="135203" y="100362"/>
                  <a:pt x="135203" y="92507"/>
                </a:cubicBezTo>
                <a:cubicBezTo>
                  <a:pt x="135203" y="84653"/>
                  <a:pt x="141580" y="78275"/>
                  <a:pt x="149435" y="78275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8" name="Text 36"/>
          <p:cNvSpPr/>
          <p:nvPr/>
        </p:nvSpPr>
        <p:spPr>
          <a:xfrm>
            <a:off x="8684626" y="5597883"/>
            <a:ext cx="2789454" cy="265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Engagement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84626" y="5939449"/>
            <a:ext cx="2779966" cy="4933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5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user engagement using an AI avatar interface.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175" y="1336675"/>
            <a:ext cx="5635625" cy="4244975"/>
          </a:xfrm>
          <a:custGeom>
            <a:avLst/>
            <a:gdLst/>
            <a:ahLst/>
            <a:cxnLst/>
            <a:rect l="l" t="t" r="r" b="b"/>
            <a:pathLst>
              <a:path w="5635625" h="4244975">
                <a:moveTo>
                  <a:pt x="114317" y="0"/>
                </a:moveTo>
                <a:lnTo>
                  <a:pt x="5521308" y="0"/>
                </a:lnTo>
                <a:cubicBezTo>
                  <a:pt x="5584443" y="0"/>
                  <a:pt x="5635625" y="51182"/>
                  <a:pt x="5635625" y="114317"/>
                </a:cubicBezTo>
                <a:lnTo>
                  <a:pt x="5635625" y="4130658"/>
                </a:lnTo>
                <a:cubicBezTo>
                  <a:pt x="5635625" y="4193793"/>
                  <a:pt x="5584443" y="4244975"/>
                  <a:pt x="5521308" y="4244975"/>
                </a:cubicBezTo>
                <a:lnTo>
                  <a:pt x="114317" y="4244975"/>
                </a:lnTo>
                <a:cubicBezTo>
                  <a:pt x="51182" y="4244975"/>
                  <a:pt x="0" y="4193793"/>
                  <a:pt x="0" y="4130658"/>
                </a:cubicBezTo>
                <a:lnTo>
                  <a:pt x="0" y="114317"/>
                </a:lnTo>
                <a:cubicBezTo>
                  <a:pt x="0" y="51182"/>
                  <a:pt x="51182" y="0"/>
                  <a:pt x="11431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750" y="15113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730250" y="1606551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1250" y="1492251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1250" y="1758951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HIVE Academic Chatbot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" y="2101851"/>
            <a:ext cx="5305425" cy="990600"/>
          </a:xfrm>
          <a:custGeom>
            <a:avLst/>
            <a:gdLst/>
            <a:ahLst/>
            <a:cxnLst/>
            <a:rect l="l" t="t" r="r" b="b"/>
            <a:pathLst>
              <a:path w="5305425" h="990600">
                <a:moveTo>
                  <a:pt x="38100" y="0"/>
                </a:moveTo>
                <a:lnTo>
                  <a:pt x="5229228" y="0"/>
                </a:lnTo>
                <a:cubicBezTo>
                  <a:pt x="5271310" y="0"/>
                  <a:pt x="5305425" y="34115"/>
                  <a:pt x="5305425" y="76197"/>
                </a:cubicBezTo>
                <a:lnTo>
                  <a:pt x="5305425" y="914403"/>
                </a:lnTo>
                <a:cubicBezTo>
                  <a:pt x="5305425" y="956485"/>
                  <a:pt x="5271310" y="990600"/>
                  <a:pt x="52292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8800" y="2101851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5963" y="224472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763" y="2216151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Intelligence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2150" y="2482851"/>
            <a:ext cx="5133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Large Language Model optimized for academic domain knowledge.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" y="3168651"/>
            <a:ext cx="5305425" cy="990600"/>
          </a:xfrm>
          <a:custGeom>
            <a:avLst/>
            <a:gdLst/>
            <a:ahLst/>
            <a:cxnLst/>
            <a:rect l="l" t="t" r="r" b="b"/>
            <a:pathLst>
              <a:path w="5305425" h="990600">
                <a:moveTo>
                  <a:pt x="38100" y="0"/>
                </a:moveTo>
                <a:lnTo>
                  <a:pt x="5229228" y="0"/>
                </a:lnTo>
                <a:cubicBezTo>
                  <a:pt x="5271310" y="0"/>
                  <a:pt x="5305425" y="34115"/>
                  <a:pt x="5305425" y="76197"/>
                </a:cubicBezTo>
                <a:lnTo>
                  <a:pt x="5305425" y="914403"/>
                </a:lnTo>
                <a:cubicBezTo>
                  <a:pt x="5305425" y="956485"/>
                  <a:pt x="5271310" y="990600"/>
                  <a:pt x="5229228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8800" y="3168651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5963" y="331152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Text 16"/>
          <p:cNvSpPr/>
          <p:nvPr/>
        </p:nvSpPr>
        <p:spPr>
          <a:xfrm>
            <a:off x="1020763" y="3282951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2150" y="3549651"/>
            <a:ext cx="51339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Document-grounded responses ensuring factual accuracy from official sources.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2925" y="5038726"/>
            <a:ext cx="5311775" cy="387350"/>
          </a:xfrm>
          <a:custGeom>
            <a:avLst/>
            <a:gdLst/>
            <a:ahLst/>
            <a:cxnLst/>
            <a:rect l="l" t="t" r="r" b="b"/>
            <a:pathLst>
              <a:path w="5311775" h="387350">
                <a:moveTo>
                  <a:pt x="76199" y="0"/>
                </a:moveTo>
                <a:lnTo>
                  <a:pt x="5235576" y="0"/>
                </a:lnTo>
                <a:cubicBezTo>
                  <a:pt x="5277659" y="0"/>
                  <a:pt x="5311775" y="34116"/>
                  <a:pt x="5311775" y="76199"/>
                </a:cubicBezTo>
                <a:lnTo>
                  <a:pt x="5311775" y="311151"/>
                </a:lnTo>
                <a:cubicBezTo>
                  <a:pt x="5311775" y="353234"/>
                  <a:pt x="5277659" y="387350"/>
                  <a:pt x="523557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33129" y="51498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831850" y="5118099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Semester 1: Week 3-13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5375" y="1336675"/>
            <a:ext cx="5635625" cy="4244975"/>
          </a:xfrm>
          <a:custGeom>
            <a:avLst/>
            <a:gdLst/>
            <a:ahLst/>
            <a:cxnLst/>
            <a:rect l="l" t="t" r="r" b="b"/>
            <a:pathLst>
              <a:path w="5635625" h="4244975">
                <a:moveTo>
                  <a:pt x="114317" y="0"/>
                </a:moveTo>
                <a:lnTo>
                  <a:pt x="5521308" y="0"/>
                </a:lnTo>
                <a:cubicBezTo>
                  <a:pt x="5584443" y="0"/>
                  <a:pt x="5635625" y="51182"/>
                  <a:pt x="5635625" y="114317"/>
                </a:cubicBezTo>
                <a:lnTo>
                  <a:pt x="5635625" y="4130658"/>
                </a:lnTo>
                <a:cubicBezTo>
                  <a:pt x="5635625" y="4193793"/>
                  <a:pt x="5584443" y="4244975"/>
                  <a:pt x="5521308" y="4244975"/>
                </a:cubicBezTo>
                <a:lnTo>
                  <a:pt x="114317" y="4244975"/>
                </a:lnTo>
                <a:cubicBezTo>
                  <a:pt x="51182" y="4244975"/>
                  <a:pt x="0" y="4193793"/>
                  <a:pt x="0" y="4130658"/>
                </a:cubicBezTo>
                <a:lnTo>
                  <a:pt x="0" y="114317"/>
                </a:lnTo>
                <a:cubicBezTo>
                  <a:pt x="0" y="51182"/>
                  <a:pt x="51182" y="0"/>
                  <a:pt x="11431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0950" y="15113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04186" y="1606551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02450" y="1492251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02450" y="1758951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Avatar Development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50000" y="2101851"/>
            <a:ext cx="5305425" cy="742950"/>
          </a:xfrm>
          <a:custGeom>
            <a:avLst/>
            <a:gdLst/>
            <a:ahLst/>
            <a:cxnLst/>
            <a:rect l="l" t="t" r="r" b="b"/>
            <a:pathLst>
              <a:path w="5305425" h="742950">
                <a:moveTo>
                  <a:pt x="38100" y="0"/>
                </a:moveTo>
                <a:lnTo>
                  <a:pt x="5229228" y="0"/>
                </a:lnTo>
                <a:cubicBezTo>
                  <a:pt x="5271310" y="0"/>
                  <a:pt x="5305425" y="34115"/>
                  <a:pt x="5305425" y="76197"/>
                </a:cubicBezTo>
                <a:lnTo>
                  <a:pt x="5305425" y="666753"/>
                </a:lnTo>
                <a:cubicBezTo>
                  <a:pt x="5305425" y="708835"/>
                  <a:pt x="5271310" y="742950"/>
                  <a:pt x="5229228" y="742950"/>
                </a:cubicBez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50000" y="2101851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3810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0" name="Shape 28"/>
          <p:cNvSpPr/>
          <p:nvPr/>
        </p:nvSpPr>
        <p:spPr>
          <a:xfrm>
            <a:off x="6507163" y="224472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5110" y="-837"/>
                </a:moveTo>
                <a:cubicBezTo>
                  <a:pt x="81740" y="-4655"/>
                  <a:pt x="89911" y="-4655"/>
                  <a:pt x="96541" y="-837"/>
                </a:cubicBezTo>
                <a:lnTo>
                  <a:pt x="155444" y="33151"/>
                </a:lnTo>
                <a:cubicBezTo>
                  <a:pt x="162074" y="36969"/>
                  <a:pt x="166159" y="44068"/>
                  <a:pt x="166159" y="51703"/>
                </a:cubicBezTo>
                <a:lnTo>
                  <a:pt x="166159" y="119680"/>
                </a:lnTo>
                <a:cubicBezTo>
                  <a:pt x="166159" y="127349"/>
                  <a:pt x="162074" y="134414"/>
                  <a:pt x="155444" y="138232"/>
                </a:cubicBezTo>
                <a:lnTo>
                  <a:pt x="96541" y="172287"/>
                </a:lnTo>
                <a:cubicBezTo>
                  <a:pt x="89911" y="176105"/>
                  <a:pt x="81740" y="176105"/>
                  <a:pt x="75110" y="172287"/>
                </a:cubicBezTo>
                <a:lnTo>
                  <a:pt x="16241" y="138299"/>
                </a:lnTo>
                <a:cubicBezTo>
                  <a:pt x="9611" y="134481"/>
                  <a:pt x="5525" y="127382"/>
                  <a:pt x="5525" y="119747"/>
                </a:cubicBezTo>
                <a:lnTo>
                  <a:pt x="5525" y="51770"/>
                </a:lnTo>
                <a:cubicBezTo>
                  <a:pt x="5525" y="44101"/>
                  <a:pt x="9611" y="37036"/>
                  <a:pt x="16241" y="33218"/>
                </a:cubicBezTo>
                <a:lnTo>
                  <a:pt x="75110" y="-837"/>
                </a:lnTo>
                <a:close/>
                <a:moveTo>
                  <a:pt x="144694" y="119714"/>
                </a:moveTo>
                <a:lnTo>
                  <a:pt x="144694" y="64093"/>
                </a:lnTo>
                <a:lnTo>
                  <a:pt x="96541" y="91886"/>
                </a:lnTo>
                <a:lnTo>
                  <a:pt x="96541" y="147507"/>
                </a:lnTo>
                <a:lnTo>
                  <a:pt x="144694" y="119714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1" name="Text 29"/>
          <p:cNvSpPr/>
          <p:nvPr/>
        </p:nvSpPr>
        <p:spPr>
          <a:xfrm>
            <a:off x="6811963" y="2216151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Avatar Interface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83350" y="2482851"/>
            <a:ext cx="5133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Unity-based avatar providing visual presence and interactive experience.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50000" y="2921001"/>
            <a:ext cx="5305425" cy="742950"/>
          </a:xfrm>
          <a:custGeom>
            <a:avLst/>
            <a:gdLst/>
            <a:ahLst/>
            <a:cxnLst/>
            <a:rect l="l" t="t" r="r" b="b"/>
            <a:pathLst>
              <a:path w="5305425" h="742950">
                <a:moveTo>
                  <a:pt x="38100" y="0"/>
                </a:moveTo>
                <a:lnTo>
                  <a:pt x="5229228" y="0"/>
                </a:lnTo>
                <a:cubicBezTo>
                  <a:pt x="5271310" y="0"/>
                  <a:pt x="5305425" y="34115"/>
                  <a:pt x="5305425" y="76197"/>
                </a:cubicBezTo>
                <a:lnTo>
                  <a:pt x="5305425" y="666753"/>
                </a:lnTo>
                <a:cubicBezTo>
                  <a:pt x="5305425" y="708835"/>
                  <a:pt x="5271310" y="742950"/>
                  <a:pt x="5229228" y="742950"/>
                </a:cubicBez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350000" y="2921001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3810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5" name="Shape 33"/>
          <p:cNvSpPr/>
          <p:nvPr/>
        </p:nvSpPr>
        <p:spPr>
          <a:xfrm>
            <a:off x="6528594" y="3063876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64294" y="0"/>
                </a:moveTo>
                <a:cubicBezTo>
                  <a:pt x="46546" y="0"/>
                  <a:pt x="32147" y="14399"/>
                  <a:pt x="32147" y="32147"/>
                </a:cubicBezTo>
                <a:lnTo>
                  <a:pt x="32147" y="75009"/>
                </a:lnTo>
                <a:cubicBezTo>
                  <a:pt x="32147" y="92757"/>
                  <a:pt x="46546" y="107156"/>
                  <a:pt x="64294" y="107156"/>
                </a:cubicBezTo>
                <a:cubicBezTo>
                  <a:pt x="82042" y="107156"/>
                  <a:pt x="96441" y="92757"/>
                  <a:pt x="96441" y="75009"/>
                </a:cubicBezTo>
                <a:lnTo>
                  <a:pt x="96441" y="32147"/>
                </a:lnTo>
                <a:cubicBezTo>
                  <a:pt x="96441" y="14399"/>
                  <a:pt x="82042" y="0"/>
                  <a:pt x="64294" y="0"/>
                </a:cubicBezTo>
                <a:close/>
                <a:moveTo>
                  <a:pt x="16073" y="61615"/>
                </a:moveTo>
                <a:cubicBezTo>
                  <a:pt x="16073" y="57161"/>
                  <a:pt x="12490" y="53578"/>
                  <a:pt x="8037" y="53578"/>
                </a:cubicBezTo>
                <a:cubicBezTo>
                  <a:pt x="3583" y="53578"/>
                  <a:pt x="0" y="57161"/>
                  <a:pt x="0" y="61615"/>
                </a:cubicBezTo>
                <a:lnTo>
                  <a:pt x="0" y="75009"/>
                </a:lnTo>
                <a:cubicBezTo>
                  <a:pt x="0" y="107792"/>
                  <a:pt x="24545" y="134849"/>
                  <a:pt x="56257" y="138801"/>
                </a:cubicBezTo>
                <a:lnTo>
                  <a:pt x="56257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88404" y="171450"/>
                </a:lnTo>
                <a:cubicBezTo>
                  <a:pt x="92858" y="171450"/>
                  <a:pt x="96441" y="167867"/>
                  <a:pt x="96441" y="163413"/>
                </a:cubicBezTo>
                <a:cubicBezTo>
                  <a:pt x="96441" y="158960"/>
                  <a:pt x="92858" y="155377"/>
                  <a:pt x="88404" y="155377"/>
                </a:cubicBezTo>
                <a:lnTo>
                  <a:pt x="72330" y="155377"/>
                </a:lnTo>
                <a:lnTo>
                  <a:pt x="72330" y="138801"/>
                </a:lnTo>
                <a:cubicBezTo>
                  <a:pt x="104042" y="134849"/>
                  <a:pt x="128588" y="107792"/>
                  <a:pt x="128588" y="75009"/>
                </a:cubicBezTo>
                <a:lnTo>
                  <a:pt x="128588" y="61615"/>
                </a:lnTo>
                <a:cubicBezTo>
                  <a:pt x="128588" y="57161"/>
                  <a:pt x="125004" y="53578"/>
                  <a:pt x="120551" y="53578"/>
                </a:cubicBezTo>
                <a:cubicBezTo>
                  <a:pt x="116097" y="53578"/>
                  <a:pt x="112514" y="57161"/>
                  <a:pt x="112514" y="61615"/>
                </a:cubicBezTo>
                <a:lnTo>
                  <a:pt x="112514" y="75009"/>
                </a:lnTo>
                <a:cubicBezTo>
                  <a:pt x="112514" y="101631"/>
                  <a:pt x="90915" y="123230"/>
                  <a:pt x="64294" y="123230"/>
                </a:cubicBezTo>
                <a:cubicBezTo>
                  <a:pt x="37672" y="123230"/>
                  <a:pt x="16073" y="101631"/>
                  <a:pt x="16073" y="75009"/>
                </a:cubicBezTo>
                <a:lnTo>
                  <a:pt x="16073" y="61615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6" name="Text 34"/>
          <p:cNvSpPr/>
          <p:nvPr/>
        </p:nvSpPr>
        <p:spPr>
          <a:xfrm>
            <a:off x="6811963" y="3035301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Integration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83350" y="3302001"/>
            <a:ext cx="5133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Speech-to-text and text-to-speech for natural voice-based interaction.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0000" y="3740151"/>
            <a:ext cx="5305425" cy="742950"/>
          </a:xfrm>
          <a:custGeom>
            <a:avLst/>
            <a:gdLst/>
            <a:ahLst/>
            <a:cxnLst/>
            <a:rect l="l" t="t" r="r" b="b"/>
            <a:pathLst>
              <a:path w="5305425" h="742950">
                <a:moveTo>
                  <a:pt x="38100" y="0"/>
                </a:moveTo>
                <a:lnTo>
                  <a:pt x="5229228" y="0"/>
                </a:lnTo>
                <a:cubicBezTo>
                  <a:pt x="5271310" y="0"/>
                  <a:pt x="5305425" y="34115"/>
                  <a:pt x="5305425" y="76197"/>
                </a:cubicBezTo>
                <a:lnTo>
                  <a:pt x="5305425" y="666753"/>
                </a:lnTo>
                <a:cubicBezTo>
                  <a:pt x="5305425" y="708835"/>
                  <a:pt x="5271310" y="742950"/>
                  <a:pt x="5229228" y="742950"/>
                </a:cubicBez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50000" y="3740151"/>
            <a:ext cx="38100" cy="742950"/>
          </a:xfrm>
          <a:custGeom>
            <a:avLst/>
            <a:gdLst/>
            <a:ahLst/>
            <a:cxnLst/>
            <a:rect l="l" t="t" r="r" b="b"/>
            <a:pathLst>
              <a:path w="38100" h="742950">
                <a:moveTo>
                  <a:pt x="38100" y="0"/>
                </a:moveTo>
                <a:lnTo>
                  <a:pt x="38100" y="0"/>
                </a:lnTo>
                <a:lnTo>
                  <a:pt x="38100" y="742950"/>
                </a:lnTo>
                <a:lnTo>
                  <a:pt x="38100" y="742950"/>
                </a:lnTo>
                <a:cubicBezTo>
                  <a:pt x="17072" y="742950"/>
                  <a:pt x="0" y="725878"/>
                  <a:pt x="0" y="704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0" name="Shape 38"/>
          <p:cNvSpPr/>
          <p:nvPr/>
        </p:nvSpPr>
        <p:spPr>
          <a:xfrm>
            <a:off x="6507163" y="388302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1" name="Text 39"/>
          <p:cNvSpPr/>
          <p:nvPr/>
        </p:nvSpPr>
        <p:spPr>
          <a:xfrm>
            <a:off x="6811963" y="3854451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Lip Synchronisation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83350" y="4121151"/>
            <a:ext cx="5133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lip synchronisation aligning avatar facial movement with speech.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4125" y="5038726"/>
            <a:ext cx="5311775" cy="387350"/>
          </a:xfrm>
          <a:custGeom>
            <a:avLst/>
            <a:gdLst/>
            <a:ahLst/>
            <a:cxnLst/>
            <a:rect l="l" t="t" r="r" b="b"/>
            <a:pathLst>
              <a:path w="5311775" h="387350">
                <a:moveTo>
                  <a:pt x="76199" y="0"/>
                </a:moveTo>
                <a:lnTo>
                  <a:pt x="5235576" y="0"/>
                </a:lnTo>
                <a:cubicBezTo>
                  <a:pt x="5277659" y="0"/>
                  <a:pt x="5311775" y="34116"/>
                  <a:pt x="5311775" y="76199"/>
                </a:cubicBezTo>
                <a:lnTo>
                  <a:pt x="5311775" y="311151"/>
                </a:lnTo>
                <a:cubicBezTo>
                  <a:pt x="5311775" y="353234"/>
                  <a:pt x="5277659" y="387350"/>
                  <a:pt x="5235576" y="387350"/>
                </a:cubicBezTo>
                <a:lnTo>
                  <a:pt x="76199" y="387350"/>
                </a:lnTo>
                <a:cubicBezTo>
                  <a:pt x="34144" y="387350"/>
                  <a:pt x="0" y="353206"/>
                  <a:pt x="0" y="3111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25024" y="5149851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5" name="Text 43"/>
          <p:cNvSpPr/>
          <p:nvPr/>
        </p:nvSpPr>
        <p:spPr>
          <a:xfrm>
            <a:off x="6623050" y="5118099"/>
            <a:ext cx="498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Semester 2: Week 1-13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84175" y="5743576"/>
            <a:ext cx="11426825" cy="730250"/>
          </a:xfrm>
          <a:custGeom>
            <a:avLst/>
            <a:gdLst/>
            <a:ahLst/>
            <a:cxnLst/>
            <a:rect l="l" t="t" r="r" b="b"/>
            <a:pathLst>
              <a:path w="11426825" h="730250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615951"/>
                </a:lnTo>
                <a:cubicBezTo>
                  <a:pt x="11426825" y="679077"/>
                  <a:pt x="11375652" y="730250"/>
                  <a:pt x="11312526" y="730250"/>
                </a:cubicBezTo>
                <a:lnTo>
                  <a:pt x="114299" y="730250"/>
                </a:lnTo>
                <a:cubicBezTo>
                  <a:pt x="51216" y="730250"/>
                  <a:pt x="0" y="679034"/>
                  <a:pt x="0" y="6159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F6B7A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5463" y="599439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8" name="Text 46"/>
          <p:cNvSpPr/>
          <p:nvPr/>
        </p:nvSpPr>
        <p:spPr>
          <a:xfrm>
            <a:off x="927398" y="5861049"/>
            <a:ext cx="108394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Approach Rationale: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sequential development ensures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system accuracy and reliability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 established before introducing visual and voice interaction layers.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461" y="377461"/>
            <a:ext cx="11503133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b="1" spc="52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1 of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7461" y="641684"/>
            <a:ext cx="11606935" cy="377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5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7461" y="1132384"/>
            <a:ext cx="905907" cy="37746"/>
          </a:xfrm>
          <a:custGeom>
            <a:avLst/>
            <a:gdLst/>
            <a:ahLst/>
            <a:cxnLst/>
            <a:rect l="l" t="t" r="r" b="b"/>
            <a:pathLst>
              <a:path w="905907" h="37746">
                <a:moveTo>
                  <a:pt x="0" y="0"/>
                </a:moveTo>
                <a:lnTo>
                  <a:pt x="905907" y="0"/>
                </a:lnTo>
                <a:lnTo>
                  <a:pt x="905907" y="37746"/>
                </a:lnTo>
                <a:lnTo>
                  <a:pt x="0" y="3774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0607" y="1399752"/>
            <a:ext cx="6772285" cy="2752322"/>
          </a:xfrm>
          <a:custGeom>
            <a:avLst/>
            <a:gdLst/>
            <a:ahLst/>
            <a:cxnLst/>
            <a:rect l="l" t="t" r="r" b="b"/>
            <a:pathLst>
              <a:path w="6772285" h="2752322">
                <a:moveTo>
                  <a:pt x="113231" y="0"/>
                </a:moveTo>
                <a:lnTo>
                  <a:pt x="6659054" y="0"/>
                </a:lnTo>
                <a:cubicBezTo>
                  <a:pt x="6721590" y="0"/>
                  <a:pt x="6772285" y="50695"/>
                  <a:pt x="6772285" y="113231"/>
                </a:cubicBezTo>
                <a:lnTo>
                  <a:pt x="6772285" y="2639091"/>
                </a:lnTo>
                <a:cubicBezTo>
                  <a:pt x="6772285" y="2701627"/>
                  <a:pt x="6721590" y="2752322"/>
                  <a:pt x="6659054" y="2752322"/>
                </a:cubicBezTo>
                <a:lnTo>
                  <a:pt x="113231" y="2752322"/>
                </a:lnTo>
                <a:cubicBezTo>
                  <a:pt x="50695" y="2752322"/>
                  <a:pt x="0" y="2701627"/>
                  <a:pt x="0" y="2639091"/>
                </a:cubicBezTo>
                <a:lnTo>
                  <a:pt x="0" y="113231"/>
                </a:lnTo>
                <a:cubicBezTo>
                  <a:pt x="0" y="50695"/>
                  <a:pt x="50695" y="0"/>
                  <a:pt x="113231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0229" y="1629375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75494" y="0"/>
                </a:moveTo>
                <a:lnTo>
                  <a:pt x="377460" y="0"/>
                </a:lnTo>
                <a:cubicBezTo>
                  <a:pt x="419126" y="0"/>
                  <a:pt x="452954" y="33828"/>
                  <a:pt x="452954" y="75494"/>
                </a:cubicBezTo>
                <a:lnTo>
                  <a:pt x="452954" y="377460"/>
                </a:lnTo>
                <a:cubicBezTo>
                  <a:pt x="452954" y="419154"/>
                  <a:pt x="419154" y="452954"/>
                  <a:pt x="377460" y="452954"/>
                </a:cubicBezTo>
                <a:lnTo>
                  <a:pt x="75494" y="452954"/>
                </a:lnTo>
                <a:cubicBezTo>
                  <a:pt x="33828" y="452954"/>
                  <a:pt x="0" y="419126"/>
                  <a:pt x="0" y="377460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742341" y="1761487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94365" y="188731"/>
                </a:moveTo>
                <a:cubicBezTo>
                  <a:pt x="146447" y="188731"/>
                  <a:pt x="188731" y="146447"/>
                  <a:pt x="188731" y="94365"/>
                </a:cubicBezTo>
                <a:cubicBezTo>
                  <a:pt x="188731" y="42284"/>
                  <a:pt x="146447" y="0"/>
                  <a:pt x="94365" y="0"/>
                </a:cubicBezTo>
                <a:cubicBezTo>
                  <a:pt x="42284" y="0"/>
                  <a:pt x="0" y="42284"/>
                  <a:pt x="0" y="94365"/>
                </a:cubicBezTo>
                <a:cubicBezTo>
                  <a:pt x="0" y="146447"/>
                  <a:pt x="42284" y="188731"/>
                  <a:pt x="94365" y="188731"/>
                </a:cubicBezTo>
                <a:close/>
                <a:moveTo>
                  <a:pt x="125476" y="78404"/>
                </a:moveTo>
                <a:lnTo>
                  <a:pt x="95987" y="125587"/>
                </a:lnTo>
                <a:cubicBezTo>
                  <a:pt x="94439" y="128057"/>
                  <a:pt x="91785" y="129605"/>
                  <a:pt x="88873" y="129752"/>
                </a:cubicBezTo>
                <a:cubicBezTo>
                  <a:pt x="85961" y="129900"/>
                  <a:pt x="83159" y="128573"/>
                  <a:pt x="81427" y="126214"/>
                </a:cubicBezTo>
                <a:lnTo>
                  <a:pt x="63733" y="102622"/>
                </a:lnTo>
                <a:cubicBezTo>
                  <a:pt x="60785" y="98715"/>
                  <a:pt x="61595" y="93186"/>
                  <a:pt x="65503" y="90237"/>
                </a:cubicBezTo>
                <a:cubicBezTo>
                  <a:pt x="69410" y="87288"/>
                  <a:pt x="74939" y="88099"/>
                  <a:pt x="77888" y="92006"/>
                </a:cubicBezTo>
                <a:lnTo>
                  <a:pt x="87841" y="105276"/>
                </a:lnTo>
                <a:lnTo>
                  <a:pt x="110474" y="69042"/>
                </a:lnTo>
                <a:cubicBezTo>
                  <a:pt x="113054" y="64913"/>
                  <a:pt x="118510" y="63623"/>
                  <a:pt x="122675" y="66240"/>
                </a:cubicBezTo>
                <a:cubicBezTo>
                  <a:pt x="126840" y="68857"/>
                  <a:pt x="128094" y="74276"/>
                  <a:pt x="125476" y="7844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76421" y="1704868"/>
            <a:ext cx="1283368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0229" y="2233313"/>
            <a:ext cx="6388533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Language Models (LLMs) demonstrate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performance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natural language understanding and conversational tasks.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3375" y="2878143"/>
            <a:ext cx="6300458" cy="1044310"/>
          </a:xfrm>
          <a:custGeom>
            <a:avLst/>
            <a:gdLst/>
            <a:ahLst/>
            <a:cxnLst/>
            <a:rect l="l" t="t" r="r" b="b"/>
            <a:pathLst>
              <a:path w="6300458" h="1044310">
                <a:moveTo>
                  <a:pt x="75493" y="0"/>
                </a:moveTo>
                <a:lnTo>
                  <a:pt x="6224965" y="0"/>
                </a:lnTo>
                <a:cubicBezTo>
                  <a:pt x="6266659" y="0"/>
                  <a:pt x="6300458" y="33799"/>
                  <a:pt x="6300458" y="75493"/>
                </a:cubicBezTo>
                <a:lnTo>
                  <a:pt x="6300458" y="968816"/>
                </a:lnTo>
                <a:cubicBezTo>
                  <a:pt x="6300458" y="1010510"/>
                  <a:pt x="6266659" y="1044310"/>
                  <a:pt x="6224965" y="1044310"/>
                </a:cubicBezTo>
                <a:lnTo>
                  <a:pt x="75493" y="1044310"/>
                </a:lnTo>
                <a:cubicBezTo>
                  <a:pt x="33799" y="1044310"/>
                  <a:pt x="0" y="1010510"/>
                  <a:pt x="0" y="968816"/>
                </a:cubicBezTo>
                <a:lnTo>
                  <a:pt x="0" y="75493"/>
                </a:lnTo>
                <a:cubicBezTo>
                  <a:pt x="0" y="33827"/>
                  <a:pt x="33827" y="0"/>
                  <a:pt x="7549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7505" y="3032272"/>
            <a:ext cx="6067690" cy="73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Brown et al. (2020)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showed that large transformer-based models can perform a wide range of tasks through few-shot learning, demonstrating remarkable generalization capabilities.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0607" y="4350242"/>
            <a:ext cx="6772285" cy="2506972"/>
          </a:xfrm>
          <a:custGeom>
            <a:avLst/>
            <a:gdLst/>
            <a:ahLst/>
            <a:cxnLst/>
            <a:rect l="l" t="t" r="r" b="b"/>
            <a:pathLst>
              <a:path w="6772285" h="2506972">
                <a:moveTo>
                  <a:pt x="113240" y="0"/>
                </a:moveTo>
                <a:lnTo>
                  <a:pt x="6659045" y="0"/>
                </a:lnTo>
                <a:cubicBezTo>
                  <a:pt x="6721586" y="0"/>
                  <a:pt x="6772285" y="50699"/>
                  <a:pt x="6772285" y="113240"/>
                </a:cubicBezTo>
                <a:lnTo>
                  <a:pt x="6772285" y="2393732"/>
                </a:lnTo>
                <a:cubicBezTo>
                  <a:pt x="6772285" y="2456273"/>
                  <a:pt x="6721586" y="2506972"/>
                  <a:pt x="6659045" y="2506972"/>
                </a:cubicBezTo>
                <a:lnTo>
                  <a:pt x="113240" y="2506972"/>
                </a:lnTo>
                <a:cubicBezTo>
                  <a:pt x="50699" y="2506972"/>
                  <a:pt x="0" y="2456273"/>
                  <a:pt x="0" y="2393732"/>
                </a:cubicBezTo>
                <a:lnTo>
                  <a:pt x="0" y="113240"/>
                </a:lnTo>
                <a:cubicBezTo>
                  <a:pt x="0" y="50699"/>
                  <a:pt x="50699" y="0"/>
                  <a:pt x="113240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229" y="4579863"/>
            <a:ext cx="452954" cy="452954"/>
          </a:xfrm>
          <a:custGeom>
            <a:avLst/>
            <a:gdLst/>
            <a:ahLst/>
            <a:cxnLst/>
            <a:rect l="l" t="t" r="r" b="b"/>
            <a:pathLst>
              <a:path w="452954" h="452954">
                <a:moveTo>
                  <a:pt x="75494" y="0"/>
                </a:moveTo>
                <a:lnTo>
                  <a:pt x="377460" y="0"/>
                </a:lnTo>
                <a:cubicBezTo>
                  <a:pt x="419126" y="0"/>
                  <a:pt x="452954" y="33828"/>
                  <a:pt x="452954" y="75494"/>
                </a:cubicBezTo>
                <a:lnTo>
                  <a:pt x="452954" y="377460"/>
                </a:lnTo>
                <a:cubicBezTo>
                  <a:pt x="452954" y="419154"/>
                  <a:pt x="419154" y="452954"/>
                  <a:pt x="377460" y="452954"/>
                </a:cubicBezTo>
                <a:lnTo>
                  <a:pt x="75494" y="452954"/>
                </a:lnTo>
                <a:cubicBezTo>
                  <a:pt x="33828" y="452954"/>
                  <a:pt x="0" y="419126"/>
                  <a:pt x="0" y="377460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2341" y="4711974"/>
            <a:ext cx="188731" cy="188731"/>
          </a:xfrm>
          <a:custGeom>
            <a:avLst/>
            <a:gdLst/>
            <a:ahLst/>
            <a:cxnLst/>
            <a:rect l="l" t="t" r="r" b="b"/>
            <a:pathLst>
              <a:path w="188731" h="188731">
                <a:moveTo>
                  <a:pt x="94365" y="0"/>
                </a:moveTo>
                <a:cubicBezTo>
                  <a:pt x="99784" y="0"/>
                  <a:pt x="104760" y="2986"/>
                  <a:pt x="107341" y="7741"/>
                </a:cubicBezTo>
                <a:lnTo>
                  <a:pt x="186961" y="155187"/>
                </a:lnTo>
                <a:cubicBezTo>
                  <a:pt x="189431" y="159758"/>
                  <a:pt x="189320" y="165287"/>
                  <a:pt x="186666" y="169747"/>
                </a:cubicBezTo>
                <a:cubicBezTo>
                  <a:pt x="184012" y="174207"/>
                  <a:pt x="179184" y="176935"/>
                  <a:pt x="173986" y="176935"/>
                </a:cubicBezTo>
                <a:lnTo>
                  <a:pt x="14745" y="176935"/>
                </a:lnTo>
                <a:cubicBezTo>
                  <a:pt x="9547" y="176935"/>
                  <a:pt x="4755" y="174207"/>
                  <a:pt x="2064" y="169747"/>
                </a:cubicBezTo>
                <a:cubicBezTo>
                  <a:pt x="-627" y="165287"/>
                  <a:pt x="-700" y="159758"/>
                  <a:pt x="1769" y="155187"/>
                </a:cubicBezTo>
                <a:lnTo>
                  <a:pt x="81390" y="7741"/>
                </a:lnTo>
                <a:cubicBezTo>
                  <a:pt x="83970" y="2986"/>
                  <a:pt x="88947" y="0"/>
                  <a:pt x="94365" y="0"/>
                </a:cubicBezTo>
                <a:close/>
                <a:moveTo>
                  <a:pt x="94365" y="61927"/>
                </a:moveTo>
                <a:cubicBezTo>
                  <a:pt x="89463" y="61927"/>
                  <a:pt x="85519" y="65871"/>
                  <a:pt x="85519" y="70774"/>
                </a:cubicBezTo>
                <a:lnTo>
                  <a:pt x="85519" y="112059"/>
                </a:lnTo>
                <a:cubicBezTo>
                  <a:pt x="85519" y="116961"/>
                  <a:pt x="89463" y="120906"/>
                  <a:pt x="94365" y="120906"/>
                </a:cubicBezTo>
                <a:cubicBezTo>
                  <a:pt x="99268" y="120906"/>
                  <a:pt x="103212" y="116961"/>
                  <a:pt x="103212" y="112059"/>
                </a:cubicBezTo>
                <a:lnTo>
                  <a:pt x="103212" y="70774"/>
                </a:lnTo>
                <a:cubicBezTo>
                  <a:pt x="103212" y="65871"/>
                  <a:pt x="99268" y="61927"/>
                  <a:pt x="94365" y="61927"/>
                </a:cubicBezTo>
                <a:close/>
                <a:moveTo>
                  <a:pt x="104207" y="141548"/>
                </a:moveTo>
                <a:cubicBezTo>
                  <a:pt x="104431" y="137895"/>
                  <a:pt x="102609" y="134419"/>
                  <a:pt x="99478" y="132525"/>
                </a:cubicBezTo>
                <a:cubicBezTo>
                  <a:pt x="96346" y="130630"/>
                  <a:pt x="92422" y="130630"/>
                  <a:pt x="89290" y="132525"/>
                </a:cubicBezTo>
                <a:cubicBezTo>
                  <a:pt x="86158" y="134419"/>
                  <a:pt x="84336" y="137895"/>
                  <a:pt x="84560" y="141548"/>
                </a:cubicBezTo>
                <a:cubicBezTo>
                  <a:pt x="84336" y="145201"/>
                  <a:pt x="86158" y="148677"/>
                  <a:pt x="89290" y="150571"/>
                </a:cubicBezTo>
                <a:cubicBezTo>
                  <a:pt x="92422" y="152466"/>
                  <a:pt x="96346" y="152466"/>
                  <a:pt x="99478" y="150571"/>
                </a:cubicBezTo>
                <a:cubicBezTo>
                  <a:pt x="102609" y="148677"/>
                  <a:pt x="104431" y="145201"/>
                  <a:pt x="104207" y="14154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1176421" y="4655355"/>
            <a:ext cx="1226749" cy="301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3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0229" y="5183801"/>
            <a:ext cx="6388533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However, LLMs generate responses based on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probabilistic language patterns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rather than verified knowledge.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3375" y="5828631"/>
            <a:ext cx="6300458" cy="798960"/>
          </a:xfrm>
          <a:custGeom>
            <a:avLst/>
            <a:gdLst/>
            <a:ahLst/>
            <a:cxnLst/>
            <a:rect l="l" t="t" r="r" b="b"/>
            <a:pathLst>
              <a:path w="6300458" h="798960">
                <a:moveTo>
                  <a:pt x="75494" y="0"/>
                </a:moveTo>
                <a:lnTo>
                  <a:pt x="6224965" y="0"/>
                </a:lnTo>
                <a:cubicBezTo>
                  <a:pt x="6266659" y="0"/>
                  <a:pt x="6300458" y="33800"/>
                  <a:pt x="6300458" y="75494"/>
                </a:cubicBezTo>
                <a:lnTo>
                  <a:pt x="6300458" y="723466"/>
                </a:lnTo>
                <a:cubicBezTo>
                  <a:pt x="6300458" y="765160"/>
                  <a:pt x="6266659" y="798960"/>
                  <a:pt x="6224965" y="798960"/>
                </a:cubicBezTo>
                <a:lnTo>
                  <a:pt x="75494" y="798960"/>
                </a:lnTo>
                <a:cubicBezTo>
                  <a:pt x="33800" y="798960"/>
                  <a:pt x="0" y="765160"/>
                  <a:pt x="0" y="723466"/>
                </a:cubicBezTo>
                <a:lnTo>
                  <a:pt x="0" y="75494"/>
                </a:lnTo>
                <a:cubicBezTo>
                  <a:pt x="0" y="33828"/>
                  <a:pt x="33828" y="0"/>
                  <a:pt x="7549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7505" y="5982762"/>
            <a:ext cx="6067690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can lead to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hallucinated or incorrect information 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applied to domain-specific tasks such as academic advising </a:t>
            </a:r>
            <a:pPr>
              <a:lnSpc>
                <a:spcPct val="140000"/>
              </a:lnSpc>
            </a:pPr>
            <a:r>
              <a:rPr lang="en-US" sz="118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(OpenAI, 2023)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81138" y="1399752"/>
            <a:ext cx="4432025" cy="3243022"/>
          </a:xfrm>
          <a:custGeom>
            <a:avLst/>
            <a:gdLst/>
            <a:ahLst/>
            <a:cxnLst/>
            <a:rect l="l" t="t" r="r" b="b"/>
            <a:pathLst>
              <a:path w="4432025" h="3243022">
                <a:moveTo>
                  <a:pt x="113246" y="0"/>
                </a:moveTo>
                <a:lnTo>
                  <a:pt x="4318778" y="0"/>
                </a:lnTo>
                <a:cubicBezTo>
                  <a:pt x="4381323" y="0"/>
                  <a:pt x="4432025" y="50702"/>
                  <a:pt x="4432025" y="113246"/>
                </a:cubicBezTo>
                <a:lnTo>
                  <a:pt x="4432025" y="3129775"/>
                </a:lnTo>
                <a:cubicBezTo>
                  <a:pt x="4432025" y="3192320"/>
                  <a:pt x="4381323" y="3243022"/>
                  <a:pt x="4318778" y="3243022"/>
                </a:cubicBezTo>
                <a:lnTo>
                  <a:pt x="113246" y="3243022"/>
                </a:lnTo>
                <a:cubicBezTo>
                  <a:pt x="50702" y="3243022"/>
                  <a:pt x="0" y="3192320"/>
                  <a:pt x="0" y="3129775"/>
                </a:cubicBezTo>
                <a:lnTo>
                  <a:pt x="0" y="113246"/>
                </a:lnTo>
                <a:cubicBezTo>
                  <a:pt x="0" y="50744"/>
                  <a:pt x="50744" y="0"/>
                  <a:pt x="113246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73014" y="1591629"/>
            <a:ext cx="414263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6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91887" y="2044583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148213" y="82157"/>
                </a:moveTo>
                <a:cubicBezTo>
                  <a:pt x="151899" y="78471"/>
                  <a:pt x="151899" y="72484"/>
                  <a:pt x="148213" y="68798"/>
                </a:cubicBezTo>
                <a:lnTo>
                  <a:pt x="101030" y="21616"/>
                </a:lnTo>
                <a:cubicBezTo>
                  <a:pt x="97344" y="17929"/>
                  <a:pt x="91357" y="17929"/>
                  <a:pt x="87671" y="21616"/>
                </a:cubicBezTo>
                <a:cubicBezTo>
                  <a:pt x="83985" y="25302"/>
                  <a:pt x="83985" y="31288"/>
                  <a:pt x="87671" y="34974"/>
                </a:cubicBezTo>
                <a:lnTo>
                  <a:pt x="118753" y="66056"/>
                </a:lnTo>
                <a:lnTo>
                  <a:pt x="9437" y="66056"/>
                </a:lnTo>
                <a:cubicBezTo>
                  <a:pt x="4217" y="66056"/>
                  <a:pt x="0" y="70273"/>
                  <a:pt x="0" y="75492"/>
                </a:cubicBezTo>
                <a:cubicBezTo>
                  <a:pt x="0" y="80712"/>
                  <a:pt x="4217" y="84929"/>
                  <a:pt x="9437" y="84929"/>
                </a:cubicBezTo>
                <a:lnTo>
                  <a:pt x="118753" y="84929"/>
                </a:lnTo>
                <a:lnTo>
                  <a:pt x="87671" y="116010"/>
                </a:lnTo>
                <a:cubicBezTo>
                  <a:pt x="83985" y="119697"/>
                  <a:pt x="83985" y="125683"/>
                  <a:pt x="87671" y="129369"/>
                </a:cubicBezTo>
                <a:cubicBezTo>
                  <a:pt x="91357" y="133055"/>
                  <a:pt x="97344" y="133055"/>
                  <a:pt x="101030" y="129369"/>
                </a:cubicBezTo>
                <a:lnTo>
                  <a:pt x="148213" y="8218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7874983" y="2006837"/>
            <a:ext cx="3651938" cy="24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excel at language understanding and generation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91887" y="2403171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148213" y="82157"/>
                </a:moveTo>
                <a:cubicBezTo>
                  <a:pt x="151899" y="78471"/>
                  <a:pt x="151899" y="72484"/>
                  <a:pt x="148213" y="68798"/>
                </a:cubicBezTo>
                <a:lnTo>
                  <a:pt x="101030" y="21616"/>
                </a:lnTo>
                <a:cubicBezTo>
                  <a:pt x="97344" y="17929"/>
                  <a:pt x="91357" y="17929"/>
                  <a:pt x="87671" y="21616"/>
                </a:cubicBezTo>
                <a:cubicBezTo>
                  <a:pt x="83985" y="25302"/>
                  <a:pt x="83985" y="31288"/>
                  <a:pt x="87671" y="34974"/>
                </a:cubicBezTo>
                <a:lnTo>
                  <a:pt x="118753" y="66056"/>
                </a:lnTo>
                <a:lnTo>
                  <a:pt x="9437" y="66056"/>
                </a:lnTo>
                <a:cubicBezTo>
                  <a:pt x="4217" y="66056"/>
                  <a:pt x="0" y="70273"/>
                  <a:pt x="0" y="75492"/>
                </a:cubicBezTo>
                <a:cubicBezTo>
                  <a:pt x="0" y="80712"/>
                  <a:pt x="4217" y="84929"/>
                  <a:pt x="9437" y="84929"/>
                </a:cubicBezTo>
                <a:lnTo>
                  <a:pt x="118753" y="84929"/>
                </a:lnTo>
                <a:lnTo>
                  <a:pt x="87671" y="116010"/>
                </a:lnTo>
                <a:cubicBezTo>
                  <a:pt x="83985" y="119697"/>
                  <a:pt x="83985" y="125683"/>
                  <a:pt x="87671" y="129369"/>
                </a:cubicBezTo>
                <a:cubicBezTo>
                  <a:pt x="91357" y="133055"/>
                  <a:pt x="97344" y="133055"/>
                  <a:pt x="101030" y="129369"/>
                </a:cubicBezTo>
                <a:lnTo>
                  <a:pt x="148213" y="8218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7874983" y="2365425"/>
            <a:ext cx="2868706" cy="24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Few-shot learning enables task adaptation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91887" y="2761759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148213" y="82157"/>
                </a:moveTo>
                <a:cubicBezTo>
                  <a:pt x="151899" y="78471"/>
                  <a:pt x="151899" y="72484"/>
                  <a:pt x="148213" y="68798"/>
                </a:cubicBezTo>
                <a:lnTo>
                  <a:pt x="101030" y="21616"/>
                </a:lnTo>
                <a:cubicBezTo>
                  <a:pt x="97344" y="17929"/>
                  <a:pt x="91357" y="17929"/>
                  <a:pt x="87671" y="21616"/>
                </a:cubicBezTo>
                <a:cubicBezTo>
                  <a:pt x="83985" y="25302"/>
                  <a:pt x="83985" y="31288"/>
                  <a:pt x="87671" y="34974"/>
                </a:cubicBezTo>
                <a:lnTo>
                  <a:pt x="118753" y="66056"/>
                </a:lnTo>
                <a:lnTo>
                  <a:pt x="9437" y="66056"/>
                </a:lnTo>
                <a:cubicBezTo>
                  <a:pt x="4217" y="66056"/>
                  <a:pt x="0" y="70273"/>
                  <a:pt x="0" y="75492"/>
                </a:cubicBezTo>
                <a:cubicBezTo>
                  <a:pt x="0" y="80712"/>
                  <a:pt x="4217" y="84929"/>
                  <a:pt x="9437" y="84929"/>
                </a:cubicBezTo>
                <a:lnTo>
                  <a:pt x="118753" y="84929"/>
                </a:lnTo>
                <a:lnTo>
                  <a:pt x="87671" y="116010"/>
                </a:lnTo>
                <a:cubicBezTo>
                  <a:pt x="83985" y="119697"/>
                  <a:pt x="83985" y="125683"/>
                  <a:pt x="87671" y="129369"/>
                </a:cubicBezTo>
                <a:cubicBezTo>
                  <a:pt x="91357" y="133055"/>
                  <a:pt x="97344" y="133055"/>
                  <a:pt x="101030" y="129369"/>
                </a:cubicBezTo>
                <a:lnTo>
                  <a:pt x="148213" y="82186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6" name="Text 24"/>
          <p:cNvSpPr/>
          <p:nvPr/>
        </p:nvSpPr>
        <p:spPr>
          <a:xfrm>
            <a:off x="7874983" y="2724013"/>
            <a:ext cx="2906452" cy="24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Probabilistic generation risks factual errors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591887" y="3120348"/>
            <a:ext cx="150985" cy="150985"/>
          </a:xfrm>
          <a:custGeom>
            <a:avLst/>
            <a:gdLst/>
            <a:ahLst/>
            <a:cxnLst/>
            <a:rect l="l" t="t" r="r" b="b"/>
            <a:pathLst>
              <a:path w="150985" h="150985">
                <a:moveTo>
                  <a:pt x="148213" y="82157"/>
                </a:moveTo>
                <a:cubicBezTo>
                  <a:pt x="151899" y="78471"/>
                  <a:pt x="151899" y="72484"/>
                  <a:pt x="148213" y="68798"/>
                </a:cubicBezTo>
                <a:lnTo>
                  <a:pt x="101030" y="21616"/>
                </a:lnTo>
                <a:cubicBezTo>
                  <a:pt x="97344" y="17929"/>
                  <a:pt x="91357" y="17929"/>
                  <a:pt x="87671" y="21616"/>
                </a:cubicBezTo>
                <a:cubicBezTo>
                  <a:pt x="83985" y="25302"/>
                  <a:pt x="83985" y="31288"/>
                  <a:pt x="87671" y="34974"/>
                </a:cubicBezTo>
                <a:lnTo>
                  <a:pt x="118753" y="66056"/>
                </a:lnTo>
                <a:lnTo>
                  <a:pt x="9437" y="66056"/>
                </a:lnTo>
                <a:cubicBezTo>
                  <a:pt x="4217" y="66056"/>
                  <a:pt x="0" y="70273"/>
                  <a:pt x="0" y="75492"/>
                </a:cubicBezTo>
                <a:cubicBezTo>
                  <a:pt x="0" y="80712"/>
                  <a:pt x="4217" y="84929"/>
                  <a:pt x="9437" y="84929"/>
                </a:cubicBezTo>
                <a:lnTo>
                  <a:pt x="118753" y="84929"/>
                </a:lnTo>
                <a:lnTo>
                  <a:pt x="87671" y="116010"/>
                </a:lnTo>
                <a:cubicBezTo>
                  <a:pt x="83985" y="119697"/>
                  <a:pt x="83985" y="125683"/>
                  <a:pt x="87671" y="129369"/>
                </a:cubicBezTo>
                <a:cubicBezTo>
                  <a:pt x="91357" y="133055"/>
                  <a:pt x="97344" y="133055"/>
                  <a:pt x="101030" y="129369"/>
                </a:cubicBezTo>
                <a:lnTo>
                  <a:pt x="148213" y="82186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8" name="Text 26"/>
          <p:cNvSpPr/>
          <p:nvPr/>
        </p:nvSpPr>
        <p:spPr>
          <a:xfrm>
            <a:off x="7874983" y="3082601"/>
            <a:ext cx="3293350" cy="24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Domain-specific applications require verification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81138" y="4840942"/>
            <a:ext cx="4432025" cy="949944"/>
          </a:xfrm>
          <a:custGeom>
            <a:avLst/>
            <a:gdLst/>
            <a:ahLst/>
            <a:cxnLst/>
            <a:rect l="l" t="t" r="r" b="b"/>
            <a:pathLst>
              <a:path w="4432025" h="949944">
                <a:moveTo>
                  <a:pt x="113243" y="0"/>
                </a:moveTo>
                <a:lnTo>
                  <a:pt x="4318782" y="0"/>
                </a:lnTo>
                <a:cubicBezTo>
                  <a:pt x="4381282" y="0"/>
                  <a:pt x="4432025" y="50742"/>
                  <a:pt x="4432025" y="113243"/>
                </a:cubicBezTo>
                <a:lnTo>
                  <a:pt x="4432025" y="836701"/>
                </a:lnTo>
                <a:cubicBezTo>
                  <a:pt x="4432025" y="899244"/>
                  <a:pt x="4381324" y="949944"/>
                  <a:pt x="4318782" y="949944"/>
                </a:cubicBezTo>
                <a:lnTo>
                  <a:pt x="113243" y="949944"/>
                </a:lnTo>
                <a:cubicBezTo>
                  <a:pt x="50742" y="949944"/>
                  <a:pt x="0" y="899202"/>
                  <a:pt x="0" y="836701"/>
                </a:cubicBezTo>
                <a:lnTo>
                  <a:pt x="0" y="113243"/>
                </a:lnTo>
                <a:cubicBezTo>
                  <a:pt x="0" y="50701"/>
                  <a:pt x="50701" y="0"/>
                  <a:pt x="113243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222" y="5076854"/>
            <a:ext cx="148625" cy="169858"/>
          </a:xfrm>
          <a:custGeom>
            <a:avLst/>
            <a:gdLst/>
            <a:ahLst/>
            <a:cxnLst/>
            <a:rect l="l" t="t" r="r" b="b"/>
            <a:pathLst>
              <a:path w="148625" h="169858">
                <a:moveTo>
                  <a:pt x="127393" y="169858"/>
                </a:moveTo>
                <a:lnTo>
                  <a:pt x="31848" y="169858"/>
                </a:lnTo>
                <a:cubicBezTo>
                  <a:pt x="14265" y="169858"/>
                  <a:pt x="0" y="155592"/>
                  <a:pt x="0" y="138009"/>
                </a:cubicBezTo>
                <a:lnTo>
                  <a:pt x="0" y="31848"/>
                </a:lnTo>
                <a:cubicBezTo>
                  <a:pt x="0" y="14265"/>
                  <a:pt x="14265" y="0"/>
                  <a:pt x="31848" y="0"/>
                </a:cubicBezTo>
                <a:lnTo>
                  <a:pt x="132701" y="0"/>
                </a:lnTo>
                <a:cubicBezTo>
                  <a:pt x="141493" y="0"/>
                  <a:pt x="148625" y="7133"/>
                  <a:pt x="148625" y="15924"/>
                </a:cubicBezTo>
                <a:lnTo>
                  <a:pt x="148625" y="111469"/>
                </a:lnTo>
                <a:cubicBezTo>
                  <a:pt x="148625" y="118403"/>
                  <a:pt x="144180" y="124308"/>
                  <a:pt x="138009" y="126497"/>
                </a:cubicBezTo>
                <a:lnTo>
                  <a:pt x="138009" y="148625"/>
                </a:lnTo>
                <a:cubicBezTo>
                  <a:pt x="143881" y="148625"/>
                  <a:pt x="148625" y="153369"/>
                  <a:pt x="148625" y="159241"/>
                </a:cubicBezTo>
                <a:cubicBezTo>
                  <a:pt x="148625" y="165114"/>
                  <a:pt x="143881" y="169858"/>
                  <a:pt x="138009" y="169858"/>
                </a:cubicBezTo>
                <a:lnTo>
                  <a:pt x="127393" y="169858"/>
                </a:lnTo>
                <a:close/>
                <a:moveTo>
                  <a:pt x="31848" y="127393"/>
                </a:moveTo>
                <a:cubicBezTo>
                  <a:pt x="25976" y="127393"/>
                  <a:pt x="21232" y="132137"/>
                  <a:pt x="21232" y="138009"/>
                </a:cubicBezTo>
                <a:cubicBezTo>
                  <a:pt x="21232" y="143881"/>
                  <a:pt x="25976" y="148625"/>
                  <a:pt x="31848" y="148625"/>
                </a:cubicBezTo>
                <a:lnTo>
                  <a:pt x="116777" y="148625"/>
                </a:lnTo>
                <a:lnTo>
                  <a:pt x="116777" y="127393"/>
                </a:lnTo>
                <a:lnTo>
                  <a:pt x="31848" y="127393"/>
                </a:lnTo>
                <a:close/>
                <a:moveTo>
                  <a:pt x="42464" y="50426"/>
                </a:moveTo>
                <a:cubicBezTo>
                  <a:pt x="42464" y="54839"/>
                  <a:pt x="46014" y="58389"/>
                  <a:pt x="50426" y="58389"/>
                </a:cubicBezTo>
                <a:lnTo>
                  <a:pt x="108815" y="58389"/>
                </a:lnTo>
                <a:cubicBezTo>
                  <a:pt x="113227" y="58389"/>
                  <a:pt x="116777" y="54839"/>
                  <a:pt x="116777" y="50426"/>
                </a:cubicBezTo>
                <a:cubicBezTo>
                  <a:pt x="116777" y="46014"/>
                  <a:pt x="113227" y="42464"/>
                  <a:pt x="108815" y="42464"/>
                </a:cubicBezTo>
                <a:lnTo>
                  <a:pt x="50426" y="42464"/>
                </a:lnTo>
                <a:cubicBezTo>
                  <a:pt x="46014" y="42464"/>
                  <a:pt x="42464" y="46014"/>
                  <a:pt x="42464" y="50426"/>
                </a:cubicBezTo>
                <a:close/>
                <a:moveTo>
                  <a:pt x="50426" y="74313"/>
                </a:moveTo>
                <a:cubicBezTo>
                  <a:pt x="46014" y="74313"/>
                  <a:pt x="42464" y="77862"/>
                  <a:pt x="42464" y="82275"/>
                </a:cubicBezTo>
                <a:cubicBezTo>
                  <a:pt x="42464" y="86687"/>
                  <a:pt x="46014" y="90237"/>
                  <a:pt x="50426" y="90237"/>
                </a:cubicBezTo>
                <a:lnTo>
                  <a:pt x="108815" y="90237"/>
                </a:lnTo>
                <a:cubicBezTo>
                  <a:pt x="113227" y="90237"/>
                  <a:pt x="116777" y="86687"/>
                  <a:pt x="116777" y="82275"/>
                </a:cubicBezTo>
                <a:cubicBezTo>
                  <a:pt x="116777" y="77862"/>
                  <a:pt x="113227" y="74313"/>
                  <a:pt x="108815" y="74313"/>
                </a:cubicBezTo>
                <a:lnTo>
                  <a:pt x="50426" y="74313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7846148" y="5032817"/>
            <a:ext cx="3860068" cy="26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7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 Citation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73014" y="5410278"/>
            <a:ext cx="4114328" cy="188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(Brown et al., 2020; OpenAI, 2023)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81138" y="5985907"/>
            <a:ext cx="4432025" cy="874452"/>
          </a:xfrm>
          <a:custGeom>
            <a:avLst/>
            <a:gdLst/>
            <a:ahLst/>
            <a:cxnLst/>
            <a:rect l="l" t="t" r="r" b="b"/>
            <a:pathLst>
              <a:path w="4432025" h="874452">
                <a:moveTo>
                  <a:pt x="113242" y="0"/>
                </a:moveTo>
                <a:lnTo>
                  <a:pt x="4318783" y="0"/>
                </a:lnTo>
                <a:cubicBezTo>
                  <a:pt x="4381325" y="0"/>
                  <a:pt x="4432025" y="50700"/>
                  <a:pt x="4432025" y="113242"/>
                </a:cubicBezTo>
                <a:lnTo>
                  <a:pt x="4432025" y="761210"/>
                </a:lnTo>
                <a:cubicBezTo>
                  <a:pt x="4432025" y="823752"/>
                  <a:pt x="4381325" y="874452"/>
                  <a:pt x="4318783" y="874452"/>
                </a:cubicBezTo>
                <a:lnTo>
                  <a:pt x="113242" y="874452"/>
                </a:lnTo>
                <a:cubicBezTo>
                  <a:pt x="50700" y="874452"/>
                  <a:pt x="0" y="823752"/>
                  <a:pt x="0" y="761210"/>
                </a:cubicBezTo>
                <a:lnTo>
                  <a:pt x="0" y="113242"/>
                </a:lnTo>
                <a:cubicBezTo>
                  <a:pt x="0" y="50700"/>
                  <a:pt x="50700" y="0"/>
                  <a:pt x="113242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4DB6AC">
                <a:alpha val="5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77733" y="6309896"/>
            <a:ext cx="169858" cy="226477"/>
          </a:xfrm>
          <a:custGeom>
            <a:avLst/>
            <a:gdLst/>
            <a:ahLst/>
            <a:cxnLst/>
            <a:rect l="l" t="t" r="r" b="b"/>
            <a:pathLst>
              <a:path w="169858" h="226477">
                <a:moveTo>
                  <a:pt x="129561" y="169858"/>
                </a:moveTo>
                <a:cubicBezTo>
                  <a:pt x="132790" y="159993"/>
                  <a:pt x="139248" y="151058"/>
                  <a:pt x="146546" y="143362"/>
                </a:cubicBezTo>
                <a:cubicBezTo>
                  <a:pt x="161011" y="128145"/>
                  <a:pt x="169858" y="107576"/>
                  <a:pt x="169858" y="84929"/>
                </a:cubicBezTo>
                <a:cubicBezTo>
                  <a:pt x="169858" y="38041"/>
                  <a:pt x="131817" y="0"/>
                  <a:pt x="84929" y="0"/>
                </a:cubicBezTo>
                <a:cubicBezTo>
                  <a:pt x="38041" y="0"/>
                  <a:pt x="0" y="38041"/>
                  <a:pt x="0" y="84929"/>
                </a:cubicBezTo>
                <a:cubicBezTo>
                  <a:pt x="0" y="107576"/>
                  <a:pt x="8847" y="128145"/>
                  <a:pt x="23311" y="143362"/>
                </a:cubicBezTo>
                <a:cubicBezTo>
                  <a:pt x="30610" y="151058"/>
                  <a:pt x="37112" y="159993"/>
                  <a:pt x="40297" y="169858"/>
                </a:cubicBezTo>
                <a:lnTo>
                  <a:pt x="129516" y="169858"/>
                </a:lnTo>
                <a:close/>
                <a:moveTo>
                  <a:pt x="127393" y="191090"/>
                </a:moveTo>
                <a:lnTo>
                  <a:pt x="42464" y="191090"/>
                </a:lnTo>
                <a:lnTo>
                  <a:pt x="42464" y="198167"/>
                </a:lnTo>
                <a:cubicBezTo>
                  <a:pt x="42464" y="217718"/>
                  <a:pt x="58300" y="233554"/>
                  <a:pt x="77851" y="233554"/>
                </a:cubicBezTo>
                <a:lnTo>
                  <a:pt x="92006" y="233554"/>
                </a:lnTo>
                <a:cubicBezTo>
                  <a:pt x="111558" y="233554"/>
                  <a:pt x="127393" y="217718"/>
                  <a:pt x="127393" y="198167"/>
                </a:cubicBezTo>
                <a:lnTo>
                  <a:pt x="127393" y="191090"/>
                </a:lnTo>
                <a:close/>
                <a:moveTo>
                  <a:pt x="81390" y="49542"/>
                </a:moveTo>
                <a:cubicBezTo>
                  <a:pt x="63785" y="49542"/>
                  <a:pt x="49542" y="63785"/>
                  <a:pt x="49542" y="81390"/>
                </a:cubicBezTo>
                <a:cubicBezTo>
                  <a:pt x="49542" y="87273"/>
                  <a:pt x="44809" y="92006"/>
                  <a:pt x="38926" y="92006"/>
                </a:cubicBezTo>
                <a:cubicBezTo>
                  <a:pt x="33043" y="92006"/>
                  <a:pt x="28310" y="87273"/>
                  <a:pt x="28310" y="81390"/>
                </a:cubicBezTo>
                <a:cubicBezTo>
                  <a:pt x="28310" y="52063"/>
                  <a:pt x="52063" y="28310"/>
                  <a:pt x="81390" y="28310"/>
                </a:cubicBezTo>
                <a:cubicBezTo>
                  <a:pt x="87273" y="28310"/>
                  <a:pt x="92006" y="33043"/>
                  <a:pt x="92006" y="38926"/>
                </a:cubicBezTo>
                <a:cubicBezTo>
                  <a:pt x="92006" y="44809"/>
                  <a:pt x="87273" y="49542"/>
                  <a:pt x="81390" y="49542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5" name="Text 33"/>
          <p:cNvSpPr/>
          <p:nvPr/>
        </p:nvSpPr>
        <p:spPr>
          <a:xfrm>
            <a:off x="7862499" y="6177784"/>
            <a:ext cx="3840669" cy="4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9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Implication:</a:t>
            </a:r>
            <a:pPr>
              <a:lnSpc>
                <a:spcPct val="140000"/>
              </a:lnSpc>
            </a:pPr>
            <a:r>
              <a:rPr lang="en-US" sz="1189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LLMs need complementary mechanisms to ensure factual accuracy in academic contexts.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275" y="372275"/>
            <a:ext cx="11512598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spc="51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2 of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275" y="632867"/>
            <a:ext cx="11614974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275" y="1116824"/>
            <a:ext cx="893460" cy="37227"/>
          </a:xfrm>
          <a:custGeom>
            <a:avLst/>
            <a:gdLst/>
            <a:ahLst/>
            <a:cxnLst/>
            <a:rect l="l" t="t" r="r" b="b"/>
            <a:pathLst>
              <a:path w="893460" h="37227">
                <a:moveTo>
                  <a:pt x="0" y="0"/>
                </a:moveTo>
                <a:lnTo>
                  <a:pt x="893460" y="0"/>
                </a:lnTo>
                <a:lnTo>
                  <a:pt x="893460" y="37227"/>
                </a:lnTo>
                <a:lnTo>
                  <a:pt x="0" y="3722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75377" y="1306064"/>
            <a:ext cx="5646168" cy="2416684"/>
          </a:xfrm>
          <a:custGeom>
            <a:avLst/>
            <a:gdLst/>
            <a:ahLst/>
            <a:cxnLst/>
            <a:rect l="l" t="t" r="r" b="b"/>
            <a:pathLst>
              <a:path w="5646168" h="2416684">
                <a:moveTo>
                  <a:pt x="111675" y="0"/>
                </a:moveTo>
                <a:lnTo>
                  <a:pt x="5534493" y="0"/>
                </a:lnTo>
                <a:cubicBezTo>
                  <a:pt x="5596169" y="0"/>
                  <a:pt x="5646168" y="49999"/>
                  <a:pt x="5646168" y="111675"/>
                </a:cubicBezTo>
                <a:lnTo>
                  <a:pt x="5646168" y="2305009"/>
                </a:lnTo>
                <a:cubicBezTo>
                  <a:pt x="5646168" y="2366685"/>
                  <a:pt x="5596169" y="2416684"/>
                  <a:pt x="5534493" y="2416684"/>
                </a:cubicBezTo>
                <a:lnTo>
                  <a:pt x="111675" y="2416684"/>
                </a:lnTo>
                <a:cubicBezTo>
                  <a:pt x="49999" y="2416684"/>
                  <a:pt x="0" y="2366685"/>
                  <a:pt x="0" y="2305009"/>
                </a:cubicBezTo>
                <a:lnTo>
                  <a:pt x="0" y="111675"/>
                </a:lnTo>
                <a:cubicBezTo>
                  <a:pt x="0" y="50040"/>
                  <a:pt x="50040" y="0"/>
                  <a:pt x="11167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7389" y="1458077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74456" y="0"/>
                </a:moveTo>
                <a:lnTo>
                  <a:pt x="372273" y="0"/>
                </a:lnTo>
                <a:cubicBezTo>
                  <a:pt x="413394" y="0"/>
                  <a:pt x="446730" y="33335"/>
                  <a:pt x="446730" y="74456"/>
                </a:cubicBezTo>
                <a:lnTo>
                  <a:pt x="446730" y="372273"/>
                </a:lnTo>
                <a:cubicBezTo>
                  <a:pt x="446730" y="413394"/>
                  <a:pt x="413394" y="446730"/>
                  <a:pt x="372273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34418" y="1588373"/>
            <a:ext cx="232672" cy="186137"/>
          </a:xfrm>
          <a:custGeom>
            <a:avLst/>
            <a:gdLst/>
            <a:ahLst/>
            <a:cxnLst/>
            <a:rect l="l" t="t" r="r" b="b"/>
            <a:pathLst>
              <a:path w="232672" h="186137">
                <a:moveTo>
                  <a:pt x="151200" y="76527"/>
                </a:moveTo>
                <a:cubicBezTo>
                  <a:pt x="155636" y="75327"/>
                  <a:pt x="160289" y="77436"/>
                  <a:pt x="162289" y="81544"/>
                </a:cubicBezTo>
                <a:lnTo>
                  <a:pt x="169051" y="95214"/>
                </a:lnTo>
                <a:cubicBezTo>
                  <a:pt x="172795" y="95723"/>
                  <a:pt x="176467" y="96741"/>
                  <a:pt x="179921" y="98158"/>
                </a:cubicBezTo>
                <a:lnTo>
                  <a:pt x="192645" y="89688"/>
                </a:lnTo>
                <a:cubicBezTo>
                  <a:pt x="196462" y="87143"/>
                  <a:pt x="201516" y="87652"/>
                  <a:pt x="204751" y="90887"/>
                </a:cubicBezTo>
                <a:lnTo>
                  <a:pt x="211731" y="97868"/>
                </a:lnTo>
                <a:cubicBezTo>
                  <a:pt x="214967" y="101103"/>
                  <a:pt x="215476" y="106193"/>
                  <a:pt x="212931" y="109974"/>
                </a:cubicBezTo>
                <a:lnTo>
                  <a:pt x="204460" y="122662"/>
                </a:lnTo>
                <a:cubicBezTo>
                  <a:pt x="205151" y="124370"/>
                  <a:pt x="205769" y="126152"/>
                  <a:pt x="206278" y="128006"/>
                </a:cubicBezTo>
                <a:cubicBezTo>
                  <a:pt x="206787" y="129860"/>
                  <a:pt x="207114" y="131678"/>
                  <a:pt x="207369" y="133532"/>
                </a:cubicBezTo>
                <a:lnTo>
                  <a:pt x="221075" y="140294"/>
                </a:lnTo>
                <a:cubicBezTo>
                  <a:pt x="225183" y="142330"/>
                  <a:pt x="227291" y="146983"/>
                  <a:pt x="226092" y="151382"/>
                </a:cubicBezTo>
                <a:lnTo>
                  <a:pt x="223547" y="160907"/>
                </a:lnTo>
                <a:cubicBezTo>
                  <a:pt x="222347" y="165306"/>
                  <a:pt x="218239" y="168287"/>
                  <a:pt x="213658" y="167996"/>
                </a:cubicBezTo>
                <a:lnTo>
                  <a:pt x="198389" y="167015"/>
                </a:lnTo>
                <a:cubicBezTo>
                  <a:pt x="196099" y="169959"/>
                  <a:pt x="193445" y="172686"/>
                  <a:pt x="190427" y="175013"/>
                </a:cubicBezTo>
                <a:lnTo>
                  <a:pt x="191409" y="190246"/>
                </a:lnTo>
                <a:cubicBezTo>
                  <a:pt x="191700" y="194826"/>
                  <a:pt x="188719" y="198971"/>
                  <a:pt x="184320" y="200134"/>
                </a:cubicBezTo>
                <a:lnTo>
                  <a:pt x="174795" y="202679"/>
                </a:lnTo>
                <a:cubicBezTo>
                  <a:pt x="170359" y="203879"/>
                  <a:pt x="165742" y="201770"/>
                  <a:pt x="163706" y="197662"/>
                </a:cubicBezTo>
                <a:lnTo>
                  <a:pt x="156944" y="183992"/>
                </a:lnTo>
                <a:cubicBezTo>
                  <a:pt x="153200" y="183483"/>
                  <a:pt x="149528" y="182466"/>
                  <a:pt x="146074" y="181048"/>
                </a:cubicBezTo>
                <a:lnTo>
                  <a:pt x="133350" y="189518"/>
                </a:lnTo>
                <a:cubicBezTo>
                  <a:pt x="129533" y="192063"/>
                  <a:pt x="124479" y="191554"/>
                  <a:pt x="121244" y="188319"/>
                </a:cubicBezTo>
                <a:lnTo>
                  <a:pt x="114264" y="181339"/>
                </a:lnTo>
                <a:cubicBezTo>
                  <a:pt x="111028" y="178103"/>
                  <a:pt x="110519" y="173050"/>
                  <a:pt x="113064" y="169232"/>
                </a:cubicBezTo>
                <a:lnTo>
                  <a:pt x="121535" y="156508"/>
                </a:lnTo>
                <a:cubicBezTo>
                  <a:pt x="120844" y="154799"/>
                  <a:pt x="120226" y="153018"/>
                  <a:pt x="119717" y="151164"/>
                </a:cubicBezTo>
                <a:cubicBezTo>
                  <a:pt x="119208" y="149310"/>
                  <a:pt x="118881" y="147456"/>
                  <a:pt x="118626" y="145638"/>
                </a:cubicBezTo>
                <a:lnTo>
                  <a:pt x="104920" y="138876"/>
                </a:lnTo>
                <a:cubicBezTo>
                  <a:pt x="100812" y="136840"/>
                  <a:pt x="98740" y="132187"/>
                  <a:pt x="99903" y="127788"/>
                </a:cubicBezTo>
                <a:lnTo>
                  <a:pt x="102448" y="118263"/>
                </a:lnTo>
                <a:cubicBezTo>
                  <a:pt x="103648" y="113864"/>
                  <a:pt x="107756" y="110883"/>
                  <a:pt x="112337" y="111173"/>
                </a:cubicBezTo>
                <a:lnTo>
                  <a:pt x="127570" y="112155"/>
                </a:lnTo>
                <a:cubicBezTo>
                  <a:pt x="129860" y="109210"/>
                  <a:pt x="132514" y="106484"/>
                  <a:pt x="135531" y="104157"/>
                </a:cubicBezTo>
                <a:lnTo>
                  <a:pt x="134550" y="88961"/>
                </a:lnTo>
                <a:cubicBezTo>
                  <a:pt x="134259" y="84380"/>
                  <a:pt x="137240" y="80235"/>
                  <a:pt x="141639" y="79072"/>
                </a:cubicBezTo>
                <a:lnTo>
                  <a:pt x="151164" y="76527"/>
                </a:lnTo>
                <a:close/>
                <a:moveTo>
                  <a:pt x="163016" y="123607"/>
                </a:moveTo>
                <a:cubicBezTo>
                  <a:pt x="154187" y="123617"/>
                  <a:pt x="147028" y="130793"/>
                  <a:pt x="147038" y="139621"/>
                </a:cubicBezTo>
                <a:cubicBezTo>
                  <a:pt x="147048" y="148450"/>
                  <a:pt x="154223" y="155609"/>
                  <a:pt x="163052" y="155599"/>
                </a:cubicBezTo>
                <a:cubicBezTo>
                  <a:pt x="171881" y="155589"/>
                  <a:pt x="179040" y="148413"/>
                  <a:pt x="179030" y="139585"/>
                </a:cubicBezTo>
                <a:cubicBezTo>
                  <a:pt x="179020" y="130756"/>
                  <a:pt x="171844" y="123597"/>
                  <a:pt x="163016" y="123607"/>
                </a:cubicBezTo>
                <a:close/>
                <a:moveTo>
                  <a:pt x="81762" y="-16542"/>
                </a:moveTo>
                <a:lnTo>
                  <a:pt x="91287" y="-13997"/>
                </a:lnTo>
                <a:cubicBezTo>
                  <a:pt x="95686" y="-12797"/>
                  <a:pt x="98667" y="-8652"/>
                  <a:pt x="98377" y="-4108"/>
                </a:cubicBezTo>
                <a:lnTo>
                  <a:pt x="97395" y="11088"/>
                </a:lnTo>
                <a:cubicBezTo>
                  <a:pt x="100412" y="13415"/>
                  <a:pt x="103066" y="16105"/>
                  <a:pt x="105357" y="19086"/>
                </a:cubicBezTo>
                <a:lnTo>
                  <a:pt x="120626" y="18105"/>
                </a:lnTo>
                <a:cubicBezTo>
                  <a:pt x="125170" y="17814"/>
                  <a:pt x="129315" y="20795"/>
                  <a:pt x="130514" y="25194"/>
                </a:cubicBezTo>
                <a:lnTo>
                  <a:pt x="133059" y="34719"/>
                </a:lnTo>
                <a:cubicBezTo>
                  <a:pt x="134223" y="39118"/>
                  <a:pt x="132150" y="43771"/>
                  <a:pt x="128042" y="45807"/>
                </a:cubicBezTo>
                <a:lnTo>
                  <a:pt x="114336" y="52569"/>
                </a:lnTo>
                <a:cubicBezTo>
                  <a:pt x="114082" y="54423"/>
                  <a:pt x="113718" y="56277"/>
                  <a:pt x="113246" y="58095"/>
                </a:cubicBezTo>
                <a:cubicBezTo>
                  <a:pt x="112773" y="59913"/>
                  <a:pt x="112119" y="61731"/>
                  <a:pt x="111428" y="63439"/>
                </a:cubicBezTo>
                <a:lnTo>
                  <a:pt x="119899" y="76164"/>
                </a:lnTo>
                <a:cubicBezTo>
                  <a:pt x="122444" y="79981"/>
                  <a:pt x="121935" y="85034"/>
                  <a:pt x="118699" y="88270"/>
                </a:cubicBezTo>
                <a:lnTo>
                  <a:pt x="111719" y="95250"/>
                </a:lnTo>
                <a:cubicBezTo>
                  <a:pt x="108483" y="98486"/>
                  <a:pt x="103430" y="98995"/>
                  <a:pt x="99613" y="96450"/>
                </a:cubicBezTo>
                <a:lnTo>
                  <a:pt x="86888" y="87979"/>
                </a:lnTo>
                <a:cubicBezTo>
                  <a:pt x="83435" y="89397"/>
                  <a:pt x="79763" y="90415"/>
                  <a:pt x="76018" y="90924"/>
                </a:cubicBezTo>
                <a:lnTo>
                  <a:pt x="69256" y="104593"/>
                </a:lnTo>
                <a:cubicBezTo>
                  <a:pt x="67220" y="108701"/>
                  <a:pt x="62567" y="110774"/>
                  <a:pt x="58168" y="109610"/>
                </a:cubicBezTo>
                <a:lnTo>
                  <a:pt x="48643" y="107065"/>
                </a:lnTo>
                <a:cubicBezTo>
                  <a:pt x="44208" y="105866"/>
                  <a:pt x="41263" y="101721"/>
                  <a:pt x="41554" y="97177"/>
                </a:cubicBezTo>
                <a:lnTo>
                  <a:pt x="42535" y="81944"/>
                </a:lnTo>
                <a:cubicBezTo>
                  <a:pt x="39518" y="79617"/>
                  <a:pt x="36864" y="76927"/>
                  <a:pt x="34574" y="73946"/>
                </a:cubicBezTo>
                <a:lnTo>
                  <a:pt x="19304" y="74928"/>
                </a:lnTo>
                <a:cubicBezTo>
                  <a:pt x="14760" y="75218"/>
                  <a:pt x="10616" y="72237"/>
                  <a:pt x="9416" y="67838"/>
                </a:cubicBezTo>
                <a:lnTo>
                  <a:pt x="6871" y="58313"/>
                </a:lnTo>
                <a:cubicBezTo>
                  <a:pt x="5708" y="53914"/>
                  <a:pt x="7780" y="49261"/>
                  <a:pt x="11888" y="47225"/>
                </a:cubicBezTo>
                <a:lnTo>
                  <a:pt x="25594" y="40463"/>
                </a:lnTo>
                <a:cubicBezTo>
                  <a:pt x="25848" y="38609"/>
                  <a:pt x="26212" y="36791"/>
                  <a:pt x="26685" y="34937"/>
                </a:cubicBezTo>
                <a:cubicBezTo>
                  <a:pt x="27194" y="33083"/>
                  <a:pt x="27775" y="31302"/>
                  <a:pt x="28502" y="29593"/>
                </a:cubicBezTo>
                <a:lnTo>
                  <a:pt x="20032" y="16905"/>
                </a:lnTo>
                <a:cubicBezTo>
                  <a:pt x="17487" y="13088"/>
                  <a:pt x="17996" y="8034"/>
                  <a:pt x="21231" y="4799"/>
                </a:cubicBezTo>
                <a:lnTo>
                  <a:pt x="28211" y="-2181"/>
                </a:lnTo>
                <a:cubicBezTo>
                  <a:pt x="31447" y="-5417"/>
                  <a:pt x="36500" y="-5926"/>
                  <a:pt x="40318" y="-3381"/>
                </a:cubicBezTo>
                <a:lnTo>
                  <a:pt x="53042" y="5090"/>
                </a:lnTo>
                <a:cubicBezTo>
                  <a:pt x="56496" y="3672"/>
                  <a:pt x="60167" y="2654"/>
                  <a:pt x="63912" y="2145"/>
                </a:cubicBezTo>
                <a:lnTo>
                  <a:pt x="70674" y="-11525"/>
                </a:lnTo>
                <a:cubicBezTo>
                  <a:pt x="72710" y="-15633"/>
                  <a:pt x="77327" y="-17705"/>
                  <a:pt x="81762" y="-16542"/>
                </a:cubicBezTo>
                <a:close/>
                <a:moveTo>
                  <a:pt x="69947" y="30538"/>
                </a:moveTo>
                <a:cubicBezTo>
                  <a:pt x="61118" y="30538"/>
                  <a:pt x="53951" y="37706"/>
                  <a:pt x="53951" y="46534"/>
                </a:cubicBezTo>
                <a:cubicBezTo>
                  <a:pt x="53951" y="55363"/>
                  <a:pt x="61118" y="62531"/>
                  <a:pt x="69947" y="62531"/>
                </a:cubicBezTo>
                <a:cubicBezTo>
                  <a:pt x="78775" y="62531"/>
                  <a:pt x="85943" y="55363"/>
                  <a:pt x="85943" y="46534"/>
                </a:cubicBezTo>
                <a:cubicBezTo>
                  <a:pt x="85943" y="37706"/>
                  <a:pt x="78775" y="30538"/>
                  <a:pt x="69947" y="305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085802" y="1532532"/>
            <a:ext cx="2205728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Fine-Tuning?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7389" y="2016489"/>
            <a:ext cx="5416598" cy="48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adapts a pre-trained language model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a specific domain by training it on curated datasets, enabling specialization.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0492" y="2615231"/>
            <a:ext cx="5329734" cy="955505"/>
          </a:xfrm>
          <a:custGeom>
            <a:avLst/>
            <a:gdLst/>
            <a:ahLst/>
            <a:cxnLst/>
            <a:rect l="l" t="t" r="r" b="b"/>
            <a:pathLst>
              <a:path w="5329734" h="955505">
                <a:moveTo>
                  <a:pt x="74453" y="0"/>
                </a:moveTo>
                <a:lnTo>
                  <a:pt x="5255281" y="0"/>
                </a:lnTo>
                <a:cubicBezTo>
                  <a:pt x="5296401" y="0"/>
                  <a:pt x="5329734" y="33334"/>
                  <a:pt x="5329734" y="74453"/>
                </a:cubicBezTo>
                <a:lnTo>
                  <a:pt x="5329734" y="881052"/>
                </a:lnTo>
                <a:cubicBezTo>
                  <a:pt x="5329734" y="922172"/>
                  <a:pt x="5296401" y="955505"/>
                  <a:pt x="5255281" y="955505"/>
                </a:cubicBezTo>
                <a:lnTo>
                  <a:pt x="74453" y="955505"/>
                </a:lnTo>
                <a:cubicBezTo>
                  <a:pt x="33334" y="955505"/>
                  <a:pt x="0" y="922172"/>
                  <a:pt x="0" y="881052"/>
                </a:cubicBezTo>
                <a:lnTo>
                  <a:pt x="0" y="74453"/>
                </a:lnTo>
                <a:cubicBezTo>
                  <a:pt x="0" y="33361"/>
                  <a:pt x="33361" y="0"/>
                  <a:pt x="7445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276" y="2730015"/>
            <a:ext cx="5174620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Devlin et al. (2019)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demonstrated that fine-tuning significantly improves domain relevance and downstream task performance across various NLP applications.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5377" y="3843738"/>
            <a:ext cx="5646168" cy="1402235"/>
          </a:xfrm>
          <a:custGeom>
            <a:avLst/>
            <a:gdLst/>
            <a:ahLst/>
            <a:cxnLst/>
            <a:rect l="l" t="t" r="r" b="b"/>
            <a:pathLst>
              <a:path w="5646168" h="1402235">
                <a:moveTo>
                  <a:pt x="111688" y="0"/>
                </a:moveTo>
                <a:lnTo>
                  <a:pt x="5534480" y="0"/>
                </a:lnTo>
                <a:cubicBezTo>
                  <a:pt x="5596164" y="0"/>
                  <a:pt x="5646168" y="50004"/>
                  <a:pt x="5646168" y="111688"/>
                </a:cubicBezTo>
                <a:lnTo>
                  <a:pt x="5646168" y="1290547"/>
                </a:lnTo>
                <a:cubicBezTo>
                  <a:pt x="5646168" y="1352189"/>
                  <a:pt x="5596122" y="1402235"/>
                  <a:pt x="5534480" y="1402235"/>
                </a:cubicBezTo>
                <a:lnTo>
                  <a:pt x="111688" y="1402235"/>
                </a:lnTo>
                <a:cubicBezTo>
                  <a:pt x="50004" y="1402235"/>
                  <a:pt x="0" y="1352231"/>
                  <a:pt x="0" y="1290547"/>
                </a:cubicBezTo>
                <a:lnTo>
                  <a:pt x="0" y="111688"/>
                </a:lnTo>
                <a:cubicBezTo>
                  <a:pt x="0" y="50046"/>
                  <a:pt x="50046" y="0"/>
                  <a:pt x="11168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0186" y="4039184"/>
            <a:ext cx="188464" cy="167524"/>
          </a:xfrm>
          <a:custGeom>
            <a:avLst/>
            <a:gdLst/>
            <a:ahLst/>
            <a:cxnLst/>
            <a:rect l="l" t="t" r="r" b="b"/>
            <a:pathLst>
              <a:path w="188464" h="167524">
                <a:moveTo>
                  <a:pt x="15705" y="64065"/>
                </a:moveTo>
                <a:lnTo>
                  <a:pt x="84154" y="92236"/>
                </a:lnTo>
                <a:cubicBezTo>
                  <a:pt x="87361" y="93545"/>
                  <a:pt x="90764" y="94232"/>
                  <a:pt x="94232" y="94232"/>
                </a:cubicBezTo>
                <a:cubicBezTo>
                  <a:pt x="97700" y="94232"/>
                  <a:pt x="101103" y="93545"/>
                  <a:pt x="104310" y="92236"/>
                </a:cubicBezTo>
                <a:lnTo>
                  <a:pt x="183622" y="59582"/>
                </a:lnTo>
                <a:cubicBezTo>
                  <a:pt x="186566" y="58372"/>
                  <a:pt x="188464" y="55525"/>
                  <a:pt x="188464" y="52351"/>
                </a:cubicBezTo>
                <a:cubicBezTo>
                  <a:pt x="188464" y="49177"/>
                  <a:pt x="186566" y="46331"/>
                  <a:pt x="183622" y="45120"/>
                </a:cubicBezTo>
                <a:lnTo>
                  <a:pt x="104310" y="12466"/>
                </a:lnTo>
                <a:cubicBezTo>
                  <a:pt x="101103" y="11157"/>
                  <a:pt x="97700" y="10470"/>
                  <a:pt x="94232" y="10470"/>
                </a:cubicBezTo>
                <a:cubicBezTo>
                  <a:pt x="90764" y="10470"/>
                  <a:pt x="87361" y="11157"/>
                  <a:pt x="84154" y="12466"/>
                </a:cubicBezTo>
                <a:lnTo>
                  <a:pt x="4842" y="45120"/>
                </a:lnTo>
                <a:cubicBezTo>
                  <a:pt x="1898" y="46331"/>
                  <a:pt x="0" y="49177"/>
                  <a:pt x="0" y="52351"/>
                </a:cubicBezTo>
                <a:lnTo>
                  <a:pt x="0" y="149201"/>
                </a:lnTo>
                <a:cubicBezTo>
                  <a:pt x="0" y="153552"/>
                  <a:pt x="3501" y="157053"/>
                  <a:pt x="7853" y="157053"/>
                </a:cubicBezTo>
                <a:cubicBezTo>
                  <a:pt x="12204" y="157053"/>
                  <a:pt x="15705" y="153552"/>
                  <a:pt x="15705" y="149201"/>
                </a:cubicBezTo>
                <a:lnTo>
                  <a:pt x="15705" y="64065"/>
                </a:lnTo>
                <a:close/>
                <a:moveTo>
                  <a:pt x="31411" y="87525"/>
                </a:moveTo>
                <a:lnTo>
                  <a:pt x="31411" y="125643"/>
                </a:lnTo>
                <a:cubicBezTo>
                  <a:pt x="31411" y="142984"/>
                  <a:pt x="59549" y="157053"/>
                  <a:pt x="94232" y="157053"/>
                </a:cubicBezTo>
                <a:cubicBezTo>
                  <a:pt x="128915" y="157053"/>
                  <a:pt x="157053" y="142984"/>
                  <a:pt x="157053" y="125643"/>
                </a:cubicBezTo>
                <a:lnTo>
                  <a:pt x="157053" y="87492"/>
                </a:lnTo>
                <a:lnTo>
                  <a:pt x="110297" y="106764"/>
                </a:lnTo>
                <a:cubicBezTo>
                  <a:pt x="105193" y="108858"/>
                  <a:pt x="99762" y="109937"/>
                  <a:pt x="94232" y="109937"/>
                </a:cubicBezTo>
                <a:cubicBezTo>
                  <a:pt x="88702" y="109937"/>
                  <a:pt x="83271" y="108858"/>
                  <a:pt x="78167" y="106764"/>
                </a:cubicBezTo>
                <a:lnTo>
                  <a:pt x="31411" y="87492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796010" y="3995749"/>
            <a:ext cx="5157285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Applications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7389" y="4368024"/>
            <a:ext cx="5416598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academic applications, fine-tuning helps models understand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faculty-specific terminology 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course structures, and academic policies that general models may not capture.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4527" y="1306064"/>
            <a:ext cx="5646168" cy="2174705"/>
          </a:xfrm>
          <a:custGeom>
            <a:avLst/>
            <a:gdLst/>
            <a:ahLst/>
            <a:cxnLst/>
            <a:rect l="l" t="t" r="r" b="b"/>
            <a:pathLst>
              <a:path w="5646168" h="2174705">
                <a:moveTo>
                  <a:pt x="111693" y="0"/>
                </a:moveTo>
                <a:lnTo>
                  <a:pt x="5534475" y="0"/>
                </a:lnTo>
                <a:cubicBezTo>
                  <a:pt x="5596161" y="0"/>
                  <a:pt x="5646168" y="50007"/>
                  <a:pt x="5646168" y="111693"/>
                </a:cubicBezTo>
                <a:lnTo>
                  <a:pt x="5646168" y="2063012"/>
                </a:lnTo>
                <a:cubicBezTo>
                  <a:pt x="5646168" y="2124699"/>
                  <a:pt x="5596161" y="2174705"/>
                  <a:pt x="5534475" y="2174705"/>
                </a:cubicBezTo>
                <a:lnTo>
                  <a:pt x="111693" y="2174705"/>
                </a:lnTo>
                <a:cubicBezTo>
                  <a:pt x="50007" y="2174705"/>
                  <a:pt x="0" y="2124699"/>
                  <a:pt x="0" y="2063012"/>
                </a:cubicBezTo>
                <a:lnTo>
                  <a:pt x="0" y="111693"/>
                </a:lnTo>
                <a:cubicBezTo>
                  <a:pt x="0" y="50048"/>
                  <a:pt x="50048" y="0"/>
                  <a:pt x="11169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6539" y="1458077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74456" y="0"/>
                </a:moveTo>
                <a:lnTo>
                  <a:pt x="372273" y="0"/>
                </a:lnTo>
                <a:cubicBezTo>
                  <a:pt x="413394" y="0"/>
                  <a:pt x="446730" y="33335"/>
                  <a:pt x="446730" y="74456"/>
                </a:cubicBezTo>
                <a:lnTo>
                  <a:pt x="446730" y="372273"/>
                </a:lnTo>
                <a:cubicBezTo>
                  <a:pt x="446730" y="413394"/>
                  <a:pt x="413394" y="446730"/>
                  <a:pt x="372273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56835" y="1588373"/>
            <a:ext cx="186137" cy="186137"/>
          </a:xfrm>
          <a:custGeom>
            <a:avLst/>
            <a:gdLst/>
            <a:ahLst/>
            <a:cxnLst/>
            <a:rect l="l" t="t" r="r" b="b"/>
            <a:pathLst>
              <a:path w="186137" h="186137">
                <a:moveTo>
                  <a:pt x="93069" y="186137"/>
                </a:moveTo>
                <a:cubicBezTo>
                  <a:pt x="144435" y="186137"/>
                  <a:pt x="186137" y="144435"/>
                  <a:pt x="186137" y="93069"/>
                </a:cubicBezTo>
                <a:cubicBezTo>
                  <a:pt x="186137" y="41703"/>
                  <a:pt x="144435" y="0"/>
                  <a:pt x="93069" y="0"/>
                </a:cubicBezTo>
                <a:cubicBezTo>
                  <a:pt x="41703" y="0"/>
                  <a:pt x="0" y="41703"/>
                  <a:pt x="0" y="93069"/>
                </a:cubicBezTo>
                <a:cubicBezTo>
                  <a:pt x="0" y="144435"/>
                  <a:pt x="41703" y="186137"/>
                  <a:pt x="93069" y="186137"/>
                </a:cubicBezTo>
                <a:close/>
                <a:moveTo>
                  <a:pt x="93069" y="49443"/>
                </a:moveTo>
                <a:cubicBezTo>
                  <a:pt x="97904" y="49443"/>
                  <a:pt x="101794" y="53333"/>
                  <a:pt x="101794" y="58168"/>
                </a:cubicBezTo>
                <a:lnTo>
                  <a:pt x="101794" y="98885"/>
                </a:lnTo>
                <a:cubicBezTo>
                  <a:pt x="101794" y="103721"/>
                  <a:pt x="97904" y="107611"/>
                  <a:pt x="93069" y="107611"/>
                </a:cubicBezTo>
                <a:cubicBezTo>
                  <a:pt x="88233" y="107611"/>
                  <a:pt x="84344" y="103721"/>
                  <a:pt x="84344" y="98885"/>
                </a:cubicBezTo>
                <a:lnTo>
                  <a:pt x="84344" y="58168"/>
                </a:lnTo>
                <a:cubicBezTo>
                  <a:pt x="84344" y="53333"/>
                  <a:pt x="88233" y="49443"/>
                  <a:pt x="93069" y="49443"/>
                </a:cubicBezTo>
                <a:close/>
                <a:moveTo>
                  <a:pt x="83362" y="127969"/>
                </a:moveTo>
                <a:cubicBezTo>
                  <a:pt x="83141" y="124366"/>
                  <a:pt x="84938" y="120938"/>
                  <a:pt x="88027" y="119070"/>
                </a:cubicBezTo>
                <a:cubicBezTo>
                  <a:pt x="91115" y="117202"/>
                  <a:pt x="94986" y="117202"/>
                  <a:pt x="98074" y="119070"/>
                </a:cubicBezTo>
                <a:cubicBezTo>
                  <a:pt x="101163" y="120938"/>
                  <a:pt x="102960" y="124366"/>
                  <a:pt x="102739" y="127969"/>
                </a:cubicBezTo>
                <a:cubicBezTo>
                  <a:pt x="102960" y="131573"/>
                  <a:pt x="101163" y="135000"/>
                  <a:pt x="98074" y="136869"/>
                </a:cubicBezTo>
                <a:cubicBezTo>
                  <a:pt x="94986" y="138737"/>
                  <a:pt x="91115" y="138737"/>
                  <a:pt x="88027" y="136869"/>
                </a:cubicBezTo>
                <a:cubicBezTo>
                  <a:pt x="84938" y="135000"/>
                  <a:pt x="83141" y="131573"/>
                  <a:pt x="83362" y="12796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884952" y="1532532"/>
            <a:ext cx="1209893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26539" y="2016489"/>
            <a:ext cx="5416598" cy="48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However, fine-tuning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alone does not guarantee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factual correctness or adaptability to changing academic policies.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29642" y="2615231"/>
            <a:ext cx="5329734" cy="713527"/>
          </a:xfrm>
          <a:custGeom>
            <a:avLst/>
            <a:gdLst/>
            <a:ahLst/>
            <a:cxnLst/>
            <a:rect l="l" t="t" r="r" b="b"/>
            <a:pathLst>
              <a:path w="5329734" h="713527">
                <a:moveTo>
                  <a:pt x="74457" y="0"/>
                </a:moveTo>
                <a:lnTo>
                  <a:pt x="5255278" y="0"/>
                </a:lnTo>
                <a:cubicBezTo>
                  <a:pt x="5296399" y="0"/>
                  <a:pt x="5329734" y="33335"/>
                  <a:pt x="5329734" y="74457"/>
                </a:cubicBezTo>
                <a:lnTo>
                  <a:pt x="5329734" y="639070"/>
                </a:lnTo>
                <a:cubicBezTo>
                  <a:pt x="5329734" y="680191"/>
                  <a:pt x="5296399" y="713527"/>
                  <a:pt x="5255278" y="713527"/>
                </a:cubicBezTo>
                <a:lnTo>
                  <a:pt x="74457" y="713527"/>
                </a:lnTo>
                <a:cubicBezTo>
                  <a:pt x="33335" y="713527"/>
                  <a:pt x="0" y="680191"/>
                  <a:pt x="0" y="639070"/>
                </a:cubicBezTo>
                <a:lnTo>
                  <a:pt x="0" y="74457"/>
                </a:lnTo>
                <a:cubicBezTo>
                  <a:pt x="0" y="33363"/>
                  <a:pt x="33363" y="0"/>
                  <a:pt x="7445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4426" y="2730015"/>
            <a:ext cx="5174620" cy="48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Models may still generate plausible-sounding but incorrect information, especially when policies are updated or edge cases arise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(OpenAI, 2023)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4527" y="3601760"/>
            <a:ext cx="5646168" cy="2686583"/>
          </a:xfrm>
          <a:custGeom>
            <a:avLst/>
            <a:gdLst/>
            <a:ahLst/>
            <a:cxnLst/>
            <a:rect l="l" t="t" r="r" b="b"/>
            <a:pathLst>
              <a:path w="5646168" h="2686583">
                <a:moveTo>
                  <a:pt x="111681" y="0"/>
                </a:moveTo>
                <a:lnTo>
                  <a:pt x="5534487" y="0"/>
                </a:lnTo>
                <a:cubicBezTo>
                  <a:pt x="5596167" y="0"/>
                  <a:pt x="5646168" y="50001"/>
                  <a:pt x="5646168" y="111681"/>
                </a:cubicBezTo>
                <a:lnTo>
                  <a:pt x="5646168" y="2574902"/>
                </a:lnTo>
                <a:cubicBezTo>
                  <a:pt x="5646168" y="2636582"/>
                  <a:pt x="5596167" y="2686583"/>
                  <a:pt x="5534487" y="2686583"/>
                </a:cubicBezTo>
                <a:lnTo>
                  <a:pt x="111681" y="2686583"/>
                </a:lnTo>
                <a:cubicBezTo>
                  <a:pt x="50001" y="2686583"/>
                  <a:pt x="0" y="2636582"/>
                  <a:pt x="0" y="2574902"/>
                </a:cubicBezTo>
                <a:lnTo>
                  <a:pt x="0" y="111681"/>
                </a:lnTo>
                <a:cubicBezTo>
                  <a:pt x="0" y="50001"/>
                  <a:pt x="50001" y="0"/>
                  <a:pt x="111681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49806" y="3797205"/>
            <a:ext cx="167524" cy="167524"/>
          </a:xfrm>
          <a:custGeom>
            <a:avLst/>
            <a:gdLst/>
            <a:ahLst/>
            <a:cxnLst/>
            <a:rect l="l" t="t" r="r" b="b"/>
            <a:pathLst>
              <a:path w="167524" h="167524">
                <a:moveTo>
                  <a:pt x="20940" y="20940"/>
                </a:moveTo>
                <a:cubicBezTo>
                  <a:pt x="20940" y="15149"/>
                  <a:pt x="16262" y="10470"/>
                  <a:pt x="10470" y="10470"/>
                </a:cubicBezTo>
                <a:cubicBezTo>
                  <a:pt x="4679" y="10470"/>
                  <a:pt x="0" y="15149"/>
                  <a:pt x="0" y="20940"/>
                </a:cubicBezTo>
                <a:lnTo>
                  <a:pt x="0" y="130878"/>
                </a:lnTo>
                <a:cubicBezTo>
                  <a:pt x="0" y="145340"/>
                  <a:pt x="11714" y="157053"/>
                  <a:pt x="26176" y="157053"/>
                </a:cubicBezTo>
                <a:lnTo>
                  <a:pt x="157053" y="157053"/>
                </a:lnTo>
                <a:cubicBezTo>
                  <a:pt x="162845" y="157053"/>
                  <a:pt x="167524" y="152375"/>
                  <a:pt x="167524" y="146583"/>
                </a:cubicBezTo>
                <a:cubicBezTo>
                  <a:pt x="167524" y="140792"/>
                  <a:pt x="162845" y="136113"/>
                  <a:pt x="157053" y="136113"/>
                </a:cubicBezTo>
                <a:lnTo>
                  <a:pt x="26176" y="136113"/>
                </a:lnTo>
                <a:cubicBezTo>
                  <a:pt x="23296" y="136113"/>
                  <a:pt x="20940" y="133757"/>
                  <a:pt x="20940" y="130878"/>
                </a:cubicBezTo>
                <a:lnTo>
                  <a:pt x="20940" y="20940"/>
                </a:lnTo>
                <a:close/>
                <a:moveTo>
                  <a:pt x="153978" y="49276"/>
                </a:moveTo>
                <a:cubicBezTo>
                  <a:pt x="158068" y="45186"/>
                  <a:pt x="158068" y="38544"/>
                  <a:pt x="153978" y="34454"/>
                </a:cubicBezTo>
                <a:cubicBezTo>
                  <a:pt x="149888" y="30364"/>
                  <a:pt x="143246" y="30364"/>
                  <a:pt x="139156" y="34454"/>
                </a:cubicBezTo>
                <a:lnTo>
                  <a:pt x="104702" y="68940"/>
                </a:lnTo>
                <a:lnTo>
                  <a:pt x="85921" y="50192"/>
                </a:lnTo>
                <a:cubicBezTo>
                  <a:pt x="81831" y="46102"/>
                  <a:pt x="75189" y="46102"/>
                  <a:pt x="71099" y="50192"/>
                </a:cubicBezTo>
                <a:lnTo>
                  <a:pt x="39689" y="81602"/>
                </a:lnTo>
                <a:cubicBezTo>
                  <a:pt x="35599" y="85692"/>
                  <a:pt x="35599" y="92334"/>
                  <a:pt x="39689" y="96424"/>
                </a:cubicBezTo>
                <a:cubicBezTo>
                  <a:pt x="43779" y="100514"/>
                  <a:pt x="50421" y="100514"/>
                  <a:pt x="54511" y="96424"/>
                </a:cubicBezTo>
                <a:lnTo>
                  <a:pt x="78527" y="72408"/>
                </a:lnTo>
                <a:lnTo>
                  <a:pt x="97308" y="91189"/>
                </a:lnTo>
                <a:cubicBezTo>
                  <a:pt x="101398" y="95279"/>
                  <a:pt x="108040" y="95279"/>
                  <a:pt x="112130" y="91189"/>
                </a:cubicBezTo>
                <a:lnTo>
                  <a:pt x="154011" y="49308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95160" y="3753770"/>
            <a:ext cx="5157285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Impact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6539" y="4126045"/>
            <a:ext cx="5342144" cy="446730"/>
          </a:xfrm>
          <a:custGeom>
            <a:avLst/>
            <a:gdLst/>
            <a:ahLst/>
            <a:cxnLst/>
            <a:rect l="l" t="t" r="r" b="b"/>
            <a:pathLst>
              <a:path w="5342144" h="446730">
                <a:moveTo>
                  <a:pt x="74456" y="0"/>
                </a:moveTo>
                <a:lnTo>
                  <a:pt x="5267687" y="0"/>
                </a:lnTo>
                <a:cubicBezTo>
                  <a:pt x="5308808" y="0"/>
                  <a:pt x="5342144" y="33335"/>
                  <a:pt x="5342144" y="74456"/>
                </a:cubicBezTo>
                <a:lnTo>
                  <a:pt x="5342144" y="372273"/>
                </a:lnTo>
                <a:cubicBezTo>
                  <a:pt x="5342144" y="413394"/>
                  <a:pt x="5308808" y="446730"/>
                  <a:pt x="5267687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38222" y="4237727"/>
            <a:ext cx="1284348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Relevance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847642" y="4293569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96552" y="4293569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45462" y="4293569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94372" y="4293569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443282" y="4293569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26539" y="4647230"/>
            <a:ext cx="5342144" cy="446730"/>
          </a:xfrm>
          <a:custGeom>
            <a:avLst/>
            <a:gdLst/>
            <a:ahLst/>
            <a:cxnLst/>
            <a:rect l="l" t="t" r="r" b="b"/>
            <a:pathLst>
              <a:path w="5342144" h="446730">
                <a:moveTo>
                  <a:pt x="74456" y="0"/>
                </a:moveTo>
                <a:lnTo>
                  <a:pt x="5267687" y="0"/>
                </a:lnTo>
                <a:cubicBezTo>
                  <a:pt x="5308808" y="0"/>
                  <a:pt x="5342144" y="33335"/>
                  <a:pt x="5342144" y="74456"/>
                </a:cubicBezTo>
                <a:lnTo>
                  <a:pt x="5342144" y="372273"/>
                </a:lnTo>
                <a:cubicBezTo>
                  <a:pt x="5342144" y="413394"/>
                  <a:pt x="5308808" y="446730"/>
                  <a:pt x="5267687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38222" y="4758912"/>
            <a:ext cx="126573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Performance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47642" y="481475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96552" y="481475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145462" y="481475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Shape 36"/>
          <p:cNvSpPr/>
          <p:nvPr/>
        </p:nvSpPr>
        <p:spPr>
          <a:xfrm>
            <a:off x="11294372" y="481475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43282" y="481475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326539" y="5168415"/>
            <a:ext cx="5342144" cy="446730"/>
          </a:xfrm>
          <a:custGeom>
            <a:avLst/>
            <a:gdLst/>
            <a:ahLst/>
            <a:cxnLst/>
            <a:rect l="l" t="t" r="r" b="b"/>
            <a:pathLst>
              <a:path w="5342144" h="446730">
                <a:moveTo>
                  <a:pt x="74456" y="0"/>
                </a:moveTo>
                <a:lnTo>
                  <a:pt x="5267687" y="0"/>
                </a:lnTo>
                <a:cubicBezTo>
                  <a:pt x="5308808" y="0"/>
                  <a:pt x="5342144" y="33335"/>
                  <a:pt x="5342144" y="74456"/>
                </a:cubicBezTo>
                <a:lnTo>
                  <a:pt x="5342144" y="372273"/>
                </a:lnTo>
                <a:cubicBezTo>
                  <a:pt x="5342144" y="413394"/>
                  <a:pt x="5308808" y="446730"/>
                  <a:pt x="5267687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38222" y="5280097"/>
            <a:ext cx="1209893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Factual Accuracy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47642" y="5335938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96552" y="5335938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45462" y="5335938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294372" y="5335938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1443282" y="5335938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326539" y="5689599"/>
            <a:ext cx="5342144" cy="446730"/>
          </a:xfrm>
          <a:custGeom>
            <a:avLst/>
            <a:gdLst/>
            <a:ahLst/>
            <a:cxnLst/>
            <a:rect l="l" t="t" r="r" b="b"/>
            <a:pathLst>
              <a:path w="5342144" h="446730">
                <a:moveTo>
                  <a:pt x="74456" y="0"/>
                </a:moveTo>
                <a:lnTo>
                  <a:pt x="5267687" y="0"/>
                </a:lnTo>
                <a:cubicBezTo>
                  <a:pt x="5308808" y="0"/>
                  <a:pt x="5342144" y="33335"/>
                  <a:pt x="5342144" y="74456"/>
                </a:cubicBezTo>
                <a:lnTo>
                  <a:pt x="5342144" y="372273"/>
                </a:lnTo>
                <a:cubicBezTo>
                  <a:pt x="5342144" y="413394"/>
                  <a:pt x="5308808" y="446730"/>
                  <a:pt x="5267687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38222" y="5801282"/>
            <a:ext cx="1302962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Adaptability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847642" y="585712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996552" y="585712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1" name="Shape 49"/>
          <p:cNvSpPr/>
          <p:nvPr/>
        </p:nvSpPr>
        <p:spPr>
          <a:xfrm>
            <a:off x="11145462" y="585712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294372" y="585712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443282" y="5857123"/>
            <a:ext cx="111682" cy="111682"/>
          </a:xfrm>
          <a:custGeom>
            <a:avLst/>
            <a:gdLst/>
            <a:ahLst/>
            <a:cxnLst/>
            <a:rect l="l" t="t" r="r" b="b"/>
            <a:pathLst>
              <a:path w="111682" h="111682">
                <a:moveTo>
                  <a:pt x="55841" y="0"/>
                </a:moveTo>
                <a:lnTo>
                  <a:pt x="55841" y="0"/>
                </a:lnTo>
                <a:cubicBezTo>
                  <a:pt x="86661" y="0"/>
                  <a:pt x="111682" y="25022"/>
                  <a:pt x="111682" y="55841"/>
                </a:cubicBezTo>
                <a:lnTo>
                  <a:pt x="111682" y="55841"/>
                </a:lnTo>
                <a:cubicBezTo>
                  <a:pt x="111682" y="86661"/>
                  <a:pt x="86661" y="111682"/>
                  <a:pt x="55841" y="111682"/>
                </a:cubicBezTo>
                <a:lnTo>
                  <a:pt x="55841" y="111682"/>
                </a:lnTo>
                <a:cubicBezTo>
                  <a:pt x="25022" y="111682"/>
                  <a:pt x="0" y="86661"/>
                  <a:pt x="0" y="55841"/>
                </a:cubicBezTo>
                <a:lnTo>
                  <a:pt x="0" y="55841"/>
                </a:lnTo>
                <a:cubicBezTo>
                  <a:pt x="0" y="25022"/>
                  <a:pt x="25022" y="0"/>
                  <a:pt x="55841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375377" y="6406231"/>
            <a:ext cx="11444348" cy="452934"/>
          </a:xfrm>
          <a:custGeom>
            <a:avLst/>
            <a:gdLst/>
            <a:ahLst/>
            <a:cxnLst/>
            <a:rect l="l" t="t" r="r" b="b"/>
            <a:pathLst>
              <a:path w="11444348" h="452934">
                <a:moveTo>
                  <a:pt x="111685" y="0"/>
                </a:moveTo>
                <a:lnTo>
                  <a:pt x="11332664" y="0"/>
                </a:lnTo>
                <a:cubicBezTo>
                  <a:pt x="11394345" y="0"/>
                  <a:pt x="11444348" y="50003"/>
                  <a:pt x="11444348" y="111685"/>
                </a:cubicBezTo>
                <a:lnTo>
                  <a:pt x="11444348" y="341250"/>
                </a:lnTo>
                <a:cubicBezTo>
                  <a:pt x="11444348" y="402931"/>
                  <a:pt x="11394345" y="452934"/>
                  <a:pt x="11332664" y="452934"/>
                </a:cubicBezTo>
                <a:lnTo>
                  <a:pt x="111685" y="452934"/>
                </a:lnTo>
                <a:cubicBezTo>
                  <a:pt x="50003" y="452934"/>
                  <a:pt x="0" y="402931"/>
                  <a:pt x="0" y="341250"/>
                </a:cubicBezTo>
                <a:lnTo>
                  <a:pt x="0" y="111685"/>
                </a:lnTo>
                <a:cubicBezTo>
                  <a:pt x="0" y="50003"/>
                  <a:pt x="50003" y="0"/>
                  <a:pt x="11168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5063" y="6539628"/>
            <a:ext cx="162870" cy="186137"/>
          </a:xfrm>
          <a:custGeom>
            <a:avLst/>
            <a:gdLst/>
            <a:ahLst/>
            <a:cxnLst/>
            <a:rect l="l" t="t" r="r" b="b"/>
            <a:pathLst>
              <a:path w="162870" h="186137">
                <a:moveTo>
                  <a:pt x="139603" y="186137"/>
                </a:moveTo>
                <a:lnTo>
                  <a:pt x="34901" y="186137"/>
                </a:lnTo>
                <a:cubicBezTo>
                  <a:pt x="15633" y="186137"/>
                  <a:pt x="0" y="170505"/>
                  <a:pt x="0" y="151237"/>
                </a:cubicBezTo>
                <a:lnTo>
                  <a:pt x="0" y="34901"/>
                </a:lnTo>
                <a:cubicBezTo>
                  <a:pt x="0" y="15633"/>
                  <a:pt x="15633" y="0"/>
                  <a:pt x="34901" y="0"/>
                </a:cubicBezTo>
                <a:lnTo>
                  <a:pt x="145420" y="0"/>
                </a:lnTo>
                <a:cubicBezTo>
                  <a:pt x="155054" y="0"/>
                  <a:pt x="162870" y="7816"/>
                  <a:pt x="162870" y="17450"/>
                </a:cubicBezTo>
                <a:lnTo>
                  <a:pt x="162870" y="122153"/>
                </a:lnTo>
                <a:cubicBezTo>
                  <a:pt x="162870" y="129751"/>
                  <a:pt x="157999" y="136222"/>
                  <a:pt x="151237" y="138621"/>
                </a:cubicBezTo>
                <a:lnTo>
                  <a:pt x="151237" y="162870"/>
                </a:lnTo>
                <a:cubicBezTo>
                  <a:pt x="157671" y="162870"/>
                  <a:pt x="162870" y="168069"/>
                  <a:pt x="162870" y="174504"/>
                </a:cubicBezTo>
                <a:cubicBezTo>
                  <a:pt x="162870" y="180939"/>
                  <a:pt x="157671" y="186137"/>
                  <a:pt x="151237" y="186137"/>
                </a:cubicBezTo>
                <a:lnTo>
                  <a:pt x="139603" y="186137"/>
                </a:lnTo>
                <a:close/>
                <a:moveTo>
                  <a:pt x="34901" y="139603"/>
                </a:moveTo>
                <a:cubicBezTo>
                  <a:pt x="28466" y="139603"/>
                  <a:pt x="23267" y="144802"/>
                  <a:pt x="23267" y="151237"/>
                </a:cubicBezTo>
                <a:cubicBezTo>
                  <a:pt x="23267" y="157671"/>
                  <a:pt x="28466" y="162870"/>
                  <a:pt x="34901" y="162870"/>
                </a:cubicBezTo>
                <a:lnTo>
                  <a:pt x="127969" y="162870"/>
                </a:lnTo>
                <a:lnTo>
                  <a:pt x="127969" y="139603"/>
                </a:lnTo>
                <a:lnTo>
                  <a:pt x="34901" y="139603"/>
                </a:lnTo>
                <a:close/>
                <a:moveTo>
                  <a:pt x="46534" y="55260"/>
                </a:moveTo>
                <a:cubicBezTo>
                  <a:pt x="46534" y="60095"/>
                  <a:pt x="50424" y="63985"/>
                  <a:pt x="55260" y="63985"/>
                </a:cubicBezTo>
                <a:lnTo>
                  <a:pt x="119244" y="63985"/>
                </a:lnTo>
                <a:cubicBezTo>
                  <a:pt x="124079" y="63985"/>
                  <a:pt x="127969" y="60095"/>
                  <a:pt x="127969" y="55260"/>
                </a:cubicBezTo>
                <a:cubicBezTo>
                  <a:pt x="127969" y="50424"/>
                  <a:pt x="124079" y="46534"/>
                  <a:pt x="119244" y="46534"/>
                </a:cubicBezTo>
                <a:lnTo>
                  <a:pt x="55260" y="46534"/>
                </a:lnTo>
                <a:cubicBezTo>
                  <a:pt x="50424" y="46534"/>
                  <a:pt x="46534" y="50424"/>
                  <a:pt x="46534" y="55260"/>
                </a:cubicBezTo>
                <a:close/>
                <a:moveTo>
                  <a:pt x="55260" y="81435"/>
                </a:moveTo>
                <a:cubicBezTo>
                  <a:pt x="50424" y="81435"/>
                  <a:pt x="46534" y="85325"/>
                  <a:pt x="46534" y="90160"/>
                </a:cubicBezTo>
                <a:cubicBezTo>
                  <a:pt x="46534" y="94996"/>
                  <a:pt x="50424" y="98885"/>
                  <a:pt x="55260" y="98885"/>
                </a:cubicBezTo>
                <a:lnTo>
                  <a:pt x="119244" y="98885"/>
                </a:lnTo>
                <a:cubicBezTo>
                  <a:pt x="124079" y="98885"/>
                  <a:pt x="127969" y="94996"/>
                  <a:pt x="127969" y="90160"/>
                </a:cubicBezTo>
                <a:cubicBezTo>
                  <a:pt x="127969" y="85325"/>
                  <a:pt x="124079" y="81435"/>
                  <a:pt x="119244" y="81435"/>
                </a:cubicBezTo>
                <a:lnTo>
                  <a:pt x="55260" y="81435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834516" y="6521014"/>
            <a:ext cx="944453" cy="21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 Citation: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734374" y="6521014"/>
            <a:ext cx="2309073" cy="21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(Devlin et al., 2019; OpenAI, 2023)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38" y="368338"/>
            <a:ext cx="11519782" cy="184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b="1" spc="51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3 of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338" y="626175"/>
            <a:ext cx="1162107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 (RAG)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338" y="1105015"/>
            <a:ext cx="884012" cy="36834"/>
          </a:xfrm>
          <a:custGeom>
            <a:avLst/>
            <a:gdLst/>
            <a:ahLst/>
            <a:cxnLst/>
            <a:rect l="l" t="t" r="r" b="b"/>
            <a:pathLst>
              <a:path w="884012" h="36834">
                <a:moveTo>
                  <a:pt x="0" y="0"/>
                </a:moveTo>
                <a:lnTo>
                  <a:pt x="884012" y="0"/>
                </a:lnTo>
                <a:lnTo>
                  <a:pt x="884012" y="36834"/>
                </a:lnTo>
                <a:lnTo>
                  <a:pt x="0" y="36834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71408" y="1365921"/>
            <a:ext cx="5614091" cy="2925221"/>
          </a:xfrm>
          <a:custGeom>
            <a:avLst/>
            <a:gdLst/>
            <a:ahLst/>
            <a:cxnLst/>
            <a:rect l="l" t="t" r="r" b="b"/>
            <a:pathLst>
              <a:path w="5614091" h="2925221">
                <a:moveTo>
                  <a:pt x="110515" y="0"/>
                </a:moveTo>
                <a:lnTo>
                  <a:pt x="5503576" y="0"/>
                </a:lnTo>
                <a:cubicBezTo>
                  <a:pt x="5564611" y="0"/>
                  <a:pt x="5614091" y="49479"/>
                  <a:pt x="5614091" y="110515"/>
                </a:cubicBezTo>
                <a:lnTo>
                  <a:pt x="5614091" y="2814706"/>
                </a:lnTo>
                <a:cubicBezTo>
                  <a:pt x="5614091" y="2875741"/>
                  <a:pt x="5564611" y="2925221"/>
                  <a:pt x="5503576" y="2925221"/>
                </a:cubicBezTo>
                <a:lnTo>
                  <a:pt x="110515" y="2925221"/>
                </a:lnTo>
                <a:cubicBezTo>
                  <a:pt x="49479" y="2925221"/>
                  <a:pt x="0" y="2875741"/>
                  <a:pt x="0" y="2814706"/>
                </a:cubicBezTo>
                <a:lnTo>
                  <a:pt x="0" y="110515"/>
                </a:lnTo>
                <a:cubicBezTo>
                  <a:pt x="0" y="49520"/>
                  <a:pt x="49520" y="0"/>
                  <a:pt x="11051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5480" y="1589997"/>
            <a:ext cx="442006" cy="442006"/>
          </a:xfrm>
          <a:custGeom>
            <a:avLst/>
            <a:gdLst/>
            <a:ahLst/>
            <a:cxnLst/>
            <a:rect l="l" t="t" r="r" b="b"/>
            <a:pathLst>
              <a:path w="442006" h="442006">
                <a:moveTo>
                  <a:pt x="73669" y="0"/>
                </a:moveTo>
                <a:lnTo>
                  <a:pt x="368337" y="0"/>
                </a:lnTo>
                <a:cubicBezTo>
                  <a:pt x="408996" y="0"/>
                  <a:pt x="442006" y="33010"/>
                  <a:pt x="442006" y="73669"/>
                </a:cubicBezTo>
                <a:lnTo>
                  <a:pt x="442006" y="368337"/>
                </a:lnTo>
                <a:cubicBezTo>
                  <a:pt x="442006" y="408996"/>
                  <a:pt x="408996" y="442006"/>
                  <a:pt x="368337" y="442006"/>
                </a:cubicBezTo>
                <a:lnTo>
                  <a:pt x="73669" y="442006"/>
                </a:lnTo>
                <a:cubicBezTo>
                  <a:pt x="33010" y="442006"/>
                  <a:pt x="0" y="408996"/>
                  <a:pt x="0" y="368337"/>
                </a:cubicBezTo>
                <a:lnTo>
                  <a:pt x="0" y="73669"/>
                </a:lnTo>
                <a:cubicBezTo>
                  <a:pt x="0" y="33010"/>
                  <a:pt x="33010" y="0"/>
                  <a:pt x="73669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724399" y="1718915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83632" y="1870"/>
                </a:moveTo>
                <a:cubicBezTo>
                  <a:pt x="88991" y="-611"/>
                  <a:pt x="95178" y="-611"/>
                  <a:pt x="100538" y="1870"/>
                </a:cubicBezTo>
                <a:lnTo>
                  <a:pt x="179169" y="38201"/>
                </a:lnTo>
                <a:cubicBezTo>
                  <a:pt x="182227" y="39604"/>
                  <a:pt x="184169" y="42661"/>
                  <a:pt x="184169" y="46042"/>
                </a:cubicBezTo>
                <a:cubicBezTo>
                  <a:pt x="184169" y="49424"/>
                  <a:pt x="182227" y="52481"/>
                  <a:pt x="179169" y="53884"/>
                </a:cubicBezTo>
                <a:lnTo>
                  <a:pt x="100538" y="90214"/>
                </a:lnTo>
                <a:cubicBezTo>
                  <a:pt x="95178" y="92696"/>
                  <a:pt x="88991" y="92696"/>
                  <a:pt x="83632" y="90214"/>
                </a:cubicBezTo>
                <a:lnTo>
                  <a:pt x="5000" y="53884"/>
                </a:lnTo>
                <a:cubicBezTo>
                  <a:pt x="1942" y="52445"/>
                  <a:pt x="0" y="49388"/>
                  <a:pt x="0" y="46042"/>
                </a:cubicBezTo>
                <a:cubicBezTo>
                  <a:pt x="0" y="42697"/>
                  <a:pt x="1942" y="39604"/>
                  <a:pt x="5000" y="38201"/>
                </a:cubicBezTo>
                <a:lnTo>
                  <a:pt x="83632" y="1870"/>
                </a:lnTo>
                <a:close/>
                <a:moveTo>
                  <a:pt x="17302" y="78560"/>
                </a:moveTo>
                <a:lnTo>
                  <a:pt x="76401" y="105861"/>
                </a:lnTo>
                <a:cubicBezTo>
                  <a:pt x="86365" y="110466"/>
                  <a:pt x="97840" y="110466"/>
                  <a:pt x="107804" y="105861"/>
                </a:cubicBezTo>
                <a:lnTo>
                  <a:pt x="166903" y="78560"/>
                </a:lnTo>
                <a:lnTo>
                  <a:pt x="179169" y="84243"/>
                </a:lnTo>
                <a:cubicBezTo>
                  <a:pt x="182227" y="85646"/>
                  <a:pt x="184169" y="88703"/>
                  <a:pt x="184169" y="92085"/>
                </a:cubicBezTo>
                <a:cubicBezTo>
                  <a:pt x="184169" y="95466"/>
                  <a:pt x="182227" y="98523"/>
                  <a:pt x="179169" y="99926"/>
                </a:cubicBezTo>
                <a:lnTo>
                  <a:pt x="100538" y="136256"/>
                </a:lnTo>
                <a:cubicBezTo>
                  <a:pt x="95178" y="138738"/>
                  <a:pt x="88991" y="138738"/>
                  <a:pt x="83632" y="136256"/>
                </a:cubicBezTo>
                <a:lnTo>
                  <a:pt x="5000" y="99926"/>
                </a:lnTo>
                <a:cubicBezTo>
                  <a:pt x="1942" y="98487"/>
                  <a:pt x="0" y="95430"/>
                  <a:pt x="0" y="92085"/>
                </a:cubicBezTo>
                <a:cubicBezTo>
                  <a:pt x="0" y="88739"/>
                  <a:pt x="1942" y="85646"/>
                  <a:pt x="5000" y="84243"/>
                </a:cubicBezTo>
                <a:lnTo>
                  <a:pt x="17266" y="78560"/>
                </a:lnTo>
                <a:close/>
                <a:moveTo>
                  <a:pt x="5000" y="130285"/>
                </a:moveTo>
                <a:lnTo>
                  <a:pt x="17266" y="124602"/>
                </a:lnTo>
                <a:lnTo>
                  <a:pt x="76365" y="151904"/>
                </a:lnTo>
                <a:cubicBezTo>
                  <a:pt x="86329" y="156508"/>
                  <a:pt x="97804" y="156508"/>
                  <a:pt x="107768" y="151904"/>
                </a:cubicBezTo>
                <a:lnTo>
                  <a:pt x="166867" y="124602"/>
                </a:lnTo>
                <a:lnTo>
                  <a:pt x="179133" y="130285"/>
                </a:lnTo>
                <a:cubicBezTo>
                  <a:pt x="182191" y="131688"/>
                  <a:pt x="184133" y="134746"/>
                  <a:pt x="184133" y="138127"/>
                </a:cubicBezTo>
                <a:cubicBezTo>
                  <a:pt x="184133" y="141508"/>
                  <a:pt x="182191" y="144566"/>
                  <a:pt x="179133" y="145968"/>
                </a:cubicBezTo>
                <a:lnTo>
                  <a:pt x="100502" y="182299"/>
                </a:lnTo>
                <a:cubicBezTo>
                  <a:pt x="95142" y="184781"/>
                  <a:pt x="88955" y="184781"/>
                  <a:pt x="83596" y="182299"/>
                </a:cubicBezTo>
                <a:lnTo>
                  <a:pt x="5000" y="145968"/>
                </a:lnTo>
                <a:cubicBezTo>
                  <a:pt x="1942" y="144530"/>
                  <a:pt x="0" y="141472"/>
                  <a:pt x="0" y="138127"/>
                </a:cubicBezTo>
                <a:cubicBezTo>
                  <a:pt x="0" y="134782"/>
                  <a:pt x="1942" y="131688"/>
                  <a:pt x="5000" y="13028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47988" y="1663665"/>
            <a:ext cx="1445728" cy="29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RAG?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5480" y="2179338"/>
            <a:ext cx="5239613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 (RAG) </a:t>
            </a:r>
            <a:pPr>
              <a:lnSpc>
                <a:spcPct val="140000"/>
              </a:lnSpc>
            </a:pPr>
            <a:r>
              <a:rPr lang="en-US" sz="116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document retrieval with text generation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creating a hybrid approach that grounds AI responses in verified sources.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8550" y="3048003"/>
            <a:ext cx="5162876" cy="1019069"/>
          </a:xfrm>
          <a:custGeom>
            <a:avLst/>
            <a:gdLst/>
            <a:ahLst/>
            <a:cxnLst/>
            <a:rect l="l" t="t" r="r" b="b"/>
            <a:pathLst>
              <a:path w="5162876" h="1019069">
                <a:moveTo>
                  <a:pt x="73669" y="0"/>
                </a:moveTo>
                <a:lnTo>
                  <a:pt x="5089208" y="0"/>
                </a:lnTo>
                <a:cubicBezTo>
                  <a:pt x="5129894" y="0"/>
                  <a:pt x="5162876" y="32983"/>
                  <a:pt x="5162876" y="73669"/>
                </a:cubicBezTo>
                <a:lnTo>
                  <a:pt x="5162876" y="945401"/>
                </a:lnTo>
                <a:cubicBezTo>
                  <a:pt x="5162876" y="986087"/>
                  <a:pt x="5129894" y="1019069"/>
                  <a:pt x="5089208" y="1019069"/>
                </a:cubicBezTo>
                <a:lnTo>
                  <a:pt x="73669" y="1019069"/>
                </a:lnTo>
                <a:cubicBezTo>
                  <a:pt x="32983" y="1019069"/>
                  <a:pt x="0" y="986087"/>
                  <a:pt x="0" y="945401"/>
                </a:cubicBezTo>
                <a:lnTo>
                  <a:pt x="0" y="73669"/>
                </a:lnTo>
                <a:cubicBezTo>
                  <a:pt x="0" y="33010"/>
                  <a:pt x="33010" y="0"/>
                  <a:pt x="7366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8955" y="3198406"/>
            <a:ext cx="4935734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Lewis et al. (2020)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demonstrated that RAG significantly improves factual accuracy in knowledge-intensive tasks by grounding responses in retrieved documents rather than relying solely on parametric knowledge.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1408" y="4484523"/>
            <a:ext cx="5614091" cy="1461076"/>
          </a:xfrm>
          <a:custGeom>
            <a:avLst/>
            <a:gdLst/>
            <a:ahLst/>
            <a:cxnLst/>
            <a:rect l="l" t="t" r="r" b="b"/>
            <a:pathLst>
              <a:path w="5614091" h="1461076">
                <a:moveTo>
                  <a:pt x="110501" y="0"/>
                </a:moveTo>
                <a:lnTo>
                  <a:pt x="5503589" y="0"/>
                </a:lnTo>
                <a:cubicBezTo>
                  <a:pt x="5564618" y="0"/>
                  <a:pt x="5614091" y="49473"/>
                  <a:pt x="5614091" y="110501"/>
                </a:cubicBezTo>
                <a:lnTo>
                  <a:pt x="5614091" y="1350574"/>
                </a:lnTo>
                <a:cubicBezTo>
                  <a:pt x="5614091" y="1411602"/>
                  <a:pt x="5564618" y="1461076"/>
                  <a:pt x="5503589" y="1461076"/>
                </a:cubicBezTo>
                <a:lnTo>
                  <a:pt x="110501" y="1461076"/>
                </a:lnTo>
                <a:cubicBezTo>
                  <a:pt x="49473" y="1461076"/>
                  <a:pt x="0" y="1411602"/>
                  <a:pt x="0" y="1350574"/>
                </a:cubicBezTo>
                <a:lnTo>
                  <a:pt x="0" y="110501"/>
                </a:lnTo>
                <a:cubicBezTo>
                  <a:pt x="0" y="49473"/>
                  <a:pt x="49473" y="0"/>
                  <a:pt x="110501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387" y="4714731"/>
            <a:ext cx="124314" cy="165752"/>
          </a:xfrm>
          <a:custGeom>
            <a:avLst/>
            <a:gdLst/>
            <a:ahLst/>
            <a:cxnLst/>
            <a:rect l="l" t="t" r="r" b="b"/>
            <a:pathLst>
              <a:path w="124314" h="165752">
                <a:moveTo>
                  <a:pt x="80901" y="21625"/>
                </a:moveTo>
                <a:cubicBezTo>
                  <a:pt x="84268" y="16996"/>
                  <a:pt x="83232" y="10521"/>
                  <a:pt x="78603" y="7155"/>
                </a:cubicBezTo>
                <a:cubicBezTo>
                  <a:pt x="73973" y="3788"/>
                  <a:pt x="67499" y="4824"/>
                  <a:pt x="64132" y="9453"/>
                </a:cubicBezTo>
                <a:lnTo>
                  <a:pt x="29816" y="56621"/>
                </a:lnTo>
                <a:lnTo>
                  <a:pt x="17676" y="44481"/>
                </a:lnTo>
                <a:cubicBezTo>
                  <a:pt x="13629" y="40434"/>
                  <a:pt x="7057" y="40434"/>
                  <a:pt x="3011" y="44481"/>
                </a:cubicBezTo>
                <a:cubicBezTo>
                  <a:pt x="-1036" y="48528"/>
                  <a:pt x="-1036" y="55100"/>
                  <a:pt x="3011" y="59146"/>
                </a:cubicBezTo>
                <a:lnTo>
                  <a:pt x="23730" y="79865"/>
                </a:lnTo>
                <a:cubicBezTo>
                  <a:pt x="25866" y="82002"/>
                  <a:pt x="28845" y="83103"/>
                  <a:pt x="31856" y="82876"/>
                </a:cubicBezTo>
                <a:cubicBezTo>
                  <a:pt x="34866" y="82650"/>
                  <a:pt x="37650" y="81096"/>
                  <a:pt x="39431" y="78635"/>
                </a:cubicBezTo>
                <a:lnTo>
                  <a:pt x="80869" y="21658"/>
                </a:lnTo>
                <a:close/>
                <a:moveTo>
                  <a:pt x="122339" y="65653"/>
                </a:moveTo>
                <a:cubicBezTo>
                  <a:pt x="125706" y="61024"/>
                  <a:pt x="124670" y="54549"/>
                  <a:pt x="120041" y="51182"/>
                </a:cubicBezTo>
                <a:cubicBezTo>
                  <a:pt x="115411" y="47816"/>
                  <a:pt x="108937" y="48852"/>
                  <a:pt x="105570" y="53481"/>
                </a:cubicBezTo>
                <a:lnTo>
                  <a:pt x="50535" y="129138"/>
                </a:lnTo>
                <a:lnTo>
                  <a:pt x="28035" y="106638"/>
                </a:lnTo>
                <a:cubicBezTo>
                  <a:pt x="23989" y="102592"/>
                  <a:pt x="17417" y="102592"/>
                  <a:pt x="13370" y="106638"/>
                </a:cubicBezTo>
                <a:cubicBezTo>
                  <a:pt x="9324" y="110685"/>
                  <a:pt x="9324" y="117257"/>
                  <a:pt x="13370" y="121303"/>
                </a:cubicBezTo>
                <a:lnTo>
                  <a:pt x="44449" y="152382"/>
                </a:lnTo>
                <a:cubicBezTo>
                  <a:pt x="46585" y="154519"/>
                  <a:pt x="49564" y="155619"/>
                  <a:pt x="52575" y="155393"/>
                </a:cubicBezTo>
                <a:cubicBezTo>
                  <a:pt x="55585" y="155166"/>
                  <a:pt x="58369" y="153612"/>
                  <a:pt x="60150" y="151152"/>
                </a:cubicBezTo>
                <a:lnTo>
                  <a:pt x="122307" y="6568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Text 12"/>
          <p:cNvSpPr/>
          <p:nvPr/>
        </p:nvSpPr>
        <p:spPr>
          <a:xfrm>
            <a:off x="823856" y="4671760"/>
            <a:ext cx="5057280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RAG for Academic Advising?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647" y="5040098"/>
            <a:ext cx="5313281" cy="71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is </a:t>
            </a:r>
            <a:pPr>
              <a:lnSpc>
                <a:spcPct val="140000"/>
              </a:lnSpc>
            </a:pPr>
            <a:r>
              <a:rPr lang="en-US" sz="1160" b="1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particularly suitable </a:t>
            </a:r>
            <a:pPr>
              <a:lnSpc>
                <a:spcPct val="140000"/>
              </a:lnSpc>
            </a:pPr>
            <a:r>
              <a:rPr lang="en-US" sz="116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academic advising because it ensures answers are aligned with official programme and faculty documents rather than relying solely on model memory.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1585" y="1365921"/>
            <a:ext cx="5614091" cy="2925221"/>
          </a:xfrm>
          <a:custGeom>
            <a:avLst/>
            <a:gdLst/>
            <a:ahLst/>
            <a:cxnLst/>
            <a:rect l="l" t="t" r="r" b="b"/>
            <a:pathLst>
              <a:path w="5614091" h="2925221">
                <a:moveTo>
                  <a:pt x="110515" y="0"/>
                </a:moveTo>
                <a:lnTo>
                  <a:pt x="5503576" y="0"/>
                </a:lnTo>
                <a:cubicBezTo>
                  <a:pt x="5564611" y="0"/>
                  <a:pt x="5614091" y="49479"/>
                  <a:pt x="5614091" y="110515"/>
                </a:cubicBezTo>
                <a:lnTo>
                  <a:pt x="5614091" y="2814706"/>
                </a:lnTo>
                <a:cubicBezTo>
                  <a:pt x="5614091" y="2875741"/>
                  <a:pt x="5564611" y="2925221"/>
                  <a:pt x="5503576" y="2925221"/>
                </a:cubicBezTo>
                <a:lnTo>
                  <a:pt x="110515" y="2925221"/>
                </a:lnTo>
                <a:cubicBezTo>
                  <a:pt x="49479" y="2925221"/>
                  <a:pt x="0" y="2875741"/>
                  <a:pt x="0" y="2814706"/>
                </a:cubicBezTo>
                <a:lnTo>
                  <a:pt x="0" y="110515"/>
                </a:lnTo>
                <a:cubicBezTo>
                  <a:pt x="0" y="49520"/>
                  <a:pt x="49520" y="0"/>
                  <a:pt x="11051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8824" y="1583855"/>
            <a:ext cx="230211" cy="184169"/>
          </a:xfrm>
          <a:custGeom>
            <a:avLst/>
            <a:gdLst/>
            <a:ahLst/>
            <a:cxnLst/>
            <a:rect l="l" t="t" r="r" b="b"/>
            <a:pathLst>
              <a:path w="230211" h="184169">
                <a:moveTo>
                  <a:pt x="149601" y="75718"/>
                </a:moveTo>
                <a:cubicBezTo>
                  <a:pt x="153990" y="74531"/>
                  <a:pt x="158594" y="76617"/>
                  <a:pt x="160573" y="80682"/>
                </a:cubicBezTo>
                <a:lnTo>
                  <a:pt x="167263" y="94207"/>
                </a:lnTo>
                <a:cubicBezTo>
                  <a:pt x="170968" y="94710"/>
                  <a:pt x="174601" y="95718"/>
                  <a:pt x="178018" y="97120"/>
                </a:cubicBezTo>
                <a:lnTo>
                  <a:pt x="190608" y="88739"/>
                </a:lnTo>
                <a:cubicBezTo>
                  <a:pt x="194385" y="86221"/>
                  <a:pt x="199385" y="86725"/>
                  <a:pt x="202586" y="89926"/>
                </a:cubicBezTo>
                <a:lnTo>
                  <a:pt x="209492" y="96833"/>
                </a:lnTo>
                <a:cubicBezTo>
                  <a:pt x="212694" y="100034"/>
                  <a:pt x="213197" y="105070"/>
                  <a:pt x="210679" y="108811"/>
                </a:cubicBezTo>
                <a:lnTo>
                  <a:pt x="202298" y="121365"/>
                </a:lnTo>
                <a:cubicBezTo>
                  <a:pt x="202982" y="123055"/>
                  <a:pt x="203593" y="124818"/>
                  <a:pt x="204097" y="126652"/>
                </a:cubicBezTo>
                <a:cubicBezTo>
                  <a:pt x="204600" y="128487"/>
                  <a:pt x="204924" y="130285"/>
                  <a:pt x="205176" y="132120"/>
                </a:cubicBezTo>
                <a:lnTo>
                  <a:pt x="218737" y="138810"/>
                </a:lnTo>
                <a:cubicBezTo>
                  <a:pt x="222802" y="140825"/>
                  <a:pt x="224888" y="145429"/>
                  <a:pt x="223701" y="149781"/>
                </a:cubicBezTo>
                <a:lnTo>
                  <a:pt x="221183" y="159206"/>
                </a:lnTo>
                <a:cubicBezTo>
                  <a:pt x="219996" y="163558"/>
                  <a:pt x="215931" y="166508"/>
                  <a:pt x="211399" y="166220"/>
                </a:cubicBezTo>
                <a:lnTo>
                  <a:pt x="196291" y="165249"/>
                </a:lnTo>
                <a:cubicBezTo>
                  <a:pt x="194025" y="168162"/>
                  <a:pt x="191399" y="170860"/>
                  <a:pt x="188414" y="173162"/>
                </a:cubicBezTo>
                <a:lnTo>
                  <a:pt x="189385" y="188234"/>
                </a:lnTo>
                <a:cubicBezTo>
                  <a:pt x="189673" y="192766"/>
                  <a:pt x="186723" y="196867"/>
                  <a:pt x="182371" y="198018"/>
                </a:cubicBezTo>
                <a:lnTo>
                  <a:pt x="172946" y="200536"/>
                </a:lnTo>
                <a:cubicBezTo>
                  <a:pt x="168558" y="201723"/>
                  <a:pt x="163990" y="199637"/>
                  <a:pt x="161975" y="195572"/>
                </a:cubicBezTo>
                <a:lnTo>
                  <a:pt x="155285" y="182047"/>
                </a:lnTo>
                <a:cubicBezTo>
                  <a:pt x="151580" y="181543"/>
                  <a:pt x="147947" y="180536"/>
                  <a:pt x="144530" y="179133"/>
                </a:cubicBezTo>
                <a:lnTo>
                  <a:pt x="131940" y="187514"/>
                </a:lnTo>
                <a:cubicBezTo>
                  <a:pt x="128163" y="190032"/>
                  <a:pt x="123163" y="189529"/>
                  <a:pt x="119962" y="186327"/>
                </a:cubicBezTo>
                <a:lnTo>
                  <a:pt x="113055" y="179421"/>
                </a:lnTo>
                <a:cubicBezTo>
                  <a:pt x="109854" y="176220"/>
                  <a:pt x="109350" y="171220"/>
                  <a:pt x="111868" y="167443"/>
                </a:cubicBezTo>
                <a:lnTo>
                  <a:pt x="120250" y="154853"/>
                </a:lnTo>
                <a:cubicBezTo>
                  <a:pt x="119566" y="153163"/>
                  <a:pt x="118955" y="151400"/>
                  <a:pt x="118451" y="149566"/>
                </a:cubicBezTo>
                <a:cubicBezTo>
                  <a:pt x="117947" y="147731"/>
                  <a:pt x="117624" y="145897"/>
                  <a:pt x="117372" y="144098"/>
                </a:cubicBezTo>
                <a:lnTo>
                  <a:pt x="103811" y="137407"/>
                </a:lnTo>
                <a:cubicBezTo>
                  <a:pt x="99746" y="135393"/>
                  <a:pt x="97696" y="130789"/>
                  <a:pt x="98847" y="126436"/>
                </a:cubicBezTo>
                <a:lnTo>
                  <a:pt x="101365" y="117012"/>
                </a:lnTo>
                <a:cubicBezTo>
                  <a:pt x="102552" y="112660"/>
                  <a:pt x="106617" y="109710"/>
                  <a:pt x="111149" y="109998"/>
                </a:cubicBezTo>
                <a:lnTo>
                  <a:pt x="126221" y="110969"/>
                </a:lnTo>
                <a:cubicBezTo>
                  <a:pt x="128487" y="108056"/>
                  <a:pt x="131113" y="105358"/>
                  <a:pt x="134098" y="103056"/>
                </a:cubicBezTo>
                <a:lnTo>
                  <a:pt x="133127" y="88020"/>
                </a:lnTo>
                <a:cubicBezTo>
                  <a:pt x="132839" y="83488"/>
                  <a:pt x="135789" y="79387"/>
                  <a:pt x="140141" y="78236"/>
                </a:cubicBezTo>
                <a:lnTo>
                  <a:pt x="149566" y="75718"/>
                </a:lnTo>
                <a:close/>
                <a:moveTo>
                  <a:pt x="161292" y="122300"/>
                </a:moveTo>
                <a:cubicBezTo>
                  <a:pt x="152557" y="122310"/>
                  <a:pt x="145473" y="129410"/>
                  <a:pt x="145483" y="138145"/>
                </a:cubicBezTo>
                <a:cubicBezTo>
                  <a:pt x="145493" y="146880"/>
                  <a:pt x="152593" y="153964"/>
                  <a:pt x="161328" y="153954"/>
                </a:cubicBezTo>
                <a:cubicBezTo>
                  <a:pt x="170063" y="153944"/>
                  <a:pt x="177147" y="146844"/>
                  <a:pt x="177137" y="138109"/>
                </a:cubicBezTo>
                <a:cubicBezTo>
                  <a:pt x="177127" y="129374"/>
                  <a:pt x="170027" y="122290"/>
                  <a:pt x="161292" y="122300"/>
                </a:cubicBezTo>
                <a:close/>
                <a:moveTo>
                  <a:pt x="80898" y="-16367"/>
                </a:moveTo>
                <a:lnTo>
                  <a:pt x="90322" y="-13849"/>
                </a:lnTo>
                <a:cubicBezTo>
                  <a:pt x="94674" y="-12662"/>
                  <a:pt x="97624" y="-8561"/>
                  <a:pt x="97336" y="-4065"/>
                </a:cubicBezTo>
                <a:lnTo>
                  <a:pt x="96365" y="10971"/>
                </a:lnTo>
                <a:cubicBezTo>
                  <a:pt x="99351" y="13273"/>
                  <a:pt x="101976" y="15935"/>
                  <a:pt x="104243" y="18885"/>
                </a:cubicBezTo>
                <a:lnTo>
                  <a:pt x="119350" y="17913"/>
                </a:lnTo>
                <a:cubicBezTo>
                  <a:pt x="123847" y="17626"/>
                  <a:pt x="127947" y="20575"/>
                  <a:pt x="129134" y="24928"/>
                </a:cubicBezTo>
                <a:lnTo>
                  <a:pt x="131652" y="34352"/>
                </a:lnTo>
                <a:cubicBezTo>
                  <a:pt x="132803" y="38704"/>
                  <a:pt x="130753" y="43309"/>
                  <a:pt x="126688" y="45323"/>
                </a:cubicBezTo>
                <a:lnTo>
                  <a:pt x="113127" y="52013"/>
                </a:lnTo>
                <a:cubicBezTo>
                  <a:pt x="112876" y="53848"/>
                  <a:pt x="112516" y="55682"/>
                  <a:pt x="112048" y="57481"/>
                </a:cubicBezTo>
                <a:cubicBezTo>
                  <a:pt x="111581" y="59279"/>
                  <a:pt x="110933" y="61078"/>
                  <a:pt x="110250" y="62769"/>
                </a:cubicBezTo>
                <a:lnTo>
                  <a:pt x="118631" y="75358"/>
                </a:lnTo>
                <a:cubicBezTo>
                  <a:pt x="121149" y="79135"/>
                  <a:pt x="120645" y="84135"/>
                  <a:pt x="117444" y="87336"/>
                </a:cubicBezTo>
                <a:lnTo>
                  <a:pt x="110537" y="94243"/>
                </a:lnTo>
                <a:cubicBezTo>
                  <a:pt x="107336" y="97444"/>
                  <a:pt x="102336" y="97948"/>
                  <a:pt x="98559" y="95430"/>
                </a:cubicBezTo>
                <a:lnTo>
                  <a:pt x="85970" y="87049"/>
                </a:lnTo>
                <a:cubicBezTo>
                  <a:pt x="82552" y="88452"/>
                  <a:pt x="78919" y="89459"/>
                  <a:pt x="75214" y="89962"/>
                </a:cubicBezTo>
                <a:lnTo>
                  <a:pt x="68524" y="103487"/>
                </a:lnTo>
                <a:cubicBezTo>
                  <a:pt x="66510" y="107552"/>
                  <a:pt x="61905" y="109602"/>
                  <a:pt x="57553" y="108451"/>
                </a:cubicBezTo>
                <a:lnTo>
                  <a:pt x="48129" y="105933"/>
                </a:lnTo>
                <a:cubicBezTo>
                  <a:pt x="43740" y="104746"/>
                  <a:pt x="40827" y="100646"/>
                  <a:pt x="41114" y="96149"/>
                </a:cubicBezTo>
                <a:lnTo>
                  <a:pt x="42086" y="81078"/>
                </a:lnTo>
                <a:cubicBezTo>
                  <a:pt x="39100" y="78775"/>
                  <a:pt x="36474" y="76114"/>
                  <a:pt x="34208" y="73164"/>
                </a:cubicBezTo>
                <a:lnTo>
                  <a:pt x="19100" y="74135"/>
                </a:lnTo>
                <a:cubicBezTo>
                  <a:pt x="14604" y="74423"/>
                  <a:pt x="10503" y="71473"/>
                  <a:pt x="9316" y="67121"/>
                </a:cubicBezTo>
                <a:lnTo>
                  <a:pt x="6798" y="57697"/>
                </a:lnTo>
                <a:cubicBezTo>
                  <a:pt x="5647" y="53344"/>
                  <a:pt x="7698" y="48740"/>
                  <a:pt x="11762" y="46726"/>
                </a:cubicBezTo>
                <a:lnTo>
                  <a:pt x="25323" y="40035"/>
                </a:lnTo>
                <a:cubicBezTo>
                  <a:pt x="25575" y="38201"/>
                  <a:pt x="25935" y="36402"/>
                  <a:pt x="26402" y="34568"/>
                </a:cubicBezTo>
                <a:cubicBezTo>
                  <a:pt x="26906" y="32733"/>
                  <a:pt x="27481" y="30971"/>
                  <a:pt x="28201" y="29280"/>
                </a:cubicBezTo>
                <a:lnTo>
                  <a:pt x="19820" y="16726"/>
                </a:lnTo>
                <a:cubicBezTo>
                  <a:pt x="17302" y="12949"/>
                  <a:pt x="17805" y="7949"/>
                  <a:pt x="21007" y="4748"/>
                </a:cubicBezTo>
                <a:lnTo>
                  <a:pt x="27913" y="-2158"/>
                </a:lnTo>
                <a:cubicBezTo>
                  <a:pt x="31115" y="-5360"/>
                  <a:pt x="36114" y="-5863"/>
                  <a:pt x="39891" y="-3345"/>
                </a:cubicBezTo>
                <a:lnTo>
                  <a:pt x="52481" y="5036"/>
                </a:lnTo>
                <a:cubicBezTo>
                  <a:pt x="55898" y="3633"/>
                  <a:pt x="59531" y="2626"/>
                  <a:pt x="63236" y="2122"/>
                </a:cubicBezTo>
                <a:lnTo>
                  <a:pt x="69927" y="-11403"/>
                </a:lnTo>
                <a:cubicBezTo>
                  <a:pt x="71941" y="-15467"/>
                  <a:pt x="76509" y="-17518"/>
                  <a:pt x="80898" y="-16367"/>
                </a:cubicBezTo>
                <a:close/>
                <a:moveTo>
                  <a:pt x="69207" y="30215"/>
                </a:moveTo>
                <a:cubicBezTo>
                  <a:pt x="60472" y="30215"/>
                  <a:pt x="53380" y="37307"/>
                  <a:pt x="53380" y="46042"/>
                </a:cubicBezTo>
                <a:cubicBezTo>
                  <a:pt x="53380" y="54777"/>
                  <a:pt x="60472" y="61869"/>
                  <a:pt x="69207" y="61869"/>
                </a:cubicBezTo>
                <a:cubicBezTo>
                  <a:pt x="77943" y="61869"/>
                  <a:pt x="85034" y="54777"/>
                  <a:pt x="85034" y="46042"/>
                </a:cubicBezTo>
                <a:cubicBezTo>
                  <a:pt x="85034" y="37307"/>
                  <a:pt x="77943" y="30215"/>
                  <a:pt x="69207" y="30215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682450" y="1553163"/>
            <a:ext cx="5048072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Workflow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98824" y="2001307"/>
            <a:ext cx="368338" cy="368338"/>
          </a:xfrm>
          <a:custGeom>
            <a:avLst/>
            <a:gdLst/>
            <a:ahLst/>
            <a:cxnLst/>
            <a:rect l="l" t="t" r="r" b="b"/>
            <a:pathLst>
              <a:path w="368338" h="368338">
                <a:moveTo>
                  <a:pt x="184169" y="0"/>
                </a:moveTo>
                <a:lnTo>
                  <a:pt x="184169" y="0"/>
                </a:lnTo>
                <a:cubicBezTo>
                  <a:pt x="285815" y="0"/>
                  <a:pt x="368338" y="82523"/>
                  <a:pt x="368338" y="184169"/>
                </a:cubicBezTo>
                <a:lnTo>
                  <a:pt x="368338" y="184169"/>
                </a:lnTo>
                <a:cubicBezTo>
                  <a:pt x="368338" y="285815"/>
                  <a:pt x="285815" y="368338"/>
                  <a:pt x="184169" y="368338"/>
                </a:cubicBezTo>
                <a:lnTo>
                  <a:pt x="184169" y="368338"/>
                </a:lnTo>
                <a:cubicBezTo>
                  <a:pt x="82523" y="368338"/>
                  <a:pt x="0" y="285815"/>
                  <a:pt x="0" y="184169"/>
                </a:cubicBezTo>
                <a:lnTo>
                  <a:pt x="0" y="184169"/>
                </a:lnTo>
                <a:cubicBezTo>
                  <a:pt x="0" y="82523"/>
                  <a:pt x="82523" y="0"/>
                  <a:pt x="184169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6361990" y="2001307"/>
            <a:ext cx="44200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17567" y="1961405"/>
            <a:ext cx="4720870" cy="448145"/>
          </a:xfrm>
          <a:custGeom>
            <a:avLst/>
            <a:gdLst/>
            <a:ahLst/>
            <a:cxnLst/>
            <a:rect l="l" t="t" r="r" b="b"/>
            <a:pathLst>
              <a:path w="4720870" h="448145">
                <a:moveTo>
                  <a:pt x="73666" y="0"/>
                </a:moveTo>
                <a:lnTo>
                  <a:pt x="4647204" y="0"/>
                </a:lnTo>
                <a:cubicBezTo>
                  <a:pt x="4687889" y="0"/>
                  <a:pt x="4720870" y="32981"/>
                  <a:pt x="4720870" y="73666"/>
                </a:cubicBezTo>
                <a:lnTo>
                  <a:pt x="4720870" y="374479"/>
                </a:lnTo>
                <a:cubicBezTo>
                  <a:pt x="4720870" y="415164"/>
                  <a:pt x="4687889" y="448145"/>
                  <a:pt x="4647204" y="448145"/>
                </a:cubicBezTo>
                <a:lnTo>
                  <a:pt x="73666" y="448145"/>
                </a:lnTo>
                <a:cubicBezTo>
                  <a:pt x="32981" y="448145"/>
                  <a:pt x="0" y="415164"/>
                  <a:pt x="0" y="374479"/>
                </a:cubicBezTo>
                <a:lnTo>
                  <a:pt x="0" y="73666"/>
                </a:lnTo>
                <a:cubicBezTo>
                  <a:pt x="0" y="32981"/>
                  <a:pt x="32981" y="0"/>
                  <a:pt x="73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139" y="2074974"/>
            <a:ext cx="456739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Ingestion</a:t>
            </a:r>
            <a:pPr>
              <a:lnSpc>
                <a:spcPct val="130000"/>
              </a:lnSpc>
            </a:pPr>
            <a:r>
              <a:rPr lang="en-US" sz="116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Process academic documents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98824" y="2566094"/>
            <a:ext cx="368338" cy="368338"/>
          </a:xfrm>
          <a:custGeom>
            <a:avLst/>
            <a:gdLst/>
            <a:ahLst/>
            <a:cxnLst/>
            <a:rect l="l" t="t" r="r" b="b"/>
            <a:pathLst>
              <a:path w="368338" h="368338">
                <a:moveTo>
                  <a:pt x="184169" y="0"/>
                </a:moveTo>
                <a:lnTo>
                  <a:pt x="184169" y="0"/>
                </a:lnTo>
                <a:cubicBezTo>
                  <a:pt x="285815" y="0"/>
                  <a:pt x="368338" y="82523"/>
                  <a:pt x="368338" y="184169"/>
                </a:cubicBezTo>
                <a:lnTo>
                  <a:pt x="368338" y="184169"/>
                </a:lnTo>
                <a:cubicBezTo>
                  <a:pt x="368338" y="285815"/>
                  <a:pt x="285815" y="368338"/>
                  <a:pt x="184169" y="368338"/>
                </a:cubicBezTo>
                <a:lnTo>
                  <a:pt x="184169" y="368338"/>
                </a:lnTo>
                <a:cubicBezTo>
                  <a:pt x="82523" y="368338"/>
                  <a:pt x="0" y="285815"/>
                  <a:pt x="0" y="184169"/>
                </a:cubicBezTo>
                <a:lnTo>
                  <a:pt x="0" y="184169"/>
                </a:lnTo>
                <a:cubicBezTo>
                  <a:pt x="0" y="82523"/>
                  <a:pt x="82523" y="0"/>
                  <a:pt x="184169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6361990" y="2566094"/>
            <a:ext cx="44200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17567" y="2526187"/>
            <a:ext cx="4720870" cy="448145"/>
          </a:xfrm>
          <a:custGeom>
            <a:avLst/>
            <a:gdLst/>
            <a:ahLst/>
            <a:cxnLst/>
            <a:rect l="l" t="t" r="r" b="b"/>
            <a:pathLst>
              <a:path w="4720870" h="448145">
                <a:moveTo>
                  <a:pt x="73666" y="0"/>
                </a:moveTo>
                <a:lnTo>
                  <a:pt x="4647204" y="0"/>
                </a:lnTo>
                <a:cubicBezTo>
                  <a:pt x="4687889" y="0"/>
                  <a:pt x="4720870" y="32981"/>
                  <a:pt x="4720870" y="73666"/>
                </a:cubicBezTo>
                <a:lnTo>
                  <a:pt x="4720870" y="374479"/>
                </a:lnTo>
                <a:cubicBezTo>
                  <a:pt x="4720870" y="415164"/>
                  <a:pt x="4687889" y="448145"/>
                  <a:pt x="4647204" y="448145"/>
                </a:cubicBezTo>
                <a:lnTo>
                  <a:pt x="73666" y="448145"/>
                </a:lnTo>
                <a:cubicBezTo>
                  <a:pt x="32981" y="448145"/>
                  <a:pt x="0" y="415164"/>
                  <a:pt x="0" y="374479"/>
                </a:cubicBezTo>
                <a:lnTo>
                  <a:pt x="0" y="73666"/>
                </a:lnTo>
                <a:cubicBezTo>
                  <a:pt x="0" y="32981"/>
                  <a:pt x="32981" y="0"/>
                  <a:pt x="73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1139" y="2639761"/>
            <a:ext cx="456739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&amp; Indexing</a:t>
            </a:r>
            <a:pPr>
              <a:lnSpc>
                <a:spcPct val="130000"/>
              </a:lnSpc>
            </a:pPr>
            <a:r>
              <a:rPr lang="en-US" sz="116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Convert to vector representations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98824" y="3130876"/>
            <a:ext cx="368338" cy="368338"/>
          </a:xfrm>
          <a:custGeom>
            <a:avLst/>
            <a:gdLst/>
            <a:ahLst/>
            <a:cxnLst/>
            <a:rect l="l" t="t" r="r" b="b"/>
            <a:pathLst>
              <a:path w="368338" h="368338">
                <a:moveTo>
                  <a:pt x="184169" y="0"/>
                </a:moveTo>
                <a:lnTo>
                  <a:pt x="184169" y="0"/>
                </a:lnTo>
                <a:cubicBezTo>
                  <a:pt x="285815" y="0"/>
                  <a:pt x="368338" y="82523"/>
                  <a:pt x="368338" y="184169"/>
                </a:cubicBezTo>
                <a:lnTo>
                  <a:pt x="368338" y="184169"/>
                </a:lnTo>
                <a:cubicBezTo>
                  <a:pt x="368338" y="285815"/>
                  <a:pt x="285815" y="368338"/>
                  <a:pt x="184169" y="368338"/>
                </a:cubicBezTo>
                <a:lnTo>
                  <a:pt x="184169" y="368338"/>
                </a:lnTo>
                <a:cubicBezTo>
                  <a:pt x="82523" y="368338"/>
                  <a:pt x="0" y="285815"/>
                  <a:pt x="0" y="184169"/>
                </a:cubicBezTo>
                <a:lnTo>
                  <a:pt x="0" y="184169"/>
                </a:lnTo>
                <a:cubicBezTo>
                  <a:pt x="0" y="82523"/>
                  <a:pt x="82523" y="0"/>
                  <a:pt x="184169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6"/>
          <p:cNvSpPr/>
          <p:nvPr/>
        </p:nvSpPr>
        <p:spPr>
          <a:xfrm>
            <a:off x="6361990" y="3130876"/>
            <a:ext cx="44200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17567" y="3090974"/>
            <a:ext cx="4720870" cy="448145"/>
          </a:xfrm>
          <a:custGeom>
            <a:avLst/>
            <a:gdLst/>
            <a:ahLst/>
            <a:cxnLst/>
            <a:rect l="l" t="t" r="r" b="b"/>
            <a:pathLst>
              <a:path w="4720870" h="448145">
                <a:moveTo>
                  <a:pt x="73666" y="0"/>
                </a:moveTo>
                <a:lnTo>
                  <a:pt x="4647204" y="0"/>
                </a:lnTo>
                <a:cubicBezTo>
                  <a:pt x="4687889" y="0"/>
                  <a:pt x="4720870" y="32981"/>
                  <a:pt x="4720870" y="73666"/>
                </a:cubicBezTo>
                <a:lnTo>
                  <a:pt x="4720870" y="374479"/>
                </a:lnTo>
                <a:cubicBezTo>
                  <a:pt x="4720870" y="415164"/>
                  <a:pt x="4687889" y="448145"/>
                  <a:pt x="4647204" y="448145"/>
                </a:cubicBezTo>
                <a:lnTo>
                  <a:pt x="73666" y="448145"/>
                </a:lnTo>
                <a:cubicBezTo>
                  <a:pt x="32981" y="448145"/>
                  <a:pt x="0" y="415164"/>
                  <a:pt x="0" y="374479"/>
                </a:cubicBezTo>
                <a:lnTo>
                  <a:pt x="0" y="73666"/>
                </a:lnTo>
                <a:cubicBezTo>
                  <a:pt x="0" y="32981"/>
                  <a:pt x="32981" y="0"/>
                  <a:pt x="73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1139" y="3204544"/>
            <a:ext cx="456739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Retrieval</a:t>
            </a:r>
            <a:pPr>
              <a:lnSpc>
                <a:spcPct val="130000"/>
              </a:lnSpc>
            </a:pPr>
            <a:r>
              <a:rPr lang="en-US" sz="116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Find relevant document chunks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98824" y="3695663"/>
            <a:ext cx="368338" cy="368338"/>
          </a:xfrm>
          <a:custGeom>
            <a:avLst/>
            <a:gdLst/>
            <a:ahLst/>
            <a:cxnLst/>
            <a:rect l="l" t="t" r="r" b="b"/>
            <a:pathLst>
              <a:path w="368338" h="368338">
                <a:moveTo>
                  <a:pt x="184169" y="0"/>
                </a:moveTo>
                <a:lnTo>
                  <a:pt x="184169" y="0"/>
                </a:lnTo>
                <a:cubicBezTo>
                  <a:pt x="285815" y="0"/>
                  <a:pt x="368338" y="82523"/>
                  <a:pt x="368338" y="184169"/>
                </a:cubicBezTo>
                <a:lnTo>
                  <a:pt x="368338" y="184169"/>
                </a:lnTo>
                <a:cubicBezTo>
                  <a:pt x="368338" y="285815"/>
                  <a:pt x="285815" y="368338"/>
                  <a:pt x="184169" y="368338"/>
                </a:cubicBezTo>
                <a:lnTo>
                  <a:pt x="184169" y="368338"/>
                </a:lnTo>
                <a:cubicBezTo>
                  <a:pt x="82523" y="368338"/>
                  <a:pt x="0" y="285815"/>
                  <a:pt x="0" y="184169"/>
                </a:cubicBezTo>
                <a:lnTo>
                  <a:pt x="0" y="184169"/>
                </a:lnTo>
                <a:cubicBezTo>
                  <a:pt x="0" y="82523"/>
                  <a:pt x="82523" y="0"/>
                  <a:pt x="184169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2" name="Text 30"/>
          <p:cNvSpPr/>
          <p:nvPr/>
        </p:nvSpPr>
        <p:spPr>
          <a:xfrm>
            <a:off x="6361990" y="3695663"/>
            <a:ext cx="442006" cy="36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17567" y="3655761"/>
            <a:ext cx="4720870" cy="448145"/>
          </a:xfrm>
          <a:custGeom>
            <a:avLst/>
            <a:gdLst/>
            <a:ahLst/>
            <a:cxnLst/>
            <a:rect l="l" t="t" r="r" b="b"/>
            <a:pathLst>
              <a:path w="4720870" h="448145">
                <a:moveTo>
                  <a:pt x="73666" y="0"/>
                </a:moveTo>
                <a:lnTo>
                  <a:pt x="4647204" y="0"/>
                </a:lnTo>
                <a:cubicBezTo>
                  <a:pt x="4687889" y="0"/>
                  <a:pt x="4720870" y="32981"/>
                  <a:pt x="4720870" y="73666"/>
                </a:cubicBezTo>
                <a:lnTo>
                  <a:pt x="4720870" y="374479"/>
                </a:lnTo>
                <a:cubicBezTo>
                  <a:pt x="4720870" y="415164"/>
                  <a:pt x="4687889" y="448145"/>
                  <a:pt x="4647204" y="448145"/>
                </a:cubicBezTo>
                <a:lnTo>
                  <a:pt x="73666" y="448145"/>
                </a:lnTo>
                <a:cubicBezTo>
                  <a:pt x="32981" y="448145"/>
                  <a:pt x="0" y="415164"/>
                  <a:pt x="0" y="374479"/>
                </a:cubicBezTo>
                <a:lnTo>
                  <a:pt x="0" y="73666"/>
                </a:lnTo>
                <a:cubicBezTo>
                  <a:pt x="0" y="32981"/>
                  <a:pt x="32981" y="0"/>
                  <a:pt x="7366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31139" y="3769331"/>
            <a:ext cx="4567396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Grounded Generation</a:t>
            </a:r>
            <a:pPr>
              <a:lnSpc>
                <a:spcPct val="130000"/>
              </a:lnSpc>
            </a:pPr>
            <a:r>
              <a:rPr lang="en-US" sz="116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→ Generate contextually accurate responses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1585" y="4484523"/>
            <a:ext cx="5614091" cy="1553160"/>
          </a:xfrm>
          <a:custGeom>
            <a:avLst/>
            <a:gdLst/>
            <a:ahLst/>
            <a:cxnLst/>
            <a:rect l="l" t="t" r="r" b="b"/>
            <a:pathLst>
              <a:path w="5614091" h="1553160">
                <a:moveTo>
                  <a:pt x="110507" y="0"/>
                </a:moveTo>
                <a:lnTo>
                  <a:pt x="5503583" y="0"/>
                </a:lnTo>
                <a:cubicBezTo>
                  <a:pt x="5564615" y="0"/>
                  <a:pt x="5614091" y="49476"/>
                  <a:pt x="5614091" y="110507"/>
                </a:cubicBezTo>
                <a:lnTo>
                  <a:pt x="5614091" y="1442653"/>
                </a:lnTo>
                <a:cubicBezTo>
                  <a:pt x="5614091" y="1503684"/>
                  <a:pt x="5564615" y="1553160"/>
                  <a:pt x="5503583" y="1553160"/>
                </a:cubicBezTo>
                <a:lnTo>
                  <a:pt x="110507" y="1553160"/>
                </a:lnTo>
                <a:cubicBezTo>
                  <a:pt x="49476" y="1553160"/>
                  <a:pt x="0" y="1503684"/>
                  <a:pt x="0" y="1442653"/>
                </a:cubicBezTo>
                <a:lnTo>
                  <a:pt x="0" y="110507"/>
                </a:lnTo>
                <a:cubicBezTo>
                  <a:pt x="0" y="49517"/>
                  <a:pt x="49517" y="0"/>
                  <a:pt x="11050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1486" y="4714731"/>
            <a:ext cx="186471" cy="165752"/>
          </a:xfrm>
          <a:custGeom>
            <a:avLst/>
            <a:gdLst/>
            <a:ahLst/>
            <a:cxnLst/>
            <a:rect l="l" t="t" r="r" b="b"/>
            <a:pathLst>
              <a:path w="186471" h="165752">
                <a:moveTo>
                  <a:pt x="100196" y="-6119"/>
                </a:moveTo>
                <a:cubicBezTo>
                  <a:pt x="98869" y="-8708"/>
                  <a:pt x="96182" y="-10360"/>
                  <a:pt x="93268" y="-10360"/>
                </a:cubicBezTo>
                <a:cubicBezTo>
                  <a:pt x="90354" y="-10360"/>
                  <a:pt x="87667" y="-8708"/>
                  <a:pt x="86340" y="-6119"/>
                </a:cubicBezTo>
                <a:lnTo>
                  <a:pt x="62513" y="40564"/>
                </a:lnTo>
                <a:lnTo>
                  <a:pt x="10748" y="48787"/>
                </a:lnTo>
                <a:cubicBezTo>
                  <a:pt x="7867" y="49240"/>
                  <a:pt x="5471" y="51280"/>
                  <a:pt x="4565" y="54064"/>
                </a:cubicBezTo>
                <a:cubicBezTo>
                  <a:pt x="3658" y="56848"/>
                  <a:pt x="4403" y="59891"/>
                  <a:pt x="6442" y="61963"/>
                </a:cubicBezTo>
                <a:lnTo>
                  <a:pt x="43478" y="99031"/>
                </a:lnTo>
                <a:lnTo>
                  <a:pt x="35319" y="150796"/>
                </a:lnTo>
                <a:cubicBezTo>
                  <a:pt x="34866" y="153677"/>
                  <a:pt x="36064" y="156591"/>
                  <a:pt x="38427" y="158306"/>
                </a:cubicBezTo>
                <a:cubicBezTo>
                  <a:pt x="40791" y="160022"/>
                  <a:pt x="43898" y="160281"/>
                  <a:pt x="46521" y="158954"/>
                </a:cubicBezTo>
                <a:lnTo>
                  <a:pt x="93268" y="135192"/>
                </a:lnTo>
                <a:lnTo>
                  <a:pt x="139983" y="158954"/>
                </a:lnTo>
                <a:cubicBezTo>
                  <a:pt x="142573" y="160281"/>
                  <a:pt x="145713" y="160022"/>
                  <a:pt x="148076" y="158306"/>
                </a:cubicBezTo>
                <a:cubicBezTo>
                  <a:pt x="150440" y="156591"/>
                  <a:pt x="151637" y="153709"/>
                  <a:pt x="151184" y="150796"/>
                </a:cubicBezTo>
                <a:lnTo>
                  <a:pt x="142994" y="99031"/>
                </a:lnTo>
                <a:lnTo>
                  <a:pt x="180029" y="61963"/>
                </a:lnTo>
                <a:cubicBezTo>
                  <a:pt x="182101" y="59891"/>
                  <a:pt x="182813" y="56848"/>
                  <a:pt x="181907" y="54064"/>
                </a:cubicBezTo>
                <a:cubicBezTo>
                  <a:pt x="181000" y="51280"/>
                  <a:pt x="178637" y="49240"/>
                  <a:pt x="175723" y="48787"/>
                </a:cubicBezTo>
                <a:lnTo>
                  <a:pt x="123990" y="40564"/>
                </a:lnTo>
                <a:lnTo>
                  <a:pt x="100196" y="-6119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7" name="Text 35"/>
          <p:cNvSpPr/>
          <p:nvPr/>
        </p:nvSpPr>
        <p:spPr>
          <a:xfrm>
            <a:off x="6664033" y="4671760"/>
            <a:ext cx="5057280" cy="257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5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26450" y="5076932"/>
            <a:ext cx="128918" cy="147335"/>
          </a:xfrm>
          <a:custGeom>
            <a:avLst/>
            <a:gdLst/>
            <a:ahLst/>
            <a:cxnLst/>
            <a:rect l="l" t="t" r="r" b="b"/>
            <a:pathLst>
              <a:path w="128918" h="147335">
                <a:moveTo>
                  <a:pt x="125120" y="20172"/>
                </a:moveTo>
                <a:cubicBezTo>
                  <a:pt x="129235" y="23165"/>
                  <a:pt x="130156" y="28920"/>
                  <a:pt x="127163" y="33035"/>
                </a:cubicBezTo>
                <a:lnTo>
                  <a:pt x="53495" y="134328"/>
                </a:lnTo>
                <a:cubicBezTo>
                  <a:pt x="51913" y="136515"/>
                  <a:pt x="49467" y="137868"/>
                  <a:pt x="46762" y="138098"/>
                </a:cubicBezTo>
                <a:cubicBezTo>
                  <a:pt x="44057" y="138328"/>
                  <a:pt x="41438" y="137321"/>
                  <a:pt x="39539" y="135422"/>
                </a:cubicBezTo>
                <a:lnTo>
                  <a:pt x="2705" y="98588"/>
                </a:lnTo>
                <a:cubicBezTo>
                  <a:pt x="-892" y="94991"/>
                  <a:pt x="-892" y="89149"/>
                  <a:pt x="2705" y="85552"/>
                </a:cubicBezTo>
                <a:cubicBezTo>
                  <a:pt x="6302" y="81955"/>
                  <a:pt x="12144" y="81955"/>
                  <a:pt x="15741" y="85552"/>
                </a:cubicBezTo>
                <a:lnTo>
                  <a:pt x="44949" y="114760"/>
                </a:lnTo>
                <a:lnTo>
                  <a:pt x="112286" y="22187"/>
                </a:lnTo>
                <a:cubicBezTo>
                  <a:pt x="115278" y="18072"/>
                  <a:pt x="121034" y="17151"/>
                  <a:pt x="125149" y="2014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6693495" y="5040098"/>
            <a:ext cx="3416338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Reduces hallucination through document grounding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26450" y="5371603"/>
            <a:ext cx="128918" cy="147335"/>
          </a:xfrm>
          <a:custGeom>
            <a:avLst/>
            <a:gdLst/>
            <a:ahLst/>
            <a:cxnLst/>
            <a:rect l="l" t="t" r="r" b="b"/>
            <a:pathLst>
              <a:path w="128918" h="147335">
                <a:moveTo>
                  <a:pt x="125120" y="20172"/>
                </a:moveTo>
                <a:cubicBezTo>
                  <a:pt x="129235" y="23165"/>
                  <a:pt x="130156" y="28920"/>
                  <a:pt x="127163" y="33035"/>
                </a:cubicBezTo>
                <a:lnTo>
                  <a:pt x="53495" y="134328"/>
                </a:lnTo>
                <a:cubicBezTo>
                  <a:pt x="51913" y="136515"/>
                  <a:pt x="49467" y="137868"/>
                  <a:pt x="46762" y="138098"/>
                </a:cubicBezTo>
                <a:cubicBezTo>
                  <a:pt x="44057" y="138328"/>
                  <a:pt x="41438" y="137321"/>
                  <a:pt x="39539" y="135422"/>
                </a:cubicBezTo>
                <a:lnTo>
                  <a:pt x="2705" y="98588"/>
                </a:lnTo>
                <a:cubicBezTo>
                  <a:pt x="-892" y="94991"/>
                  <a:pt x="-892" y="89149"/>
                  <a:pt x="2705" y="85552"/>
                </a:cubicBezTo>
                <a:cubicBezTo>
                  <a:pt x="6302" y="81955"/>
                  <a:pt x="12144" y="81955"/>
                  <a:pt x="15741" y="85552"/>
                </a:cubicBezTo>
                <a:lnTo>
                  <a:pt x="44949" y="114760"/>
                </a:lnTo>
                <a:lnTo>
                  <a:pt x="112286" y="22187"/>
                </a:lnTo>
                <a:cubicBezTo>
                  <a:pt x="115278" y="18072"/>
                  <a:pt x="121034" y="17151"/>
                  <a:pt x="125149" y="2014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1" name="Text 39"/>
          <p:cNvSpPr/>
          <p:nvPr/>
        </p:nvSpPr>
        <p:spPr>
          <a:xfrm>
            <a:off x="6693495" y="5334769"/>
            <a:ext cx="3001958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real-time updates to knowledge base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26450" y="5666273"/>
            <a:ext cx="128918" cy="147335"/>
          </a:xfrm>
          <a:custGeom>
            <a:avLst/>
            <a:gdLst/>
            <a:ahLst/>
            <a:cxnLst/>
            <a:rect l="l" t="t" r="r" b="b"/>
            <a:pathLst>
              <a:path w="128918" h="147335">
                <a:moveTo>
                  <a:pt x="125120" y="20172"/>
                </a:moveTo>
                <a:cubicBezTo>
                  <a:pt x="129235" y="23165"/>
                  <a:pt x="130156" y="28920"/>
                  <a:pt x="127163" y="33035"/>
                </a:cubicBezTo>
                <a:lnTo>
                  <a:pt x="53495" y="134328"/>
                </a:lnTo>
                <a:cubicBezTo>
                  <a:pt x="51913" y="136515"/>
                  <a:pt x="49467" y="137868"/>
                  <a:pt x="46762" y="138098"/>
                </a:cubicBezTo>
                <a:cubicBezTo>
                  <a:pt x="44057" y="138328"/>
                  <a:pt x="41438" y="137321"/>
                  <a:pt x="39539" y="135422"/>
                </a:cubicBezTo>
                <a:lnTo>
                  <a:pt x="2705" y="98588"/>
                </a:lnTo>
                <a:cubicBezTo>
                  <a:pt x="-892" y="94991"/>
                  <a:pt x="-892" y="89149"/>
                  <a:pt x="2705" y="85552"/>
                </a:cubicBezTo>
                <a:cubicBezTo>
                  <a:pt x="6302" y="81955"/>
                  <a:pt x="12144" y="81955"/>
                  <a:pt x="15741" y="85552"/>
                </a:cubicBezTo>
                <a:lnTo>
                  <a:pt x="44949" y="114760"/>
                </a:lnTo>
                <a:lnTo>
                  <a:pt x="112286" y="22187"/>
                </a:lnTo>
                <a:cubicBezTo>
                  <a:pt x="115278" y="18072"/>
                  <a:pt x="121034" y="17151"/>
                  <a:pt x="125149" y="20144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6693495" y="5629440"/>
            <a:ext cx="2919082" cy="221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source attribution for transparency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71408" y="6191154"/>
            <a:ext cx="11452254" cy="448145"/>
          </a:xfrm>
          <a:custGeom>
            <a:avLst/>
            <a:gdLst/>
            <a:ahLst/>
            <a:cxnLst/>
            <a:rect l="l" t="t" r="r" b="b"/>
            <a:pathLst>
              <a:path w="11452254" h="448145">
                <a:moveTo>
                  <a:pt x="110504" y="0"/>
                </a:moveTo>
                <a:lnTo>
                  <a:pt x="11341750" y="0"/>
                </a:lnTo>
                <a:cubicBezTo>
                  <a:pt x="11402780" y="0"/>
                  <a:pt x="11452254" y="49474"/>
                  <a:pt x="11452254" y="110504"/>
                </a:cubicBezTo>
                <a:lnTo>
                  <a:pt x="11452254" y="337641"/>
                </a:lnTo>
                <a:cubicBezTo>
                  <a:pt x="11452254" y="398671"/>
                  <a:pt x="11402780" y="448145"/>
                  <a:pt x="11341750" y="448145"/>
                </a:cubicBezTo>
                <a:lnTo>
                  <a:pt x="110504" y="448145"/>
                </a:lnTo>
                <a:cubicBezTo>
                  <a:pt x="49474" y="448145"/>
                  <a:pt x="0" y="398671"/>
                  <a:pt x="0" y="337641"/>
                </a:cubicBezTo>
                <a:lnTo>
                  <a:pt x="0" y="110504"/>
                </a:lnTo>
                <a:cubicBezTo>
                  <a:pt x="0" y="49515"/>
                  <a:pt x="49515" y="0"/>
                  <a:pt x="1105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9511" y="6323145"/>
            <a:ext cx="161148" cy="184169"/>
          </a:xfrm>
          <a:custGeom>
            <a:avLst/>
            <a:gdLst/>
            <a:ahLst/>
            <a:cxnLst/>
            <a:rect l="l" t="t" r="r" b="b"/>
            <a:pathLst>
              <a:path w="161148" h="184169">
                <a:moveTo>
                  <a:pt x="138127" y="184169"/>
                </a:moveTo>
                <a:lnTo>
                  <a:pt x="34532" y="184169"/>
                </a:lnTo>
                <a:cubicBezTo>
                  <a:pt x="15467" y="184169"/>
                  <a:pt x="0" y="168702"/>
                  <a:pt x="0" y="149637"/>
                </a:cubicBezTo>
                <a:lnTo>
                  <a:pt x="0" y="34532"/>
                </a:lnTo>
                <a:cubicBezTo>
                  <a:pt x="0" y="15467"/>
                  <a:pt x="15467" y="0"/>
                  <a:pt x="34532" y="0"/>
                </a:cubicBezTo>
                <a:lnTo>
                  <a:pt x="143882" y="0"/>
                </a:lnTo>
                <a:cubicBezTo>
                  <a:pt x="153414" y="0"/>
                  <a:pt x="161148" y="7734"/>
                  <a:pt x="161148" y="17266"/>
                </a:cubicBezTo>
                <a:lnTo>
                  <a:pt x="161148" y="120861"/>
                </a:lnTo>
                <a:cubicBezTo>
                  <a:pt x="161148" y="128379"/>
                  <a:pt x="156328" y="134782"/>
                  <a:pt x="149637" y="137156"/>
                </a:cubicBezTo>
                <a:lnTo>
                  <a:pt x="149637" y="161148"/>
                </a:lnTo>
                <a:cubicBezTo>
                  <a:pt x="156004" y="161148"/>
                  <a:pt x="161148" y="166292"/>
                  <a:pt x="161148" y="172659"/>
                </a:cubicBezTo>
                <a:cubicBezTo>
                  <a:pt x="161148" y="179025"/>
                  <a:pt x="156004" y="184169"/>
                  <a:pt x="149637" y="184169"/>
                </a:cubicBezTo>
                <a:lnTo>
                  <a:pt x="138127" y="184169"/>
                </a:lnTo>
                <a:close/>
                <a:moveTo>
                  <a:pt x="34532" y="138127"/>
                </a:moveTo>
                <a:cubicBezTo>
                  <a:pt x="28165" y="138127"/>
                  <a:pt x="23021" y="143271"/>
                  <a:pt x="23021" y="149637"/>
                </a:cubicBezTo>
                <a:cubicBezTo>
                  <a:pt x="23021" y="156004"/>
                  <a:pt x="28165" y="161148"/>
                  <a:pt x="34532" y="161148"/>
                </a:cubicBezTo>
                <a:lnTo>
                  <a:pt x="126616" y="161148"/>
                </a:lnTo>
                <a:lnTo>
                  <a:pt x="126616" y="138127"/>
                </a:lnTo>
                <a:lnTo>
                  <a:pt x="34532" y="138127"/>
                </a:lnTo>
                <a:close/>
                <a:moveTo>
                  <a:pt x="46042" y="54675"/>
                </a:moveTo>
                <a:cubicBezTo>
                  <a:pt x="46042" y="59459"/>
                  <a:pt x="49891" y="63308"/>
                  <a:pt x="54675" y="63308"/>
                </a:cubicBezTo>
                <a:lnTo>
                  <a:pt x="117983" y="63308"/>
                </a:lnTo>
                <a:cubicBezTo>
                  <a:pt x="122767" y="63308"/>
                  <a:pt x="126616" y="59459"/>
                  <a:pt x="126616" y="54675"/>
                </a:cubicBezTo>
                <a:cubicBezTo>
                  <a:pt x="126616" y="49891"/>
                  <a:pt x="122767" y="46042"/>
                  <a:pt x="117983" y="46042"/>
                </a:cubicBezTo>
                <a:lnTo>
                  <a:pt x="54675" y="46042"/>
                </a:lnTo>
                <a:cubicBezTo>
                  <a:pt x="49891" y="46042"/>
                  <a:pt x="46042" y="49891"/>
                  <a:pt x="46042" y="54675"/>
                </a:cubicBezTo>
                <a:close/>
                <a:moveTo>
                  <a:pt x="54675" y="80574"/>
                </a:moveTo>
                <a:cubicBezTo>
                  <a:pt x="49891" y="80574"/>
                  <a:pt x="46042" y="84423"/>
                  <a:pt x="46042" y="89207"/>
                </a:cubicBezTo>
                <a:cubicBezTo>
                  <a:pt x="46042" y="93991"/>
                  <a:pt x="49891" y="97840"/>
                  <a:pt x="54675" y="97840"/>
                </a:cubicBezTo>
                <a:lnTo>
                  <a:pt x="117983" y="97840"/>
                </a:lnTo>
                <a:cubicBezTo>
                  <a:pt x="122767" y="97840"/>
                  <a:pt x="126616" y="93991"/>
                  <a:pt x="126616" y="89207"/>
                </a:cubicBezTo>
                <a:cubicBezTo>
                  <a:pt x="126616" y="84423"/>
                  <a:pt x="122767" y="80574"/>
                  <a:pt x="117983" y="80574"/>
                </a:cubicBezTo>
                <a:lnTo>
                  <a:pt x="54675" y="8057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6" name="Text 44"/>
          <p:cNvSpPr/>
          <p:nvPr/>
        </p:nvSpPr>
        <p:spPr>
          <a:xfrm>
            <a:off x="825692" y="6304728"/>
            <a:ext cx="934467" cy="21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 Citation: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716035" y="6304728"/>
            <a:ext cx="1321030" cy="21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(Lewis et al., 2020)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Literature Review 4 of 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&amp; Avatar Interaction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175" y="1336675"/>
            <a:ext cx="5635625" cy="2473325"/>
          </a:xfrm>
          <a:custGeom>
            <a:avLst/>
            <a:gdLst/>
            <a:ahLst/>
            <a:cxnLst/>
            <a:rect l="l" t="t" r="r" b="b"/>
            <a:pathLst>
              <a:path w="5635625" h="2473325">
                <a:moveTo>
                  <a:pt x="114292" y="0"/>
                </a:moveTo>
                <a:lnTo>
                  <a:pt x="5521333" y="0"/>
                </a:lnTo>
                <a:cubicBezTo>
                  <a:pt x="5584455" y="0"/>
                  <a:pt x="5635625" y="51170"/>
                  <a:pt x="5635625" y="114292"/>
                </a:cubicBezTo>
                <a:lnTo>
                  <a:pt x="5635625" y="2359033"/>
                </a:lnTo>
                <a:cubicBezTo>
                  <a:pt x="5635625" y="2422155"/>
                  <a:pt x="5584455" y="2473325"/>
                  <a:pt x="5521333" y="2473325"/>
                </a:cubicBezTo>
                <a:lnTo>
                  <a:pt x="114292" y="2473325"/>
                </a:lnTo>
                <a:cubicBezTo>
                  <a:pt x="51170" y="2473325"/>
                  <a:pt x="0" y="2422155"/>
                  <a:pt x="0" y="2359033"/>
                </a:cubicBezTo>
                <a:lnTo>
                  <a:pt x="0" y="114292"/>
                </a:lnTo>
                <a:cubicBezTo>
                  <a:pt x="0" y="51213"/>
                  <a:pt x="51213" y="0"/>
                  <a:pt x="114292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750" y="14922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696913" y="162560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5719" y="35719"/>
                </a:moveTo>
                <a:cubicBezTo>
                  <a:pt x="35719" y="15999"/>
                  <a:pt x="51718" y="0"/>
                  <a:pt x="71438" y="0"/>
                </a:cubicBezTo>
                <a:cubicBezTo>
                  <a:pt x="90153" y="0"/>
                  <a:pt x="105519" y="14399"/>
                  <a:pt x="107045" y="32742"/>
                </a:cubicBezTo>
                <a:lnTo>
                  <a:pt x="86320" y="32742"/>
                </a:lnTo>
                <a:cubicBezTo>
                  <a:pt x="81372" y="32742"/>
                  <a:pt x="77391" y="36723"/>
                  <a:pt x="77391" y="41672"/>
                </a:cubicBezTo>
                <a:cubicBezTo>
                  <a:pt x="77391" y="46620"/>
                  <a:pt x="81372" y="50602"/>
                  <a:pt x="86320" y="50602"/>
                </a:cubicBezTo>
                <a:lnTo>
                  <a:pt x="107156" y="50602"/>
                </a:lnTo>
                <a:lnTo>
                  <a:pt x="107156" y="68461"/>
                </a:lnTo>
                <a:lnTo>
                  <a:pt x="86320" y="68461"/>
                </a:lnTo>
                <a:cubicBezTo>
                  <a:pt x="81372" y="68461"/>
                  <a:pt x="77391" y="72442"/>
                  <a:pt x="77391" y="77391"/>
                </a:cubicBezTo>
                <a:cubicBezTo>
                  <a:pt x="77391" y="82339"/>
                  <a:pt x="81372" y="86320"/>
                  <a:pt x="86320" y="86320"/>
                </a:cubicBezTo>
                <a:lnTo>
                  <a:pt x="107045" y="86320"/>
                </a:lnTo>
                <a:cubicBezTo>
                  <a:pt x="105519" y="104663"/>
                  <a:pt x="90190" y="119063"/>
                  <a:pt x="71438" y="119063"/>
                </a:cubicBezTo>
                <a:cubicBezTo>
                  <a:pt x="51718" y="119063"/>
                  <a:pt x="35719" y="103063"/>
                  <a:pt x="35719" y="83344"/>
                </a:cubicBezTo>
                <a:lnTo>
                  <a:pt x="35719" y="35719"/>
                </a:lnTo>
                <a:close/>
                <a:moveTo>
                  <a:pt x="8930" y="59531"/>
                </a:moveTo>
                <a:cubicBezTo>
                  <a:pt x="13878" y="59531"/>
                  <a:pt x="17859" y="63512"/>
                  <a:pt x="17859" y="68461"/>
                </a:cubicBezTo>
                <a:lnTo>
                  <a:pt x="17859" y="83344"/>
                </a:lnTo>
                <a:cubicBezTo>
                  <a:pt x="17859" y="112923"/>
                  <a:pt x="41858" y="136922"/>
                  <a:pt x="71438" y="136922"/>
                </a:cubicBezTo>
                <a:cubicBezTo>
                  <a:pt x="101017" y="136922"/>
                  <a:pt x="125016" y="112923"/>
                  <a:pt x="125016" y="83344"/>
                </a:cubicBezTo>
                <a:lnTo>
                  <a:pt x="125016" y="68461"/>
                </a:lnTo>
                <a:cubicBezTo>
                  <a:pt x="125016" y="63512"/>
                  <a:pt x="128997" y="59531"/>
                  <a:pt x="133945" y="59531"/>
                </a:cubicBezTo>
                <a:cubicBezTo>
                  <a:pt x="138894" y="59531"/>
                  <a:pt x="142875" y="63512"/>
                  <a:pt x="142875" y="68461"/>
                </a:cubicBezTo>
                <a:lnTo>
                  <a:pt x="142875" y="83344"/>
                </a:lnTo>
                <a:cubicBezTo>
                  <a:pt x="142875" y="119769"/>
                  <a:pt x="115602" y="149833"/>
                  <a:pt x="80367" y="154223"/>
                </a:cubicBezTo>
                <a:lnTo>
                  <a:pt x="80367" y="172641"/>
                </a:lnTo>
                <a:lnTo>
                  <a:pt x="98227" y="172641"/>
                </a:lnTo>
                <a:cubicBezTo>
                  <a:pt x="103175" y="172641"/>
                  <a:pt x="107156" y="176622"/>
                  <a:pt x="107156" y="181570"/>
                </a:cubicBezTo>
                <a:cubicBezTo>
                  <a:pt x="107156" y="186519"/>
                  <a:pt x="103175" y="190500"/>
                  <a:pt x="98227" y="190500"/>
                </a:cubicBezTo>
                <a:lnTo>
                  <a:pt x="44648" y="190500"/>
                </a:lnTo>
                <a:cubicBezTo>
                  <a:pt x="39700" y="190500"/>
                  <a:pt x="35719" y="186519"/>
                  <a:pt x="35719" y="181570"/>
                </a:cubicBezTo>
                <a:cubicBezTo>
                  <a:pt x="35719" y="176622"/>
                  <a:pt x="39700" y="172641"/>
                  <a:pt x="44648" y="172641"/>
                </a:cubicBezTo>
                <a:lnTo>
                  <a:pt x="62508" y="172641"/>
                </a:lnTo>
                <a:lnTo>
                  <a:pt x="62508" y="154223"/>
                </a:lnTo>
                <a:cubicBezTo>
                  <a:pt x="27273" y="149833"/>
                  <a:pt x="0" y="119769"/>
                  <a:pt x="0" y="83344"/>
                </a:cubicBezTo>
                <a:lnTo>
                  <a:pt x="0" y="68461"/>
                </a:lnTo>
                <a:cubicBezTo>
                  <a:pt x="0" y="63512"/>
                  <a:pt x="3981" y="59531"/>
                  <a:pt x="8930" y="595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11250" y="1587503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Interaction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750" y="2063753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Voice-based interaction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 accessibility and usability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conversational systems, enabling hands-free operation.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925" y="2676528"/>
            <a:ext cx="5311775" cy="977900"/>
          </a:xfrm>
          <a:custGeom>
            <a:avLst/>
            <a:gdLst/>
            <a:ahLst/>
            <a:cxnLst/>
            <a:rect l="l" t="t" r="r" b="b"/>
            <a:pathLst>
              <a:path w="5311775" h="977900">
                <a:moveTo>
                  <a:pt x="76198" y="0"/>
                </a:moveTo>
                <a:lnTo>
                  <a:pt x="5235577" y="0"/>
                </a:lnTo>
                <a:cubicBezTo>
                  <a:pt x="5277660" y="0"/>
                  <a:pt x="5311775" y="34115"/>
                  <a:pt x="5311775" y="76198"/>
                </a:cubicBezTo>
                <a:lnTo>
                  <a:pt x="5311775" y="901702"/>
                </a:lnTo>
                <a:cubicBezTo>
                  <a:pt x="5311775" y="943785"/>
                  <a:pt x="5277660" y="977900"/>
                  <a:pt x="5235577" y="977900"/>
                </a:cubicBezTo>
                <a:lnTo>
                  <a:pt x="76198" y="977900"/>
                </a:lnTo>
                <a:cubicBezTo>
                  <a:pt x="34115" y="977900"/>
                  <a:pt x="0" y="943785"/>
                  <a:pt x="0" y="901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400" y="2794002"/>
            <a:ext cx="51530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Radford et al. (2023)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showed that Whisper provides robust speech recognition across accents and noisy environments, making it suitable for diverse student populations.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175" y="3933828"/>
            <a:ext cx="5635625" cy="2225675"/>
          </a:xfrm>
          <a:custGeom>
            <a:avLst/>
            <a:gdLst/>
            <a:ahLst/>
            <a:cxnLst/>
            <a:rect l="l" t="t" r="r" b="b"/>
            <a:pathLst>
              <a:path w="5635625" h="2225675">
                <a:moveTo>
                  <a:pt x="114311" y="0"/>
                </a:moveTo>
                <a:lnTo>
                  <a:pt x="5521314" y="0"/>
                </a:lnTo>
                <a:cubicBezTo>
                  <a:pt x="5584446" y="0"/>
                  <a:pt x="5635625" y="51179"/>
                  <a:pt x="5635625" y="114311"/>
                </a:cubicBezTo>
                <a:lnTo>
                  <a:pt x="5635625" y="2111364"/>
                </a:lnTo>
                <a:cubicBezTo>
                  <a:pt x="5635625" y="2174496"/>
                  <a:pt x="5584446" y="2225675"/>
                  <a:pt x="5521314" y="2225675"/>
                </a:cubicBezTo>
                <a:lnTo>
                  <a:pt x="114311" y="2225675"/>
                </a:lnTo>
                <a:cubicBezTo>
                  <a:pt x="51179" y="2225675"/>
                  <a:pt x="0" y="2174496"/>
                  <a:pt x="0" y="211136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750" y="40894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006" y="422275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125016"/>
                </a:moveTo>
                <a:cubicBezTo>
                  <a:pt x="111100" y="125016"/>
                  <a:pt x="134838" y="107752"/>
                  <a:pt x="144363" y="83344"/>
                </a:cubicBezTo>
                <a:lnTo>
                  <a:pt x="145852" y="83344"/>
                </a:lnTo>
                <a:cubicBezTo>
                  <a:pt x="150800" y="83344"/>
                  <a:pt x="154781" y="79363"/>
                  <a:pt x="154781" y="74414"/>
                </a:cubicBezTo>
                <a:lnTo>
                  <a:pt x="154781" y="44648"/>
                </a:lnTo>
                <a:cubicBezTo>
                  <a:pt x="154781" y="39700"/>
                  <a:pt x="150800" y="35719"/>
                  <a:pt x="145852" y="35719"/>
                </a:cubicBezTo>
                <a:lnTo>
                  <a:pt x="144363" y="35719"/>
                </a:lnTo>
                <a:cubicBezTo>
                  <a:pt x="134838" y="11311"/>
                  <a:pt x="111100" y="-5953"/>
                  <a:pt x="83344" y="-5953"/>
                </a:cubicBezTo>
                <a:cubicBezTo>
                  <a:pt x="55587" y="-5953"/>
                  <a:pt x="31849" y="11311"/>
                  <a:pt x="22324" y="35719"/>
                </a:cubicBezTo>
                <a:lnTo>
                  <a:pt x="20836" y="35719"/>
                </a:lnTo>
                <a:cubicBezTo>
                  <a:pt x="15887" y="35719"/>
                  <a:pt x="11906" y="39700"/>
                  <a:pt x="11906" y="44648"/>
                </a:cubicBezTo>
                <a:lnTo>
                  <a:pt x="11906" y="74414"/>
                </a:lnTo>
                <a:cubicBezTo>
                  <a:pt x="11906" y="79363"/>
                  <a:pt x="15887" y="83344"/>
                  <a:pt x="20836" y="83344"/>
                </a:cubicBezTo>
                <a:lnTo>
                  <a:pt x="22324" y="83344"/>
                </a:lnTo>
                <a:cubicBezTo>
                  <a:pt x="31849" y="107752"/>
                  <a:pt x="55587" y="125016"/>
                  <a:pt x="83344" y="125016"/>
                </a:cubicBezTo>
                <a:close/>
                <a:moveTo>
                  <a:pt x="77391" y="29766"/>
                </a:moveTo>
                <a:lnTo>
                  <a:pt x="89297" y="29766"/>
                </a:lnTo>
                <a:cubicBezTo>
                  <a:pt x="109017" y="29766"/>
                  <a:pt x="125016" y="45765"/>
                  <a:pt x="125016" y="65484"/>
                </a:cubicBezTo>
                <a:cubicBezTo>
                  <a:pt x="125016" y="85204"/>
                  <a:pt x="109017" y="101203"/>
                  <a:pt x="89297" y="101203"/>
                </a:cubicBezTo>
                <a:lnTo>
                  <a:pt x="77391" y="101203"/>
                </a:lnTo>
                <a:cubicBezTo>
                  <a:pt x="57671" y="101203"/>
                  <a:pt x="41672" y="85204"/>
                  <a:pt x="41672" y="65484"/>
                </a:cubicBezTo>
                <a:cubicBezTo>
                  <a:pt x="41672" y="45765"/>
                  <a:pt x="57671" y="29766"/>
                  <a:pt x="77391" y="29766"/>
                </a:cubicBezTo>
                <a:close/>
                <a:moveTo>
                  <a:pt x="5953" y="180305"/>
                </a:moveTo>
                <a:cubicBezTo>
                  <a:pt x="5953" y="185924"/>
                  <a:pt x="10530" y="190500"/>
                  <a:pt x="16148" y="190500"/>
                </a:cubicBezTo>
                <a:lnTo>
                  <a:pt x="35719" y="190500"/>
                </a:lnTo>
                <a:lnTo>
                  <a:pt x="35719" y="172641"/>
                </a:lnTo>
                <a:cubicBezTo>
                  <a:pt x="35719" y="166055"/>
                  <a:pt x="41039" y="160734"/>
                  <a:pt x="47625" y="160734"/>
                </a:cubicBezTo>
                <a:lnTo>
                  <a:pt x="119063" y="160734"/>
                </a:lnTo>
                <a:cubicBezTo>
                  <a:pt x="125648" y="160734"/>
                  <a:pt x="130969" y="166055"/>
                  <a:pt x="130969" y="172641"/>
                </a:cubicBezTo>
                <a:lnTo>
                  <a:pt x="130969" y="190500"/>
                </a:lnTo>
                <a:lnTo>
                  <a:pt x="150540" y="190500"/>
                </a:lnTo>
                <a:cubicBezTo>
                  <a:pt x="156158" y="190500"/>
                  <a:pt x="160734" y="185924"/>
                  <a:pt x="160734" y="180305"/>
                </a:cubicBezTo>
                <a:cubicBezTo>
                  <a:pt x="160734" y="158055"/>
                  <a:pt x="148865" y="138559"/>
                  <a:pt x="131118" y="127843"/>
                </a:cubicBezTo>
                <a:cubicBezTo>
                  <a:pt x="117574" y="137331"/>
                  <a:pt x="101129" y="142875"/>
                  <a:pt x="83344" y="142875"/>
                </a:cubicBezTo>
                <a:cubicBezTo>
                  <a:pt x="65559" y="142875"/>
                  <a:pt x="49113" y="137331"/>
                  <a:pt x="35570" y="127843"/>
                </a:cubicBezTo>
                <a:cubicBezTo>
                  <a:pt x="17822" y="138559"/>
                  <a:pt x="5953" y="158055"/>
                  <a:pt x="5953" y="180305"/>
                </a:cubicBezTo>
                <a:close/>
                <a:moveTo>
                  <a:pt x="68200" y="52648"/>
                </a:moveTo>
                <a:cubicBezTo>
                  <a:pt x="67866" y="51420"/>
                  <a:pt x="66749" y="50602"/>
                  <a:pt x="65484" y="50602"/>
                </a:cubicBezTo>
                <a:cubicBezTo>
                  <a:pt x="64219" y="50602"/>
                  <a:pt x="63103" y="51420"/>
                  <a:pt x="62768" y="52648"/>
                </a:cubicBezTo>
                <a:lnTo>
                  <a:pt x="60536" y="60536"/>
                </a:lnTo>
                <a:lnTo>
                  <a:pt x="52648" y="62768"/>
                </a:lnTo>
                <a:cubicBezTo>
                  <a:pt x="51420" y="63103"/>
                  <a:pt x="50602" y="64219"/>
                  <a:pt x="50602" y="65484"/>
                </a:cubicBezTo>
                <a:cubicBezTo>
                  <a:pt x="50602" y="66749"/>
                  <a:pt x="51420" y="67866"/>
                  <a:pt x="52648" y="68200"/>
                </a:cubicBezTo>
                <a:lnTo>
                  <a:pt x="60536" y="70433"/>
                </a:lnTo>
                <a:lnTo>
                  <a:pt x="62768" y="78321"/>
                </a:lnTo>
                <a:cubicBezTo>
                  <a:pt x="63103" y="79549"/>
                  <a:pt x="64219" y="80367"/>
                  <a:pt x="65484" y="80367"/>
                </a:cubicBezTo>
                <a:cubicBezTo>
                  <a:pt x="66749" y="80367"/>
                  <a:pt x="67866" y="79549"/>
                  <a:pt x="68200" y="78321"/>
                </a:cubicBezTo>
                <a:lnTo>
                  <a:pt x="70433" y="70433"/>
                </a:lnTo>
                <a:lnTo>
                  <a:pt x="78321" y="68200"/>
                </a:lnTo>
                <a:cubicBezTo>
                  <a:pt x="79549" y="67866"/>
                  <a:pt x="80367" y="66749"/>
                  <a:pt x="80367" y="65484"/>
                </a:cubicBezTo>
                <a:cubicBezTo>
                  <a:pt x="80367" y="64219"/>
                  <a:pt x="79549" y="63103"/>
                  <a:pt x="78321" y="62768"/>
                </a:cubicBezTo>
                <a:lnTo>
                  <a:pt x="70433" y="60536"/>
                </a:lnTo>
                <a:lnTo>
                  <a:pt x="68200" y="52648"/>
                </a:lnTo>
                <a:close/>
                <a:moveTo>
                  <a:pt x="56555" y="181570"/>
                </a:moveTo>
                <a:lnTo>
                  <a:pt x="56555" y="190500"/>
                </a:lnTo>
                <a:lnTo>
                  <a:pt x="74414" y="190500"/>
                </a:lnTo>
                <a:lnTo>
                  <a:pt x="74414" y="181570"/>
                </a:lnTo>
                <a:cubicBezTo>
                  <a:pt x="74414" y="176622"/>
                  <a:pt x="70433" y="172641"/>
                  <a:pt x="65484" y="172641"/>
                </a:cubicBezTo>
                <a:cubicBezTo>
                  <a:pt x="60536" y="172641"/>
                  <a:pt x="56555" y="176622"/>
                  <a:pt x="56555" y="181570"/>
                </a:cubicBezTo>
                <a:close/>
                <a:moveTo>
                  <a:pt x="101203" y="172641"/>
                </a:moveTo>
                <a:cubicBezTo>
                  <a:pt x="96255" y="172641"/>
                  <a:pt x="92273" y="176622"/>
                  <a:pt x="92273" y="181570"/>
                </a:cubicBezTo>
                <a:lnTo>
                  <a:pt x="92273" y="190500"/>
                </a:lnTo>
                <a:lnTo>
                  <a:pt x="110133" y="190500"/>
                </a:lnTo>
                <a:lnTo>
                  <a:pt x="110133" y="181570"/>
                </a:lnTo>
                <a:cubicBezTo>
                  <a:pt x="110133" y="176622"/>
                  <a:pt x="106152" y="172641"/>
                  <a:pt x="101203" y="17264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1111250" y="4184652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Embodied Agents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9750" y="4660902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Embodied conversational agents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enhance engagement and trust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compared to text-only systems.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5273677"/>
            <a:ext cx="5311775" cy="730250"/>
          </a:xfrm>
          <a:custGeom>
            <a:avLst/>
            <a:gdLst/>
            <a:ahLst/>
            <a:cxnLst/>
            <a:rect l="l" t="t" r="r" b="b"/>
            <a:pathLst>
              <a:path w="5311775" h="730250">
                <a:moveTo>
                  <a:pt x="76202" y="0"/>
                </a:moveTo>
                <a:lnTo>
                  <a:pt x="5235573" y="0"/>
                </a:lnTo>
                <a:cubicBezTo>
                  <a:pt x="5277658" y="0"/>
                  <a:pt x="5311775" y="34117"/>
                  <a:pt x="5311775" y="76202"/>
                </a:cubicBezTo>
                <a:lnTo>
                  <a:pt x="5311775" y="654048"/>
                </a:lnTo>
                <a:cubicBezTo>
                  <a:pt x="5311775" y="696133"/>
                  <a:pt x="5277658" y="730250"/>
                  <a:pt x="5235573" y="730250"/>
                </a:cubicBezTo>
                <a:lnTo>
                  <a:pt x="76202" y="730250"/>
                </a:lnTo>
                <a:cubicBezTo>
                  <a:pt x="34117" y="730250"/>
                  <a:pt x="0" y="696133"/>
                  <a:pt x="0" y="6540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400" y="5391150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Cassell et al. (2000)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demonstrated that visual presence creates stronger user connection and improves information retention in advisory contexts.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5375" y="1336675"/>
            <a:ext cx="5635625" cy="2225675"/>
          </a:xfrm>
          <a:custGeom>
            <a:avLst/>
            <a:gdLst/>
            <a:ahLst/>
            <a:cxnLst/>
            <a:rect l="l" t="t" r="r" b="b"/>
            <a:pathLst>
              <a:path w="5635625" h="2225675">
                <a:moveTo>
                  <a:pt x="114311" y="0"/>
                </a:moveTo>
                <a:lnTo>
                  <a:pt x="5521314" y="0"/>
                </a:lnTo>
                <a:cubicBezTo>
                  <a:pt x="5584446" y="0"/>
                  <a:pt x="5635625" y="51179"/>
                  <a:pt x="5635625" y="114311"/>
                </a:cubicBezTo>
                <a:lnTo>
                  <a:pt x="5635625" y="2111364"/>
                </a:lnTo>
                <a:cubicBezTo>
                  <a:pt x="5635625" y="2174496"/>
                  <a:pt x="5584446" y="2225675"/>
                  <a:pt x="5521314" y="2225675"/>
                </a:cubicBezTo>
                <a:lnTo>
                  <a:pt x="114311" y="2225675"/>
                </a:lnTo>
                <a:cubicBezTo>
                  <a:pt x="51179" y="2225675"/>
                  <a:pt x="0" y="2174496"/>
                  <a:pt x="0" y="2111364"/>
                </a:cubicBezTo>
                <a:lnTo>
                  <a:pt x="0" y="114311"/>
                </a:lnTo>
                <a:cubicBezTo>
                  <a:pt x="0" y="51179"/>
                  <a:pt x="51179" y="0"/>
                  <a:pt x="114311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5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0950" y="14922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300" y="16256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4519" y="85018"/>
                </a:moveTo>
                <a:cubicBezTo>
                  <a:pt x="29468" y="50416"/>
                  <a:pt x="59271" y="23812"/>
                  <a:pt x="95250" y="23812"/>
                </a:cubicBezTo>
                <a:cubicBezTo>
                  <a:pt x="114970" y="23812"/>
                  <a:pt x="132829" y="31812"/>
                  <a:pt x="145777" y="44723"/>
                </a:cubicBezTo>
                <a:cubicBezTo>
                  <a:pt x="145852" y="44797"/>
                  <a:pt x="145926" y="44872"/>
                  <a:pt x="146000" y="44946"/>
                </a:cubicBezTo>
                <a:lnTo>
                  <a:pt x="148828" y="47625"/>
                </a:lnTo>
                <a:lnTo>
                  <a:pt x="131006" y="47625"/>
                </a:lnTo>
                <a:cubicBezTo>
                  <a:pt x="124420" y="47625"/>
                  <a:pt x="119100" y="52946"/>
                  <a:pt x="119100" y="59531"/>
                </a:cubicBezTo>
                <a:cubicBezTo>
                  <a:pt x="119100" y="66117"/>
                  <a:pt x="124420" y="71438"/>
                  <a:pt x="131006" y="71438"/>
                </a:cubicBezTo>
                <a:lnTo>
                  <a:pt x="178631" y="71438"/>
                </a:lnTo>
                <a:cubicBezTo>
                  <a:pt x="185217" y="71438"/>
                  <a:pt x="190537" y="66117"/>
                  <a:pt x="190537" y="59531"/>
                </a:cubicBezTo>
                <a:lnTo>
                  <a:pt x="190537" y="11906"/>
                </a:lnTo>
                <a:cubicBezTo>
                  <a:pt x="190537" y="5321"/>
                  <a:pt x="185217" y="0"/>
                  <a:pt x="178631" y="0"/>
                </a:cubicBezTo>
                <a:cubicBezTo>
                  <a:pt x="172045" y="0"/>
                  <a:pt x="166725" y="5321"/>
                  <a:pt x="166725" y="11906"/>
                </a:cubicBezTo>
                <a:lnTo>
                  <a:pt x="166725" y="31775"/>
                </a:lnTo>
                <a:lnTo>
                  <a:pt x="162520" y="27794"/>
                </a:lnTo>
                <a:cubicBezTo>
                  <a:pt x="145293" y="10641"/>
                  <a:pt x="121481" y="0"/>
                  <a:pt x="95250" y="0"/>
                </a:cubicBezTo>
                <a:cubicBezTo>
                  <a:pt x="47253" y="0"/>
                  <a:pt x="7553" y="35496"/>
                  <a:pt x="967" y="81669"/>
                </a:cubicBezTo>
                <a:cubicBezTo>
                  <a:pt x="37" y="88181"/>
                  <a:pt x="4539" y="94208"/>
                  <a:pt x="11050" y="95138"/>
                </a:cubicBezTo>
                <a:cubicBezTo>
                  <a:pt x="17562" y="96069"/>
                  <a:pt x="23589" y="91529"/>
                  <a:pt x="24519" y="85055"/>
                </a:cubicBezTo>
                <a:close/>
                <a:moveTo>
                  <a:pt x="189533" y="108831"/>
                </a:moveTo>
                <a:cubicBezTo>
                  <a:pt x="190463" y="102319"/>
                  <a:pt x="185924" y="96292"/>
                  <a:pt x="179450" y="95362"/>
                </a:cubicBezTo>
                <a:cubicBezTo>
                  <a:pt x="172975" y="94431"/>
                  <a:pt x="166911" y="98971"/>
                  <a:pt x="165981" y="105445"/>
                </a:cubicBezTo>
                <a:cubicBezTo>
                  <a:pt x="161032" y="140047"/>
                  <a:pt x="131229" y="166650"/>
                  <a:pt x="95250" y="166650"/>
                </a:cubicBezTo>
                <a:cubicBezTo>
                  <a:pt x="75530" y="166650"/>
                  <a:pt x="57671" y="158651"/>
                  <a:pt x="44723" y="145740"/>
                </a:cubicBezTo>
                <a:cubicBezTo>
                  <a:pt x="44648" y="145666"/>
                  <a:pt x="44574" y="145591"/>
                  <a:pt x="44500" y="145517"/>
                </a:cubicBezTo>
                <a:lnTo>
                  <a:pt x="41672" y="142838"/>
                </a:lnTo>
                <a:lnTo>
                  <a:pt x="59494" y="142838"/>
                </a:lnTo>
                <a:cubicBezTo>
                  <a:pt x="66080" y="142838"/>
                  <a:pt x="71400" y="137517"/>
                  <a:pt x="71400" y="130932"/>
                </a:cubicBezTo>
                <a:cubicBezTo>
                  <a:pt x="71400" y="124346"/>
                  <a:pt x="66080" y="119025"/>
                  <a:pt x="59494" y="119025"/>
                </a:cubicBezTo>
                <a:lnTo>
                  <a:pt x="11906" y="119063"/>
                </a:lnTo>
                <a:cubicBezTo>
                  <a:pt x="8744" y="119063"/>
                  <a:pt x="5693" y="120328"/>
                  <a:pt x="3460" y="122597"/>
                </a:cubicBezTo>
                <a:cubicBezTo>
                  <a:pt x="1228" y="124867"/>
                  <a:pt x="-37" y="127881"/>
                  <a:pt x="0" y="131080"/>
                </a:cubicBezTo>
                <a:lnTo>
                  <a:pt x="372" y="178333"/>
                </a:lnTo>
                <a:cubicBezTo>
                  <a:pt x="409" y="184919"/>
                  <a:pt x="5804" y="190202"/>
                  <a:pt x="12390" y="190128"/>
                </a:cubicBezTo>
                <a:cubicBezTo>
                  <a:pt x="18976" y="190054"/>
                  <a:pt x="24259" y="184696"/>
                  <a:pt x="24185" y="178110"/>
                </a:cubicBezTo>
                <a:lnTo>
                  <a:pt x="24036" y="158948"/>
                </a:lnTo>
                <a:lnTo>
                  <a:pt x="28017" y="162706"/>
                </a:lnTo>
                <a:cubicBezTo>
                  <a:pt x="45244" y="179859"/>
                  <a:pt x="69019" y="190500"/>
                  <a:pt x="95250" y="190500"/>
                </a:cubicBezTo>
                <a:cubicBezTo>
                  <a:pt x="143247" y="190500"/>
                  <a:pt x="182947" y="155004"/>
                  <a:pt x="189533" y="108831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6902450" y="1587503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Lip Synchronisation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30950" y="2063753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Lip synchronisation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further improves realism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aligning speech with avatar facial movement.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34125" y="2676528"/>
            <a:ext cx="5311775" cy="730250"/>
          </a:xfrm>
          <a:custGeom>
            <a:avLst/>
            <a:gdLst/>
            <a:ahLst/>
            <a:cxnLst/>
            <a:rect l="l" t="t" r="r" b="b"/>
            <a:pathLst>
              <a:path w="5311775" h="730250">
                <a:moveTo>
                  <a:pt x="76202" y="0"/>
                </a:moveTo>
                <a:lnTo>
                  <a:pt x="5235573" y="0"/>
                </a:lnTo>
                <a:cubicBezTo>
                  <a:pt x="5277658" y="0"/>
                  <a:pt x="5311775" y="34117"/>
                  <a:pt x="5311775" y="76202"/>
                </a:cubicBezTo>
                <a:lnTo>
                  <a:pt x="5311775" y="654048"/>
                </a:lnTo>
                <a:cubicBezTo>
                  <a:pt x="5311775" y="696133"/>
                  <a:pt x="5277658" y="730250"/>
                  <a:pt x="5235573" y="730250"/>
                </a:cubicBezTo>
                <a:lnTo>
                  <a:pt x="76202" y="730250"/>
                </a:lnTo>
                <a:cubicBezTo>
                  <a:pt x="34117" y="730250"/>
                  <a:pt x="0" y="696133"/>
                  <a:pt x="0" y="65404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1600" y="2794002"/>
            <a:ext cx="51530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Taylor et al. (2017)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showed that accurate lip-sync significantly enhances perceived naturalness and user engagement in virtual agents.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5375" y="3686178"/>
            <a:ext cx="5635625" cy="2216150"/>
          </a:xfrm>
          <a:custGeom>
            <a:avLst/>
            <a:gdLst/>
            <a:ahLst/>
            <a:cxnLst/>
            <a:rect l="l" t="t" r="r" b="b"/>
            <a:pathLst>
              <a:path w="5635625" h="2216150">
                <a:moveTo>
                  <a:pt x="114309" y="0"/>
                </a:moveTo>
                <a:lnTo>
                  <a:pt x="5521316" y="0"/>
                </a:lnTo>
                <a:cubicBezTo>
                  <a:pt x="5584447" y="0"/>
                  <a:pt x="5635625" y="51178"/>
                  <a:pt x="5635625" y="114309"/>
                </a:cubicBezTo>
                <a:lnTo>
                  <a:pt x="5635625" y="2101841"/>
                </a:lnTo>
                <a:cubicBezTo>
                  <a:pt x="5635625" y="2164972"/>
                  <a:pt x="5584447" y="2216150"/>
                  <a:pt x="5521316" y="2216150"/>
                </a:cubicBezTo>
                <a:lnTo>
                  <a:pt x="114309" y="2216150"/>
                </a:lnTo>
                <a:cubicBezTo>
                  <a:pt x="51178" y="2216150"/>
                  <a:pt x="0" y="2164972"/>
                  <a:pt x="0" y="210184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6194" y="38862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6"/>
          <p:cNvSpPr/>
          <p:nvPr/>
        </p:nvSpPr>
        <p:spPr>
          <a:xfrm>
            <a:off x="6607175" y="3841752"/>
            <a:ext cx="513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Benefits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30950" y="42227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07150" y="42989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48071" y="50572"/>
                </a:moveTo>
                <a:cubicBezTo>
                  <a:pt x="44440" y="49024"/>
                  <a:pt x="40243" y="50691"/>
                  <a:pt x="38695" y="54322"/>
                </a:cubicBezTo>
                <a:cubicBezTo>
                  <a:pt x="37148" y="57954"/>
                  <a:pt x="38814" y="62151"/>
                  <a:pt x="42446" y="63698"/>
                </a:cubicBezTo>
                <a:lnTo>
                  <a:pt x="45988" y="65216"/>
                </a:lnTo>
                <a:cubicBezTo>
                  <a:pt x="51137" y="67419"/>
                  <a:pt x="56465" y="69056"/>
                  <a:pt x="61942" y="70068"/>
                </a:cubicBezTo>
                <a:lnTo>
                  <a:pt x="61942" y="84981"/>
                </a:lnTo>
                <a:cubicBezTo>
                  <a:pt x="61942" y="86261"/>
                  <a:pt x="61734" y="87541"/>
                  <a:pt x="61317" y="88731"/>
                </a:cubicBezTo>
                <a:lnTo>
                  <a:pt x="52774" y="114360"/>
                </a:lnTo>
                <a:cubicBezTo>
                  <a:pt x="51524" y="118110"/>
                  <a:pt x="53548" y="122158"/>
                  <a:pt x="57299" y="123408"/>
                </a:cubicBezTo>
                <a:cubicBezTo>
                  <a:pt x="61049" y="124658"/>
                  <a:pt x="65097" y="122634"/>
                  <a:pt x="66348" y="118884"/>
                </a:cubicBezTo>
                <a:lnTo>
                  <a:pt x="73610" y="97095"/>
                </a:lnTo>
                <a:cubicBezTo>
                  <a:pt x="73997" y="95964"/>
                  <a:pt x="75039" y="95190"/>
                  <a:pt x="76230" y="95190"/>
                </a:cubicBezTo>
                <a:cubicBezTo>
                  <a:pt x="77420" y="95190"/>
                  <a:pt x="78492" y="95964"/>
                  <a:pt x="78849" y="97095"/>
                </a:cubicBezTo>
                <a:lnTo>
                  <a:pt x="86112" y="118884"/>
                </a:lnTo>
                <a:cubicBezTo>
                  <a:pt x="87362" y="122634"/>
                  <a:pt x="91410" y="124658"/>
                  <a:pt x="95161" y="123408"/>
                </a:cubicBezTo>
                <a:cubicBezTo>
                  <a:pt x="98911" y="122158"/>
                  <a:pt x="100905" y="118170"/>
                  <a:pt x="99655" y="114419"/>
                </a:cubicBezTo>
                <a:lnTo>
                  <a:pt x="91113" y="88791"/>
                </a:lnTo>
                <a:cubicBezTo>
                  <a:pt x="90696" y="87570"/>
                  <a:pt x="90488" y="86320"/>
                  <a:pt x="90488" y="85040"/>
                </a:cubicBezTo>
                <a:lnTo>
                  <a:pt x="90488" y="70128"/>
                </a:lnTo>
                <a:cubicBezTo>
                  <a:pt x="95964" y="69086"/>
                  <a:pt x="101292" y="67479"/>
                  <a:pt x="106442" y="65276"/>
                </a:cubicBezTo>
                <a:lnTo>
                  <a:pt x="109984" y="63758"/>
                </a:lnTo>
                <a:cubicBezTo>
                  <a:pt x="113615" y="62210"/>
                  <a:pt x="115282" y="58013"/>
                  <a:pt x="113734" y="54382"/>
                </a:cubicBezTo>
                <a:cubicBezTo>
                  <a:pt x="112187" y="50750"/>
                  <a:pt x="107990" y="49084"/>
                  <a:pt x="104358" y="50631"/>
                </a:cubicBezTo>
                <a:lnTo>
                  <a:pt x="100816" y="52090"/>
                </a:lnTo>
                <a:cubicBezTo>
                  <a:pt x="93047" y="55424"/>
                  <a:pt x="84683" y="57150"/>
                  <a:pt x="76200" y="57150"/>
                </a:cubicBezTo>
                <a:cubicBezTo>
                  <a:pt x="67717" y="57150"/>
                  <a:pt x="59382" y="55424"/>
                  <a:pt x="51584" y="52090"/>
                </a:cubicBezTo>
                <a:lnTo>
                  <a:pt x="48042" y="50572"/>
                </a:lnTo>
                <a:close/>
                <a:moveTo>
                  <a:pt x="76200" y="47625"/>
                </a:moveTo>
                <a:cubicBezTo>
                  <a:pt x="82771" y="47625"/>
                  <a:pt x="88106" y="42290"/>
                  <a:pt x="88106" y="35719"/>
                </a:cubicBezTo>
                <a:cubicBezTo>
                  <a:pt x="88106" y="29148"/>
                  <a:pt x="82771" y="23813"/>
                  <a:pt x="76200" y="23813"/>
                </a:cubicBezTo>
                <a:cubicBezTo>
                  <a:pt x="69629" y="23813"/>
                  <a:pt x="64294" y="29148"/>
                  <a:pt x="64294" y="35719"/>
                </a:cubicBezTo>
                <a:cubicBezTo>
                  <a:pt x="64294" y="42290"/>
                  <a:pt x="69629" y="47625"/>
                  <a:pt x="76200" y="47625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6750050" y="4222752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50050" y="4451352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enables hands-free interaction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0950" y="47561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54F">
              <a:alpha val="3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07150" y="48323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1735" y="25926"/>
                </a:moveTo>
                <a:lnTo>
                  <a:pt x="76200" y="32087"/>
                </a:lnTo>
                <a:lnTo>
                  <a:pt x="80665" y="25926"/>
                </a:lnTo>
                <a:cubicBezTo>
                  <a:pt x="88106" y="15627"/>
                  <a:pt x="100072" y="9525"/>
                  <a:pt x="112782" y="9525"/>
                </a:cubicBezTo>
                <a:cubicBezTo>
                  <a:pt x="134660" y="9525"/>
                  <a:pt x="152400" y="27265"/>
                  <a:pt x="152400" y="49143"/>
                </a:cubicBezTo>
                <a:lnTo>
                  <a:pt x="152400" y="49917"/>
                </a:lnTo>
                <a:cubicBezTo>
                  <a:pt x="152400" y="83314"/>
                  <a:pt x="110758" y="122099"/>
                  <a:pt x="89029" y="138678"/>
                </a:cubicBezTo>
                <a:cubicBezTo>
                  <a:pt x="85338" y="141476"/>
                  <a:pt x="80814" y="142875"/>
                  <a:pt x="76200" y="142875"/>
                </a:cubicBezTo>
                <a:cubicBezTo>
                  <a:pt x="71586" y="142875"/>
                  <a:pt x="67032" y="141506"/>
                  <a:pt x="63371" y="138678"/>
                </a:cubicBezTo>
                <a:cubicBezTo>
                  <a:pt x="41642" y="122099"/>
                  <a:pt x="0" y="83314"/>
                  <a:pt x="0" y="49917"/>
                </a:cubicBezTo>
                <a:lnTo>
                  <a:pt x="0" y="49143"/>
                </a:lnTo>
                <a:cubicBezTo>
                  <a:pt x="0" y="27265"/>
                  <a:pt x="17740" y="9525"/>
                  <a:pt x="39618" y="9525"/>
                </a:cubicBezTo>
                <a:cubicBezTo>
                  <a:pt x="52328" y="9525"/>
                  <a:pt x="64294" y="15627"/>
                  <a:pt x="71735" y="2592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5" name="Text 33"/>
          <p:cNvSpPr/>
          <p:nvPr/>
        </p:nvSpPr>
        <p:spPr>
          <a:xfrm>
            <a:off x="6750050" y="4756152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50050" y="4984752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Avatar creates emotional connection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30950" y="52895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>
              <a:alpha val="3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97625" y="53657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6750050" y="5289552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50050" y="5518152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presence builds credibility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175" y="6283327"/>
            <a:ext cx="11426825" cy="463550"/>
          </a:xfrm>
          <a:custGeom>
            <a:avLst/>
            <a:gdLst/>
            <a:ahLst/>
            <a:cxnLst/>
            <a:rect l="l" t="t" r="r" b="b"/>
            <a:pathLst>
              <a:path w="11426825" h="463550">
                <a:moveTo>
                  <a:pt x="114302" y="0"/>
                </a:moveTo>
                <a:lnTo>
                  <a:pt x="11312523" y="0"/>
                </a:lnTo>
                <a:cubicBezTo>
                  <a:pt x="11375650" y="0"/>
                  <a:pt x="11426825" y="51175"/>
                  <a:pt x="11426825" y="114302"/>
                </a:cubicBezTo>
                <a:lnTo>
                  <a:pt x="11426825" y="349248"/>
                </a:lnTo>
                <a:cubicBezTo>
                  <a:pt x="11426825" y="412375"/>
                  <a:pt x="11375650" y="463550"/>
                  <a:pt x="11312523" y="463550"/>
                </a:cubicBezTo>
                <a:lnTo>
                  <a:pt x="114302" y="463550"/>
                </a:lnTo>
                <a:cubicBezTo>
                  <a:pt x="51175" y="463550"/>
                  <a:pt x="0" y="412375"/>
                  <a:pt x="0" y="349248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7369" y="6419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3" name="Text 41"/>
          <p:cNvSpPr/>
          <p:nvPr/>
        </p:nvSpPr>
        <p:spPr>
          <a:xfrm>
            <a:off x="854075" y="6400800"/>
            <a:ext cx="96658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 Citation: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775023" y="6400800"/>
            <a:ext cx="4071144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(Radford et al., 2023; Cassell et al., 2000; Taylor et al., 2017)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Synthesis &amp;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175" y="1412875"/>
            <a:ext cx="5597525" cy="4845050"/>
          </a:xfrm>
          <a:custGeom>
            <a:avLst/>
            <a:gdLst/>
            <a:ahLst/>
            <a:cxnLst/>
            <a:rect l="l" t="t" r="r" b="b"/>
            <a:pathLst>
              <a:path w="5597525" h="4845050">
                <a:moveTo>
                  <a:pt x="114295" y="0"/>
                </a:moveTo>
                <a:lnTo>
                  <a:pt x="5483230" y="0"/>
                </a:lnTo>
                <a:cubicBezTo>
                  <a:pt x="5546354" y="0"/>
                  <a:pt x="5597525" y="51171"/>
                  <a:pt x="5597525" y="114295"/>
                </a:cubicBezTo>
                <a:lnTo>
                  <a:pt x="5597525" y="4730755"/>
                </a:lnTo>
                <a:cubicBezTo>
                  <a:pt x="5597525" y="4793879"/>
                  <a:pt x="5546354" y="4845050"/>
                  <a:pt x="5483230" y="4845050"/>
                </a:cubicBezTo>
                <a:lnTo>
                  <a:pt x="114295" y="4845050"/>
                </a:lnTo>
                <a:cubicBezTo>
                  <a:pt x="51171" y="4845050"/>
                  <a:pt x="0" y="4793879"/>
                  <a:pt x="0" y="473075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6425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7" name="Text 5"/>
          <p:cNvSpPr/>
          <p:nvPr/>
        </p:nvSpPr>
        <p:spPr>
          <a:xfrm>
            <a:off x="920750" y="1606553"/>
            <a:ext cx="498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Existing Research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6900" y="2063753"/>
            <a:ext cx="5191125" cy="800100"/>
          </a:xfrm>
          <a:custGeom>
            <a:avLst/>
            <a:gdLst/>
            <a:ahLst/>
            <a:cxnLst/>
            <a:rect l="l" t="t" r="r" b="b"/>
            <a:pathLst>
              <a:path w="5191125" h="800100">
                <a:moveTo>
                  <a:pt x="38100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23898"/>
                </a:lnTo>
                <a:cubicBezTo>
                  <a:pt x="5191125" y="765983"/>
                  <a:pt x="5157008" y="800100"/>
                  <a:pt x="511492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96900" y="2063753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0" name="Shape 8"/>
          <p:cNvSpPr/>
          <p:nvPr/>
        </p:nvSpPr>
        <p:spPr>
          <a:xfrm>
            <a:off x="768350" y="22161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82650" y="23304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2" name="Text 10"/>
          <p:cNvSpPr/>
          <p:nvPr/>
        </p:nvSpPr>
        <p:spPr>
          <a:xfrm>
            <a:off x="1301750" y="2216153"/>
            <a:ext cx="3876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Hallucination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1750" y="2482853"/>
            <a:ext cx="3876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alone are prone to generating incorrect information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6900" y="2978153"/>
            <a:ext cx="5191125" cy="1028700"/>
          </a:xfrm>
          <a:custGeom>
            <a:avLst/>
            <a:gdLst/>
            <a:ahLst/>
            <a:cxnLst/>
            <a:rect l="l" t="t" r="r" b="b"/>
            <a:pathLst>
              <a:path w="5191125" h="1028700">
                <a:moveTo>
                  <a:pt x="38100" y="0"/>
                </a:moveTo>
                <a:lnTo>
                  <a:pt x="5114929" y="0"/>
                </a:lnTo>
                <a:cubicBezTo>
                  <a:pt x="5157011" y="0"/>
                  <a:pt x="5191125" y="34114"/>
                  <a:pt x="5191125" y="76196"/>
                </a:cubicBezTo>
                <a:lnTo>
                  <a:pt x="5191125" y="952504"/>
                </a:lnTo>
                <a:cubicBezTo>
                  <a:pt x="5191125" y="994586"/>
                  <a:pt x="5157011" y="1028700"/>
                  <a:pt x="5114929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6900" y="2978153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350" y="31305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63600" y="324485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23795" y="62657"/>
                </a:moveTo>
                <a:cubicBezTo>
                  <a:pt x="127427" y="61674"/>
                  <a:pt x="131237" y="63401"/>
                  <a:pt x="132874" y="66764"/>
                </a:cubicBezTo>
                <a:lnTo>
                  <a:pt x="138410" y="77956"/>
                </a:lnTo>
                <a:cubicBezTo>
                  <a:pt x="141476" y="78373"/>
                  <a:pt x="144482" y="79206"/>
                  <a:pt x="147310" y="80367"/>
                </a:cubicBezTo>
                <a:lnTo>
                  <a:pt x="157728" y="73432"/>
                </a:lnTo>
                <a:cubicBezTo>
                  <a:pt x="160853" y="71348"/>
                  <a:pt x="164991" y="71765"/>
                  <a:pt x="167640" y="74414"/>
                </a:cubicBezTo>
                <a:lnTo>
                  <a:pt x="173355" y="80129"/>
                </a:lnTo>
                <a:cubicBezTo>
                  <a:pt x="176004" y="82778"/>
                  <a:pt x="176421" y="86945"/>
                  <a:pt x="174337" y="90041"/>
                </a:cubicBezTo>
                <a:lnTo>
                  <a:pt x="167402" y="100429"/>
                </a:lnTo>
                <a:cubicBezTo>
                  <a:pt x="167967" y="101828"/>
                  <a:pt x="168473" y="103287"/>
                  <a:pt x="168890" y="104805"/>
                </a:cubicBezTo>
                <a:cubicBezTo>
                  <a:pt x="169307" y="106323"/>
                  <a:pt x="169575" y="107811"/>
                  <a:pt x="169783" y="109329"/>
                </a:cubicBezTo>
                <a:lnTo>
                  <a:pt x="181005" y="114866"/>
                </a:lnTo>
                <a:cubicBezTo>
                  <a:pt x="184368" y="116532"/>
                  <a:pt x="186095" y="120342"/>
                  <a:pt x="185112" y="123944"/>
                </a:cubicBezTo>
                <a:lnTo>
                  <a:pt x="183029" y="131743"/>
                </a:lnTo>
                <a:cubicBezTo>
                  <a:pt x="182047" y="135344"/>
                  <a:pt x="178683" y="137785"/>
                  <a:pt x="174933" y="137547"/>
                </a:cubicBezTo>
                <a:lnTo>
                  <a:pt x="162431" y="136743"/>
                </a:lnTo>
                <a:cubicBezTo>
                  <a:pt x="160556" y="139154"/>
                  <a:pt x="158383" y="141387"/>
                  <a:pt x="155912" y="143292"/>
                </a:cubicBezTo>
                <a:lnTo>
                  <a:pt x="156716" y="155764"/>
                </a:lnTo>
                <a:cubicBezTo>
                  <a:pt x="156954" y="159514"/>
                  <a:pt x="154513" y="162907"/>
                  <a:pt x="150912" y="163860"/>
                </a:cubicBezTo>
                <a:lnTo>
                  <a:pt x="143113" y="165943"/>
                </a:lnTo>
                <a:cubicBezTo>
                  <a:pt x="139482" y="166926"/>
                  <a:pt x="135701" y="165199"/>
                  <a:pt x="134035" y="161836"/>
                </a:cubicBezTo>
                <a:lnTo>
                  <a:pt x="128498" y="150644"/>
                </a:lnTo>
                <a:cubicBezTo>
                  <a:pt x="125432" y="150227"/>
                  <a:pt x="122426" y="149394"/>
                  <a:pt x="119598" y="148233"/>
                </a:cubicBezTo>
                <a:lnTo>
                  <a:pt x="109180" y="155168"/>
                </a:lnTo>
                <a:cubicBezTo>
                  <a:pt x="106055" y="157252"/>
                  <a:pt x="101918" y="156835"/>
                  <a:pt x="99268" y="154186"/>
                </a:cubicBezTo>
                <a:lnTo>
                  <a:pt x="93553" y="148471"/>
                </a:lnTo>
                <a:cubicBezTo>
                  <a:pt x="90904" y="145822"/>
                  <a:pt x="90488" y="141684"/>
                  <a:pt x="92571" y="138559"/>
                </a:cubicBezTo>
                <a:lnTo>
                  <a:pt x="99506" y="128141"/>
                </a:lnTo>
                <a:cubicBezTo>
                  <a:pt x="98941" y="126742"/>
                  <a:pt x="98435" y="125284"/>
                  <a:pt x="98018" y="123765"/>
                </a:cubicBezTo>
                <a:cubicBezTo>
                  <a:pt x="97601" y="122247"/>
                  <a:pt x="97334" y="120729"/>
                  <a:pt x="97125" y="119241"/>
                </a:cubicBezTo>
                <a:lnTo>
                  <a:pt x="85904" y="113705"/>
                </a:lnTo>
                <a:cubicBezTo>
                  <a:pt x="82540" y="112038"/>
                  <a:pt x="80843" y="108228"/>
                  <a:pt x="81796" y="104626"/>
                </a:cubicBezTo>
                <a:lnTo>
                  <a:pt x="83880" y="96828"/>
                </a:lnTo>
                <a:cubicBezTo>
                  <a:pt x="84862" y="93226"/>
                  <a:pt x="88225" y="90785"/>
                  <a:pt x="91976" y="91023"/>
                </a:cubicBezTo>
                <a:lnTo>
                  <a:pt x="104448" y="91827"/>
                </a:lnTo>
                <a:cubicBezTo>
                  <a:pt x="106323" y="89416"/>
                  <a:pt x="108496" y="87184"/>
                  <a:pt x="110966" y="85279"/>
                </a:cubicBezTo>
                <a:lnTo>
                  <a:pt x="110163" y="72836"/>
                </a:lnTo>
                <a:cubicBezTo>
                  <a:pt x="109924" y="69086"/>
                  <a:pt x="112365" y="65693"/>
                  <a:pt x="115967" y="64740"/>
                </a:cubicBezTo>
                <a:lnTo>
                  <a:pt x="123765" y="62657"/>
                </a:lnTo>
                <a:close/>
                <a:moveTo>
                  <a:pt x="133469" y="101203"/>
                </a:moveTo>
                <a:cubicBezTo>
                  <a:pt x="126241" y="101211"/>
                  <a:pt x="120379" y="107087"/>
                  <a:pt x="120387" y="114315"/>
                </a:cubicBezTo>
                <a:cubicBezTo>
                  <a:pt x="120395" y="121543"/>
                  <a:pt x="126270" y="127405"/>
                  <a:pt x="133499" y="127397"/>
                </a:cubicBezTo>
                <a:cubicBezTo>
                  <a:pt x="140727" y="127389"/>
                  <a:pt x="146589" y="121513"/>
                  <a:pt x="146581" y="114285"/>
                </a:cubicBezTo>
                <a:cubicBezTo>
                  <a:pt x="146573" y="107057"/>
                  <a:pt x="140697" y="101195"/>
                  <a:pt x="133469" y="101203"/>
                </a:cubicBezTo>
                <a:close/>
                <a:moveTo>
                  <a:pt x="66943" y="-13543"/>
                </a:moveTo>
                <a:lnTo>
                  <a:pt x="74741" y="-11460"/>
                </a:lnTo>
                <a:cubicBezTo>
                  <a:pt x="78343" y="-10477"/>
                  <a:pt x="80784" y="-7084"/>
                  <a:pt x="80546" y="-3364"/>
                </a:cubicBezTo>
                <a:lnTo>
                  <a:pt x="79742" y="9079"/>
                </a:lnTo>
                <a:cubicBezTo>
                  <a:pt x="82213" y="10984"/>
                  <a:pt x="84386" y="13186"/>
                  <a:pt x="86261" y="15627"/>
                </a:cubicBezTo>
                <a:lnTo>
                  <a:pt x="98762" y="14823"/>
                </a:lnTo>
                <a:cubicBezTo>
                  <a:pt x="102483" y="14585"/>
                  <a:pt x="105876" y="17026"/>
                  <a:pt x="106859" y="20628"/>
                </a:cubicBezTo>
                <a:lnTo>
                  <a:pt x="108942" y="28426"/>
                </a:lnTo>
                <a:cubicBezTo>
                  <a:pt x="109895" y="32028"/>
                  <a:pt x="108198" y="35838"/>
                  <a:pt x="104835" y="37505"/>
                </a:cubicBezTo>
                <a:lnTo>
                  <a:pt x="93613" y="43041"/>
                </a:lnTo>
                <a:cubicBezTo>
                  <a:pt x="93405" y="44559"/>
                  <a:pt x="93107" y="46077"/>
                  <a:pt x="92720" y="47565"/>
                </a:cubicBezTo>
                <a:cubicBezTo>
                  <a:pt x="92333" y="49054"/>
                  <a:pt x="91797" y="50542"/>
                  <a:pt x="91232" y="51941"/>
                </a:cubicBezTo>
                <a:lnTo>
                  <a:pt x="98167" y="62359"/>
                </a:lnTo>
                <a:cubicBezTo>
                  <a:pt x="100251" y="65484"/>
                  <a:pt x="99834" y="69622"/>
                  <a:pt x="97185" y="72271"/>
                </a:cubicBezTo>
                <a:lnTo>
                  <a:pt x="91470" y="77986"/>
                </a:lnTo>
                <a:cubicBezTo>
                  <a:pt x="88821" y="80635"/>
                  <a:pt x="84683" y="81052"/>
                  <a:pt x="81558" y="78968"/>
                </a:cubicBezTo>
                <a:lnTo>
                  <a:pt x="71140" y="72033"/>
                </a:lnTo>
                <a:cubicBezTo>
                  <a:pt x="68312" y="73194"/>
                  <a:pt x="65306" y="74027"/>
                  <a:pt x="62240" y="74444"/>
                </a:cubicBezTo>
                <a:lnTo>
                  <a:pt x="56704" y="85636"/>
                </a:lnTo>
                <a:cubicBezTo>
                  <a:pt x="55037" y="88999"/>
                  <a:pt x="51227" y="90696"/>
                  <a:pt x="47625" y="89743"/>
                </a:cubicBezTo>
                <a:lnTo>
                  <a:pt x="39826" y="87660"/>
                </a:lnTo>
                <a:cubicBezTo>
                  <a:pt x="36195" y="86678"/>
                  <a:pt x="33784" y="83284"/>
                  <a:pt x="34022" y="79564"/>
                </a:cubicBezTo>
                <a:lnTo>
                  <a:pt x="34826" y="67092"/>
                </a:lnTo>
                <a:cubicBezTo>
                  <a:pt x="32355" y="65187"/>
                  <a:pt x="30182" y="62984"/>
                  <a:pt x="28307" y="60543"/>
                </a:cubicBezTo>
                <a:lnTo>
                  <a:pt x="15806" y="61347"/>
                </a:lnTo>
                <a:cubicBezTo>
                  <a:pt x="12085" y="61585"/>
                  <a:pt x="8692" y="59144"/>
                  <a:pt x="7709" y="55543"/>
                </a:cubicBezTo>
                <a:lnTo>
                  <a:pt x="5626" y="47744"/>
                </a:lnTo>
                <a:cubicBezTo>
                  <a:pt x="4673" y="44142"/>
                  <a:pt x="6370" y="40332"/>
                  <a:pt x="9733" y="38666"/>
                </a:cubicBezTo>
                <a:lnTo>
                  <a:pt x="20955" y="33129"/>
                </a:lnTo>
                <a:cubicBezTo>
                  <a:pt x="21163" y="31611"/>
                  <a:pt x="21461" y="30123"/>
                  <a:pt x="21848" y="28605"/>
                </a:cubicBezTo>
                <a:cubicBezTo>
                  <a:pt x="22265" y="27087"/>
                  <a:pt x="22741" y="25628"/>
                  <a:pt x="23336" y="24229"/>
                </a:cubicBezTo>
                <a:lnTo>
                  <a:pt x="16401" y="13841"/>
                </a:lnTo>
                <a:cubicBezTo>
                  <a:pt x="14317" y="10716"/>
                  <a:pt x="14734" y="6578"/>
                  <a:pt x="17383" y="3929"/>
                </a:cubicBezTo>
                <a:lnTo>
                  <a:pt x="23098" y="-1786"/>
                </a:lnTo>
                <a:cubicBezTo>
                  <a:pt x="25747" y="-4435"/>
                  <a:pt x="29885" y="-4852"/>
                  <a:pt x="33010" y="-2768"/>
                </a:cubicBezTo>
                <a:lnTo>
                  <a:pt x="43428" y="4167"/>
                </a:lnTo>
                <a:cubicBezTo>
                  <a:pt x="46256" y="3006"/>
                  <a:pt x="49262" y="2173"/>
                  <a:pt x="52328" y="1756"/>
                </a:cubicBezTo>
                <a:lnTo>
                  <a:pt x="57864" y="-9436"/>
                </a:lnTo>
                <a:cubicBezTo>
                  <a:pt x="59531" y="-12799"/>
                  <a:pt x="63311" y="-14496"/>
                  <a:pt x="66943" y="-13543"/>
                </a:cubicBezTo>
                <a:close/>
                <a:moveTo>
                  <a:pt x="57269" y="25003"/>
                </a:moveTo>
                <a:cubicBezTo>
                  <a:pt x="50041" y="25003"/>
                  <a:pt x="44172" y="30872"/>
                  <a:pt x="44172" y="38100"/>
                </a:cubicBezTo>
                <a:cubicBezTo>
                  <a:pt x="44172" y="45328"/>
                  <a:pt x="50041" y="51197"/>
                  <a:pt x="57269" y="51197"/>
                </a:cubicBezTo>
                <a:cubicBezTo>
                  <a:pt x="64497" y="51197"/>
                  <a:pt x="70366" y="45328"/>
                  <a:pt x="70366" y="38100"/>
                </a:cubicBezTo>
                <a:cubicBezTo>
                  <a:pt x="70366" y="30872"/>
                  <a:pt x="64497" y="25003"/>
                  <a:pt x="57269" y="25003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1301750" y="3130553"/>
            <a:ext cx="441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 Limits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1750" y="3397253"/>
            <a:ext cx="441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Fine-tuning improves language behavior but not factual grounding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6900" y="4121153"/>
            <a:ext cx="5191125" cy="800100"/>
          </a:xfrm>
          <a:custGeom>
            <a:avLst/>
            <a:gdLst/>
            <a:ahLst/>
            <a:cxnLst/>
            <a:rect l="l" t="t" r="r" b="b"/>
            <a:pathLst>
              <a:path w="5191125" h="800100">
                <a:moveTo>
                  <a:pt x="38100" y="0"/>
                </a:moveTo>
                <a:lnTo>
                  <a:pt x="5114923" y="0"/>
                </a:lnTo>
                <a:cubicBezTo>
                  <a:pt x="5157008" y="0"/>
                  <a:pt x="5191125" y="34117"/>
                  <a:pt x="5191125" y="76202"/>
                </a:cubicBezTo>
                <a:lnTo>
                  <a:pt x="5191125" y="723898"/>
                </a:lnTo>
                <a:cubicBezTo>
                  <a:pt x="5191125" y="765983"/>
                  <a:pt x="5157008" y="800100"/>
                  <a:pt x="5114923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6900" y="4121153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350" y="42735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82650" y="43878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4" name="Text 22"/>
          <p:cNvSpPr/>
          <p:nvPr/>
        </p:nvSpPr>
        <p:spPr>
          <a:xfrm>
            <a:off x="1301750" y="4273553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RAG-Avatar Gap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01750" y="4540253"/>
            <a:ext cx="401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improves accuracy but is rarely combined with avatars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6900" y="5035553"/>
            <a:ext cx="5191125" cy="1028700"/>
          </a:xfrm>
          <a:custGeom>
            <a:avLst/>
            <a:gdLst/>
            <a:ahLst/>
            <a:cxnLst/>
            <a:rect l="l" t="t" r="r" b="b"/>
            <a:pathLst>
              <a:path w="5191125" h="1028700">
                <a:moveTo>
                  <a:pt x="38100" y="0"/>
                </a:moveTo>
                <a:lnTo>
                  <a:pt x="5114929" y="0"/>
                </a:lnTo>
                <a:cubicBezTo>
                  <a:pt x="5157011" y="0"/>
                  <a:pt x="5191125" y="34114"/>
                  <a:pt x="5191125" y="76196"/>
                </a:cubicBezTo>
                <a:lnTo>
                  <a:pt x="5191125" y="952504"/>
                </a:lnTo>
                <a:cubicBezTo>
                  <a:pt x="5191125" y="994586"/>
                  <a:pt x="5157011" y="1028700"/>
                  <a:pt x="5114929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96900" y="5035553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8" name="Shape 26"/>
          <p:cNvSpPr/>
          <p:nvPr/>
        </p:nvSpPr>
        <p:spPr>
          <a:xfrm>
            <a:off x="768350" y="51879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82650" y="53022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cubicBezTo>
                  <a:pt x="77182" y="0"/>
                  <a:pt x="85725" y="6400"/>
                  <a:pt x="85725" y="14288"/>
                </a:cubicBezTo>
                <a:cubicBezTo>
                  <a:pt x="85725" y="17383"/>
                  <a:pt x="84415" y="20241"/>
                  <a:pt x="82153" y="22592"/>
                </a:cubicBezTo>
                <a:cubicBezTo>
                  <a:pt x="80189" y="24646"/>
                  <a:pt x="78581" y="27146"/>
                  <a:pt x="78581" y="30004"/>
                </a:cubicBezTo>
                <a:cubicBezTo>
                  <a:pt x="78581" y="34469"/>
                  <a:pt x="82213" y="38100"/>
                  <a:pt x="86678" y="38100"/>
                </a:cubicBezTo>
                <a:lnTo>
                  <a:pt x="100013" y="38100"/>
                </a:lnTo>
                <a:cubicBezTo>
                  <a:pt x="107900" y="38100"/>
                  <a:pt x="114300" y="44500"/>
                  <a:pt x="114300" y="52388"/>
                </a:cubicBezTo>
                <a:lnTo>
                  <a:pt x="114300" y="65723"/>
                </a:lnTo>
                <a:cubicBezTo>
                  <a:pt x="114300" y="70187"/>
                  <a:pt x="117931" y="73819"/>
                  <a:pt x="122396" y="73819"/>
                </a:cubicBezTo>
                <a:cubicBezTo>
                  <a:pt x="125224" y="73819"/>
                  <a:pt x="127754" y="72211"/>
                  <a:pt x="129808" y="70247"/>
                </a:cubicBezTo>
                <a:cubicBezTo>
                  <a:pt x="132159" y="68014"/>
                  <a:pt x="135017" y="66675"/>
                  <a:pt x="138113" y="66675"/>
                </a:cubicBezTo>
                <a:cubicBezTo>
                  <a:pt x="146000" y="66675"/>
                  <a:pt x="152400" y="75218"/>
                  <a:pt x="152400" y="85725"/>
                </a:cubicBezTo>
                <a:cubicBezTo>
                  <a:pt x="152400" y="96232"/>
                  <a:pt x="146000" y="104775"/>
                  <a:pt x="138113" y="104775"/>
                </a:cubicBezTo>
                <a:cubicBezTo>
                  <a:pt x="135017" y="104775"/>
                  <a:pt x="132130" y="103465"/>
                  <a:pt x="129808" y="101203"/>
                </a:cubicBezTo>
                <a:cubicBezTo>
                  <a:pt x="127754" y="99239"/>
                  <a:pt x="125254" y="97631"/>
                  <a:pt x="122396" y="97631"/>
                </a:cubicBezTo>
                <a:cubicBezTo>
                  <a:pt x="117931" y="97631"/>
                  <a:pt x="114300" y="101263"/>
                  <a:pt x="114300" y="105728"/>
                </a:cubicBezTo>
                <a:lnTo>
                  <a:pt x="114300" y="138113"/>
                </a:lnTo>
                <a:cubicBezTo>
                  <a:pt x="114300" y="146000"/>
                  <a:pt x="107900" y="152400"/>
                  <a:pt x="100013" y="152400"/>
                </a:cubicBezTo>
                <a:lnTo>
                  <a:pt x="83106" y="152400"/>
                </a:lnTo>
                <a:cubicBezTo>
                  <a:pt x="79296" y="152400"/>
                  <a:pt x="76200" y="149304"/>
                  <a:pt x="76200" y="145494"/>
                </a:cubicBezTo>
                <a:cubicBezTo>
                  <a:pt x="76200" y="142756"/>
                  <a:pt x="77926" y="140345"/>
                  <a:pt x="80129" y="138708"/>
                </a:cubicBezTo>
                <a:cubicBezTo>
                  <a:pt x="83582" y="136118"/>
                  <a:pt x="85725" y="132546"/>
                  <a:pt x="85725" y="128588"/>
                </a:cubicBezTo>
                <a:cubicBezTo>
                  <a:pt x="85725" y="120700"/>
                  <a:pt x="77182" y="114300"/>
                  <a:pt x="66675" y="114300"/>
                </a:cubicBezTo>
                <a:cubicBezTo>
                  <a:pt x="56168" y="114300"/>
                  <a:pt x="47625" y="120700"/>
                  <a:pt x="47625" y="128588"/>
                </a:cubicBezTo>
                <a:cubicBezTo>
                  <a:pt x="47625" y="132546"/>
                  <a:pt x="49768" y="136118"/>
                  <a:pt x="53221" y="138708"/>
                </a:cubicBezTo>
                <a:cubicBezTo>
                  <a:pt x="55424" y="140345"/>
                  <a:pt x="57150" y="142726"/>
                  <a:pt x="57150" y="145494"/>
                </a:cubicBezTo>
                <a:cubicBezTo>
                  <a:pt x="57150" y="149304"/>
                  <a:pt x="54054" y="152400"/>
                  <a:pt x="50244" y="152400"/>
                </a:cubicBezTo>
                <a:lnTo>
                  <a:pt x="14288" y="152400"/>
                </a:lnTo>
                <a:cubicBezTo>
                  <a:pt x="6400" y="152400"/>
                  <a:pt x="0" y="146000"/>
                  <a:pt x="0" y="138113"/>
                </a:cubicBezTo>
                <a:lnTo>
                  <a:pt x="0" y="102156"/>
                </a:lnTo>
                <a:cubicBezTo>
                  <a:pt x="0" y="98346"/>
                  <a:pt x="3096" y="95250"/>
                  <a:pt x="6906" y="95250"/>
                </a:cubicBezTo>
                <a:cubicBezTo>
                  <a:pt x="9644" y="95250"/>
                  <a:pt x="12055" y="96976"/>
                  <a:pt x="13692" y="99179"/>
                </a:cubicBezTo>
                <a:cubicBezTo>
                  <a:pt x="16282" y="102632"/>
                  <a:pt x="19854" y="104775"/>
                  <a:pt x="23813" y="104775"/>
                </a:cubicBezTo>
                <a:cubicBezTo>
                  <a:pt x="31700" y="104775"/>
                  <a:pt x="38100" y="96232"/>
                  <a:pt x="38100" y="85725"/>
                </a:cubicBezTo>
                <a:cubicBezTo>
                  <a:pt x="38100" y="75218"/>
                  <a:pt x="31700" y="66675"/>
                  <a:pt x="23813" y="66675"/>
                </a:cubicBezTo>
                <a:cubicBezTo>
                  <a:pt x="19854" y="66675"/>
                  <a:pt x="16282" y="68818"/>
                  <a:pt x="13692" y="72271"/>
                </a:cubicBezTo>
                <a:cubicBezTo>
                  <a:pt x="12055" y="74474"/>
                  <a:pt x="9674" y="76200"/>
                  <a:pt x="6906" y="76200"/>
                </a:cubicBezTo>
                <a:cubicBezTo>
                  <a:pt x="3096" y="76200"/>
                  <a:pt x="0" y="73104"/>
                  <a:pt x="0" y="69294"/>
                </a:cubicBezTo>
                <a:lnTo>
                  <a:pt x="0" y="52388"/>
                </a:lnTo>
                <a:cubicBezTo>
                  <a:pt x="0" y="44500"/>
                  <a:pt x="6400" y="38100"/>
                  <a:pt x="14288" y="38100"/>
                </a:cubicBezTo>
                <a:lnTo>
                  <a:pt x="46673" y="38100"/>
                </a:lnTo>
                <a:cubicBezTo>
                  <a:pt x="51137" y="38100"/>
                  <a:pt x="54769" y="34469"/>
                  <a:pt x="54769" y="30004"/>
                </a:cubicBezTo>
                <a:cubicBezTo>
                  <a:pt x="54769" y="27176"/>
                  <a:pt x="53161" y="24646"/>
                  <a:pt x="51197" y="22592"/>
                </a:cubicBezTo>
                <a:cubicBezTo>
                  <a:pt x="48964" y="20241"/>
                  <a:pt x="47625" y="17383"/>
                  <a:pt x="47625" y="14288"/>
                </a:cubicBezTo>
                <a:cubicBezTo>
                  <a:pt x="47625" y="6400"/>
                  <a:pt x="56168" y="0"/>
                  <a:pt x="66675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0" name="Text 28"/>
          <p:cNvSpPr/>
          <p:nvPr/>
        </p:nvSpPr>
        <p:spPr>
          <a:xfrm>
            <a:off x="1301750" y="5187953"/>
            <a:ext cx="4410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Void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01750" y="5454653"/>
            <a:ext cx="4410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Few systems integrate LLM + RAG + voice + avatar for academic advising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13475" y="1412875"/>
            <a:ext cx="5597525" cy="4083050"/>
          </a:xfrm>
          <a:custGeom>
            <a:avLst/>
            <a:gdLst/>
            <a:ahLst/>
            <a:cxnLst/>
            <a:rect l="l" t="t" r="r" b="b"/>
            <a:pathLst>
              <a:path w="5597525" h="4083050">
                <a:moveTo>
                  <a:pt x="114285" y="0"/>
                </a:moveTo>
                <a:lnTo>
                  <a:pt x="5483240" y="0"/>
                </a:lnTo>
                <a:cubicBezTo>
                  <a:pt x="5546358" y="0"/>
                  <a:pt x="5597525" y="51167"/>
                  <a:pt x="5597525" y="114285"/>
                </a:cubicBezTo>
                <a:lnTo>
                  <a:pt x="5597525" y="3968765"/>
                </a:lnTo>
                <a:cubicBezTo>
                  <a:pt x="5597525" y="4031883"/>
                  <a:pt x="5546358" y="4083050"/>
                  <a:pt x="5483240" y="4083050"/>
                </a:cubicBezTo>
                <a:lnTo>
                  <a:pt x="114285" y="4083050"/>
                </a:lnTo>
                <a:cubicBezTo>
                  <a:pt x="51167" y="4083050"/>
                  <a:pt x="0" y="4031883"/>
                  <a:pt x="0" y="3968765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5250" y="16446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97650" y="17970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7092950" y="1758953"/>
            <a:ext cx="2771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Project's Contribution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5250" y="2330453"/>
            <a:ext cx="5219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addresses these gaps through an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academic advising system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combines: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8425" y="3043241"/>
            <a:ext cx="5121275" cy="463550"/>
          </a:xfrm>
          <a:custGeom>
            <a:avLst/>
            <a:gdLst/>
            <a:ahLst/>
            <a:cxnLst/>
            <a:rect l="l" t="t" r="r" b="b"/>
            <a:pathLst>
              <a:path w="5121275" h="4635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387352"/>
                </a:lnTo>
                <a:cubicBezTo>
                  <a:pt x="5121275" y="429435"/>
                  <a:pt x="5087160" y="463550"/>
                  <a:pt x="5045077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9713" y="31797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9" name="Text 37"/>
          <p:cNvSpPr/>
          <p:nvPr/>
        </p:nvSpPr>
        <p:spPr>
          <a:xfrm>
            <a:off x="6918325" y="3160714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LLM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domain expertise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8425" y="3627438"/>
            <a:ext cx="5121275" cy="463550"/>
          </a:xfrm>
          <a:custGeom>
            <a:avLst/>
            <a:gdLst/>
            <a:ahLst/>
            <a:cxnLst/>
            <a:rect l="l" t="t" r="r" b="b"/>
            <a:pathLst>
              <a:path w="5121275" h="4635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387352"/>
                </a:lnTo>
                <a:cubicBezTo>
                  <a:pt x="5121275" y="429435"/>
                  <a:pt x="5087160" y="463550"/>
                  <a:pt x="5045077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9713" y="376396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6918325" y="3744916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factual accuracy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48425" y="4211639"/>
            <a:ext cx="5121275" cy="463550"/>
          </a:xfrm>
          <a:custGeom>
            <a:avLst/>
            <a:gdLst/>
            <a:ahLst/>
            <a:cxnLst/>
            <a:rect l="l" t="t" r="r" b="b"/>
            <a:pathLst>
              <a:path w="5121275" h="4635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387352"/>
                </a:lnTo>
                <a:cubicBezTo>
                  <a:pt x="5121275" y="429435"/>
                  <a:pt x="5087160" y="463550"/>
                  <a:pt x="5045077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9713" y="4348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6918325" y="4329113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interaction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accessibility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48425" y="4795841"/>
            <a:ext cx="5121275" cy="463550"/>
          </a:xfrm>
          <a:custGeom>
            <a:avLst/>
            <a:gdLst/>
            <a:ahLst/>
            <a:cxnLst/>
            <a:rect l="l" t="t" r="r" b="b"/>
            <a:pathLst>
              <a:path w="5121275" h="463550">
                <a:moveTo>
                  <a:pt x="76198" y="0"/>
                </a:moveTo>
                <a:lnTo>
                  <a:pt x="5045077" y="0"/>
                </a:lnTo>
                <a:cubicBezTo>
                  <a:pt x="5087160" y="0"/>
                  <a:pt x="5121275" y="34115"/>
                  <a:pt x="5121275" y="76198"/>
                </a:cubicBezTo>
                <a:lnTo>
                  <a:pt x="5121275" y="387352"/>
                </a:lnTo>
                <a:cubicBezTo>
                  <a:pt x="5121275" y="429435"/>
                  <a:pt x="5087160" y="463550"/>
                  <a:pt x="5045077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9713" y="493236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8" name="Text 46"/>
          <p:cNvSpPr/>
          <p:nvPr/>
        </p:nvSpPr>
        <p:spPr>
          <a:xfrm>
            <a:off x="6918325" y="4913314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Lip-synchronised avatar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engagement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3475" y="5691191"/>
            <a:ext cx="5597525" cy="882650"/>
          </a:xfrm>
          <a:custGeom>
            <a:avLst/>
            <a:gdLst/>
            <a:ahLst/>
            <a:cxnLst/>
            <a:rect l="l" t="t" r="r" b="b"/>
            <a:pathLst>
              <a:path w="5597525" h="882650">
                <a:moveTo>
                  <a:pt x="114303" y="0"/>
                </a:moveTo>
                <a:lnTo>
                  <a:pt x="5483222" y="0"/>
                </a:lnTo>
                <a:cubicBezTo>
                  <a:pt x="5546350" y="0"/>
                  <a:pt x="5597525" y="51175"/>
                  <a:pt x="5597525" y="114303"/>
                </a:cubicBezTo>
                <a:lnTo>
                  <a:pt x="5597525" y="768347"/>
                </a:lnTo>
                <a:cubicBezTo>
                  <a:pt x="5597525" y="831475"/>
                  <a:pt x="5546350" y="882650"/>
                  <a:pt x="5483222" y="882650"/>
                </a:cubicBezTo>
                <a:lnTo>
                  <a:pt x="114303" y="882650"/>
                </a:lnTo>
                <a:cubicBezTo>
                  <a:pt x="51218" y="882650"/>
                  <a:pt x="0" y="831432"/>
                  <a:pt x="0" y="768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83338" y="6018214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1" name="Text 49"/>
          <p:cNvSpPr/>
          <p:nvPr/>
        </p:nvSpPr>
        <p:spPr>
          <a:xfrm>
            <a:off x="6734175" y="5884864"/>
            <a:ext cx="495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Novelty: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First integrated system combining all four components specifically for academic advising.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175" y="1374775"/>
            <a:ext cx="11426825" cy="2578100"/>
          </a:xfrm>
          <a:custGeom>
            <a:avLst/>
            <a:gdLst/>
            <a:ahLst/>
            <a:cxnLst/>
            <a:rect l="l" t="t" r="r" b="b"/>
            <a:pathLst>
              <a:path w="11426825" h="2578100">
                <a:moveTo>
                  <a:pt x="114287" y="0"/>
                </a:moveTo>
                <a:lnTo>
                  <a:pt x="11312538" y="0"/>
                </a:lnTo>
                <a:cubicBezTo>
                  <a:pt x="11375657" y="0"/>
                  <a:pt x="11426825" y="51168"/>
                  <a:pt x="11426825" y="114287"/>
                </a:cubicBezTo>
                <a:lnTo>
                  <a:pt x="11426825" y="2463813"/>
                </a:lnTo>
                <a:cubicBezTo>
                  <a:pt x="11426825" y="2526932"/>
                  <a:pt x="11375657" y="2578100"/>
                  <a:pt x="11312538" y="2578100"/>
                </a:cubicBezTo>
                <a:lnTo>
                  <a:pt x="114287" y="2578100"/>
                </a:lnTo>
                <a:cubicBezTo>
                  <a:pt x="51210" y="2578100"/>
                  <a:pt x="0" y="2526890"/>
                  <a:pt x="0" y="2463813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917700"/>
            <a:ext cx="2082800" cy="1492250"/>
          </a:xfrm>
          <a:custGeom>
            <a:avLst/>
            <a:gdLst/>
            <a:ahLst/>
            <a:cxnLst/>
            <a:rect l="l" t="t" r="r" b="b"/>
            <a:pathLst>
              <a:path w="2082800" h="1492250">
                <a:moveTo>
                  <a:pt x="114306" y="0"/>
                </a:moveTo>
                <a:lnTo>
                  <a:pt x="1968494" y="0"/>
                </a:lnTo>
                <a:cubicBezTo>
                  <a:pt x="2031623" y="0"/>
                  <a:pt x="2082800" y="51177"/>
                  <a:pt x="2082800" y="114306"/>
                </a:cubicBezTo>
                <a:lnTo>
                  <a:pt x="2082800" y="1377944"/>
                </a:lnTo>
                <a:cubicBezTo>
                  <a:pt x="2082800" y="1441073"/>
                  <a:pt x="2031623" y="1492250"/>
                  <a:pt x="1968494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1841" y="203517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8" name="Shape 6"/>
          <p:cNvSpPr/>
          <p:nvPr/>
        </p:nvSpPr>
        <p:spPr>
          <a:xfrm>
            <a:off x="1549003" y="216852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660400" y="2606678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Voice-Enabled 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5163" y="2911478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with speech input/output capabilities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17727" y="252095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226926"/>
                </a:moveTo>
                <a:lnTo>
                  <a:pt x="226926" y="280504"/>
                </a:lnTo>
                <a:cubicBezTo>
                  <a:pt x="221791" y="285638"/>
                  <a:pt x="214145" y="287145"/>
                  <a:pt x="207448" y="284355"/>
                </a:cubicBezTo>
                <a:cubicBezTo>
                  <a:pt x="200751" y="281564"/>
                  <a:pt x="196453" y="275090"/>
                  <a:pt x="196453" y="267891"/>
                </a:cubicBezTo>
                <a:lnTo>
                  <a:pt x="196453" y="232172"/>
                </a:ln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196453" y="196453"/>
                </a:lnTo>
                <a:lnTo>
                  <a:pt x="196453" y="160734"/>
                </a:lnTo>
                <a:cubicBezTo>
                  <a:pt x="196453" y="153535"/>
                  <a:pt x="200806" y="147005"/>
                  <a:pt x="207504" y="144214"/>
                </a:cubicBezTo>
                <a:cubicBezTo>
                  <a:pt x="214201" y="141424"/>
                  <a:pt x="221847" y="142987"/>
                  <a:pt x="226981" y="148065"/>
                </a:cubicBezTo>
                <a:lnTo>
                  <a:pt x="280560" y="201644"/>
                </a:lnTo>
                <a:cubicBezTo>
                  <a:pt x="287536" y="208620"/>
                  <a:pt x="287536" y="219949"/>
                  <a:pt x="280560" y="226926"/>
                </a:cubicBezTo>
                <a:close/>
                <a:moveTo>
                  <a:pt x="5246" y="84051"/>
                </a:moveTo>
                <a:cubicBezTo>
                  <a:pt x="-1730" y="77074"/>
                  <a:pt x="-1730" y="65745"/>
                  <a:pt x="5246" y="58769"/>
                </a:cubicBezTo>
                <a:lnTo>
                  <a:pt x="58824" y="5190"/>
                </a:lnTo>
                <a:cubicBezTo>
                  <a:pt x="63959" y="56"/>
                  <a:pt x="71605" y="-1451"/>
                  <a:pt x="78302" y="1339"/>
                </a:cubicBezTo>
                <a:cubicBezTo>
                  <a:pt x="84999" y="4130"/>
                  <a:pt x="89297" y="10660"/>
                  <a:pt x="89297" y="17859"/>
                </a:cubicBezTo>
                <a:lnTo>
                  <a:pt x="89297" y="53578"/>
                </a:lnTo>
                <a:lnTo>
                  <a:pt x="267891" y="53578"/>
                </a:lnTo>
                <a:cubicBezTo>
                  <a:pt x="277769" y="53578"/>
                  <a:pt x="285750" y="61559"/>
                  <a:pt x="285750" y="71438"/>
                </a:cubicBezTo>
                <a:cubicBezTo>
                  <a:pt x="285750" y="81316"/>
                  <a:pt x="277769" y="89297"/>
                  <a:pt x="267891" y="89297"/>
                </a:cubicBezTo>
                <a:lnTo>
                  <a:pt x="89297" y="89297"/>
                </a:lnTo>
                <a:lnTo>
                  <a:pt x="89297" y="125016"/>
                </a:lnTo>
                <a:cubicBezTo>
                  <a:pt x="89297" y="132215"/>
                  <a:pt x="84944" y="138745"/>
                  <a:pt x="78246" y="141536"/>
                </a:cubicBezTo>
                <a:cubicBezTo>
                  <a:pt x="71549" y="144326"/>
                  <a:pt x="63903" y="142763"/>
                  <a:pt x="58769" y="137685"/>
                </a:cubicBezTo>
                <a:lnTo>
                  <a:pt x="5190" y="8410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Shape 10"/>
          <p:cNvSpPr/>
          <p:nvPr/>
        </p:nvSpPr>
        <p:spPr>
          <a:xfrm>
            <a:off x="5056485" y="1917700"/>
            <a:ext cx="2082800" cy="1492250"/>
          </a:xfrm>
          <a:custGeom>
            <a:avLst/>
            <a:gdLst/>
            <a:ahLst/>
            <a:cxnLst/>
            <a:rect l="l" t="t" r="r" b="b"/>
            <a:pathLst>
              <a:path w="2082800" h="1492250">
                <a:moveTo>
                  <a:pt x="114306" y="0"/>
                </a:moveTo>
                <a:lnTo>
                  <a:pt x="1968494" y="0"/>
                </a:lnTo>
                <a:cubicBezTo>
                  <a:pt x="2031623" y="0"/>
                  <a:pt x="2082800" y="51177"/>
                  <a:pt x="2082800" y="114306"/>
                </a:cubicBezTo>
                <a:lnTo>
                  <a:pt x="2082800" y="1377944"/>
                </a:lnTo>
                <a:cubicBezTo>
                  <a:pt x="2082800" y="1441073"/>
                  <a:pt x="2031623" y="1492250"/>
                  <a:pt x="1968494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FFD54F">
                  <a:alpha val="5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67301" y="203517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12557" y="216852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135860" y="2606678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 Server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40623" y="2911478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 orchestration and request handling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93187" y="252095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226926"/>
                </a:moveTo>
                <a:lnTo>
                  <a:pt x="226926" y="280504"/>
                </a:lnTo>
                <a:cubicBezTo>
                  <a:pt x="221791" y="285638"/>
                  <a:pt x="214145" y="287145"/>
                  <a:pt x="207448" y="284355"/>
                </a:cubicBezTo>
                <a:cubicBezTo>
                  <a:pt x="200751" y="281564"/>
                  <a:pt x="196453" y="275090"/>
                  <a:pt x="196453" y="267891"/>
                </a:cubicBezTo>
                <a:lnTo>
                  <a:pt x="196453" y="232172"/>
                </a:lnTo>
                <a:lnTo>
                  <a:pt x="17859" y="232172"/>
                </a:lnTo>
                <a:cubicBezTo>
                  <a:pt x="7981" y="232172"/>
                  <a:pt x="0" y="224191"/>
                  <a:pt x="0" y="214313"/>
                </a:cubicBezTo>
                <a:cubicBezTo>
                  <a:pt x="0" y="204434"/>
                  <a:pt x="7981" y="196453"/>
                  <a:pt x="17859" y="196453"/>
                </a:cubicBezTo>
                <a:lnTo>
                  <a:pt x="196453" y="196453"/>
                </a:lnTo>
                <a:lnTo>
                  <a:pt x="196453" y="160734"/>
                </a:lnTo>
                <a:cubicBezTo>
                  <a:pt x="196453" y="153535"/>
                  <a:pt x="200806" y="147005"/>
                  <a:pt x="207504" y="144214"/>
                </a:cubicBezTo>
                <a:cubicBezTo>
                  <a:pt x="214201" y="141424"/>
                  <a:pt x="221847" y="142987"/>
                  <a:pt x="226981" y="148065"/>
                </a:cubicBezTo>
                <a:lnTo>
                  <a:pt x="280560" y="201644"/>
                </a:lnTo>
                <a:cubicBezTo>
                  <a:pt x="287536" y="208620"/>
                  <a:pt x="287536" y="219949"/>
                  <a:pt x="280560" y="226926"/>
                </a:cubicBezTo>
                <a:close/>
                <a:moveTo>
                  <a:pt x="5246" y="84051"/>
                </a:moveTo>
                <a:cubicBezTo>
                  <a:pt x="-1730" y="77074"/>
                  <a:pt x="-1730" y="65745"/>
                  <a:pt x="5246" y="58769"/>
                </a:cubicBezTo>
                <a:lnTo>
                  <a:pt x="58824" y="5190"/>
                </a:lnTo>
                <a:cubicBezTo>
                  <a:pt x="63959" y="56"/>
                  <a:pt x="71605" y="-1451"/>
                  <a:pt x="78302" y="1339"/>
                </a:cubicBezTo>
                <a:cubicBezTo>
                  <a:pt x="84999" y="4130"/>
                  <a:pt x="89297" y="10660"/>
                  <a:pt x="89297" y="17859"/>
                </a:cubicBezTo>
                <a:lnTo>
                  <a:pt x="89297" y="53578"/>
                </a:lnTo>
                <a:lnTo>
                  <a:pt x="267891" y="53578"/>
                </a:lnTo>
                <a:cubicBezTo>
                  <a:pt x="277769" y="53578"/>
                  <a:pt x="285750" y="61559"/>
                  <a:pt x="285750" y="71438"/>
                </a:cubicBezTo>
                <a:cubicBezTo>
                  <a:pt x="285750" y="81316"/>
                  <a:pt x="277769" y="89297"/>
                  <a:pt x="267891" y="89297"/>
                </a:cubicBezTo>
                <a:lnTo>
                  <a:pt x="89297" y="89297"/>
                </a:lnTo>
                <a:lnTo>
                  <a:pt x="89297" y="125016"/>
                </a:lnTo>
                <a:cubicBezTo>
                  <a:pt x="89297" y="132215"/>
                  <a:pt x="84944" y="138745"/>
                  <a:pt x="78246" y="141536"/>
                </a:cubicBezTo>
                <a:cubicBezTo>
                  <a:pt x="71549" y="144326"/>
                  <a:pt x="63903" y="142763"/>
                  <a:pt x="58769" y="137685"/>
                </a:cubicBezTo>
                <a:lnTo>
                  <a:pt x="5190" y="84106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8" name="Shape 16"/>
          <p:cNvSpPr/>
          <p:nvPr/>
        </p:nvSpPr>
        <p:spPr>
          <a:xfrm>
            <a:off x="9531946" y="1917700"/>
            <a:ext cx="2082800" cy="1492250"/>
          </a:xfrm>
          <a:custGeom>
            <a:avLst/>
            <a:gdLst/>
            <a:ahLst/>
            <a:cxnLst/>
            <a:rect l="l" t="t" r="r" b="b"/>
            <a:pathLst>
              <a:path w="2082800" h="1492250">
                <a:moveTo>
                  <a:pt x="114306" y="0"/>
                </a:moveTo>
                <a:lnTo>
                  <a:pt x="1968494" y="0"/>
                </a:lnTo>
                <a:cubicBezTo>
                  <a:pt x="2031623" y="0"/>
                  <a:pt x="2082800" y="51177"/>
                  <a:pt x="2082800" y="114306"/>
                </a:cubicBezTo>
                <a:lnTo>
                  <a:pt x="2082800" y="1377944"/>
                </a:lnTo>
                <a:cubicBezTo>
                  <a:pt x="2082800" y="1441073"/>
                  <a:pt x="2031623" y="1492250"/>
                  <a:pt x="1968494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42762" y="203517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88018" y="216852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1" name="Text 19"/>
          <p:cNvSpPr/>
          <p:nvPr/>
        </p:nvSpPr>
        <p:spPr>
          <a:xfrm>
            <a:off x="9611320" y="2606678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16083" y="2911478"/>
            <a:ext cx="19145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retrieval and context injection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175" y="4111627"/>
            <a:ext cx="3702050" cy="1644650"/>
          </a:xfrm>
          <a:custGeom>
            <a:avLst/>
            <a:gdLst/>
            <a:ahLst/>
            <a:cxnLst/>
            <a:rect l="l" t="t" r="r" b="b"/>
            <a:pathLst>
              <a:path w="3702050" h="1644650">
                <a:moveTo>
                  <a:pt x="114303" y="0"/>
                </a:moveTo>
                <a:lnTo>
                  <a:pt x="3587747" y="0"/>
                </a:lnTo>
                <a:cubicBezTo>
                  <a:pt x="3650875" y="0"/>
                  <a:pt x="3702050" y="51175"/>
                  <a:pt x="3702050" y="114303"/>
                </a:cubicBezTo>
                <a:lnTo>
                  <a:pt x="3702050" y="1530347"/>
                </a:lnTo>
                <a:cubicBezTo>
                  <a:pt x="3702050" y="1593475"/>
                  <a:pt x="3650875" y="1644650"/>
                  <a:pt x="3587747" y="1644650"/>
                </a:cubicBezTo>
                <a:lnTo>
                  <a:pt x="114303" y="1644650"/>
                </a:lnTo>
                <a:cubicBezTo>
                  <a:pt x="51175" y="1644650"/>
                  <a:pt x="0" y="1593475"/>
                  <a:pt x="0" y="1530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FFD54F">
                  <a:alpha val="5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750" y="426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4050" y="438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1035050" y="4324350"/>
            <a:ext cx="133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LLM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750" y="4762500"/>
            <a:ext cx="346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Domain-optimized language model for academic content generation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4975" y="4111627"/>
            <a:ext cx="3702050" cy="1644650"/>
          </a:xfrm>
          <a:custGeom>
            <a:avLst/>
            <a:gdLst/>
            <a:ahLst/>
            <a:cxnLst/>
            <a:rect l="l" t="t" r="r" b="b"/>
            <a:pathLst>
              <a:path w="3702050" h="1644650">
                <a:moveTo>
                  <a:pt x="114303" y="0"/>
                </a:moveTo>
                <a:lnTo>
                  <a:pt x="3587747" y="0"/>
                </a:lnTo>
                <a:cubicBezTo>
                  <a:pt x="3650875" y="0"/>
                  <a:pt x="3702050" y="51175"/>
                  <a:pt x="3702050" y="114303"/>
                </a:cubicBezTo>
                <a:lnTo>
                  <a:pt x="3702050" y="1530347"/>
                </a:lnTo>
                <a:cubicBezTo>
                  <a:pt x="3702050" y="1593475"/>
                  <a:pt x="3650875" y="1644650"/>
                  <a:pt x="3587747" y="1644650"/>
                </a:cubicBezTo>
                <a:lnTo>
                  <a:pt x="114303" y="1644650"/>
                </a:lnTo>
                <a:cubicBezTo>
                  <a:pt x="51175" y="1644650"/>
                  <a:pt x="0" y="1593475"/>
                  <a:pt x="0" y="1530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4DB6AC">
                  <a:alpha val="5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0550" y="426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14850" y="438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4895850" y="4324350"/>
            <a:ext cx="1209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AI Avatar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0550" y="4762500"/>
            <a:ext cx="3467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interface with real-time lip synchronisation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5775" y="4111627"/>
            <a:ext cx="3702050" cy="1644650"/>
          </a:xfrm>
          <a:custGeom>
            <a:avLst/>
            <a:gdLst/>
            <a:ahLst/>
            <a:cxnLst/>
            <a:rect l="l" t="t" r="r" b="b"/>
            <a:pathLst>
              <a:path w="3702050" h="1644650">
                <a:moveTo>
                  <a:pt x="114303" y="0"/>
                </a:moveTo>
                <a:lnTo>
                  <a:pt x="3587747" y="0"/>
                </a:lnTo>
                <a:cubicBezTo>
                  <a:pt x="3650875" y="0"/>
                  <a:pt x="3702050" y="51175"/>
                  <a:pt x="3702050" y="114303"/>
                </a:cubicBezTo>
                <a:lnTo>
                  <a:pt x="3702050" y="1530347"/>
                </a:lnTo>
                <a:cubicBezTo>
                  <a:pt x="3702050" y="1593475"/>
                  <a:pt x="3650875" y="1644650"/>
                  <a:pt x="3587747" y="1644650"/>
                </a:cubicBezTo>
                <a:lnTo>
                  <a:pt x="114303" y="1644650"/>
                </a:lnTo>
                <a:cubicBezTo>
                  <a:pt x="51175" y="1644650"/>
                  <a:pt x="0" y="1593475"/>
                  <a:pt x="0" y="1530347"/>
                </a:cubicBezTo>
                <a:lnTo>
                  <a:pt x="0" y="114303"/>
                </a:lnTo>
                <a:cubicBezTo>
                  <a:pt x="0" y="51218"/>
                  <a:pt x="51218" y="0"/>
                  <a:pt x="11430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61350" y="426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F6B7A"/>
          </a:solidFill>
          <a:ln/>
        </p:spPr>
      </p:sp>
      <p:sp>
        <p:nvSpPr>
          <p:cNvPr id="35" name="Shape 33"/>
          <p:cNvSpPr/>
          <p:nvPr/>
        </p:nvSpPr>
        <p:spPr>
          <a:xfrm>
            <a:off x="8375650" y="4381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E0E0E0"/>
          </a:solidFill>
          <a:ln/>
        </p:spPr>
      </p:sp>
      <p:sp>
        <p:nvSpPr>
          <p:cNvPr id="36" name="Text 34"/>
          <p:cNvSpPr/>
          <p:nvPr/>
        </p:nvSpPr>
        <p:spPr>
          <a:xfrm>
            <a:off x="8756650" y="432435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Benefits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9925" y="4800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8" name="Text 36"/>
          <p:cNvSpPr/>
          <p:nvPr/>
        </p:nvSpPr>
        <p:spPr>
          <a:xfrm>
            <a:off x="8528050" y="47625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design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9925" y="5105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8528050" y="50673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components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89925" y="5410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8528050" y="53721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maintenance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4175" y="5915028"/>
            <a:ext cx="11426825" cy="558800"/>
          </a:xfrm>
          <a:custGeom>
            <a:avLst/>
            <a:gdLst/>
            <a:ahLst/>
            <a:cxnLst/>
            <a:rect l="l" t="t" r="r" b="b"/>
            <a:pathLst>
              <a:path w="11426825" h="558800">
                <a:moveTo>
                  <a:pt x="114303" y="0"/>
                </a:moveTo>
                <a:lnTo>
                  <a:pt x="11312522" y="0"/>
                </a:lnTo>
                <a:cubicBezTo>
                  <a:pt x="11375650" y="0"/>
                  <a:pt x="11426825" y="51175"/>
                  <a:pt x="11426825" y="114303"/>
                </a:cubicBezTo>
                <a:lnTo>
                  <a:pt x="11426825" y="444497"/>
                </a:lnTo>
                <a:cubicBezTo>
                  <a:pt x="11426825" y="507625"/>
                  <a:pt x="11375650" y="558800"/>
                  <a:pt x="11312522" y="558800"/>
                </a:cubicBezTo>
                <a:lnTo>
                  <a:pt x="114303" y="558800"/>
                </a:lnTo>
                <a:cubicBezTo>
                  <a:pt x="51175" y="558800"/>
                  <a:pt x="0" y="507625"/>
                  <a:pt x="0" y="4444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F6B7A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8325" y="60801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5" name="Text 43"/>
          <p:cNvSpPr/>
          <p:nvPr/>
        </p:nvSpPr>
        <p:spPr>
          <a:xfrm>
            <a:off x="977900" y="6070602"/>
            <a:ext cx="9934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architecture is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modular and scalable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allowing independent updates to each component without disrupting the entire system.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 (Overview)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175" y="1374775"/>
            <a:ext cx="11426825" cy="1558925"/>
          </a:xfrm>
          <a:custGeom>
            <a:avLst/>
            <a:gdLst/>
            <a:ahLst/>
            <a:cxnLst/>
            <a:rect l="l" t="t" r="r" b="b"/>
            <a:pathLst>
              <a:path w="11426825" h="1558925">
                <a:moveTo>
                  <a:pt x="114300" y="0"/>
                </a:moveTo>
                <a:lnTo>
                  <a:pt x="11312525" y="0"/>
                </a:lnTo>
                <a:cubicBezTo>
                  <a:pt x="11375651" y="0"/>
                  <a:pt x="11426825" y="51174"/>
                  <a:pt x="11426825" y="114300"/>
                </a:cubicBezTo>
                <a:lnTo>
                  <a:pt x="11426825" y="1444625"/>
                </a:lnTo>
                <a:cubicBezTo>
                  <a:pt x="11426825" y="1507709"/>
                  <a:pt x="11375609" y="1558925"/>
                  <a:pt x="11312525" y="1558925"/>
                </a:cubicBezTo>
                <a:lnTo>
                  <a:pt x="114300" y="1558925"/>
                </a:lnTo>
                <a:cubicBezTo>
                  <a:pt x="51174" y="1558925"/>
                  <a:pt x="0" y="1507751"/>
                  <a:pt x="0" y="144462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850" y="156845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17018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49350" y="1644653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7850" y="2178053"/>
            <a:ext cx="111252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Retrieval-Augmented Generation pipeline ensures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factual accuracy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a structured six-stage process that separates knowledge retrieval from language generation.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3087689"/>
            <a:ext cx="11426825" cy="2940050"/>
          </a:xfrm>
          <a:custGeom>
            <a:avLst/>
            <a:gdLst/>
            <a:ahLst/>
            <a:cxnLst/>
            <a:rect l="l" t="t" r="r" b="b"/>
            <a:pathLst>
              <a:path w="11426825" h="2940050">
                <a:moveTo>
                  <a:pt x="114309" y="0"/>
                </a:moveTo>
                <a:lnTo>
                  <a:pt x="11312516" y="0"/>
                </a:lnTo>
                <a:cubicBezTo>
                  <a:pt x="11375605" y="0"/>
                  <a:pt x="11426825" y="51220"/>
                  <a:pt x="11426825" y="114309"/>
                </a:cubicBezTo>
                <a:lnTo>
                  <a:pt x="11426825" y="2825741"/>
                </a:lnTo>
                <a:cubicBezTo>
                  <a:pt x="11426825" y="2888872"/>
                  <a:pt x="11375647" y="2940050"/>
                  <a:pt x="11312516" y="2940050"/>
                </a:cubicBezTo>
                <a:lnTo>
                  <a:pt x="114309" y="2940050"/>
                </a:lnTo>
                <a:cubicBezTo>
                  <a:pt x="51220" y="2940050"/>
                  <a:pt x="0" y="2888830"/>
                  <a:pt x="0" y="2825741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663" y="33131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2" name="Text 10"/>
          <p:cNvSpPr/>
          <p:nvPr/>
        </p:nvSpPr>
        <p:spPr>
          <a:xfrm>
            <a:off x="873125" y="3281363"/>
            <a:ext cx="10839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Six-Stage Process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6900" y="3700463"/>
            <a:ext cx="3562350" cy="990600"/>
          </a:xfrm>
          <a:custGeom>
            <a:avLst/>
            <a:gdLst/>
            <a:ahLst/>
            <a:cxnLst/>
            <a:rect l="l" t="t" r="r" b="b"/>
            <a:pathLst>
              <a:path w="3562350" h="990600">
                <a:moveTo>
                  <a:pt x="38100" y="0"/>
                </a:moveTo>
                <a:lnTo>
                  <a:pt x="3486153" y="0"/>
                </a:lnTo>
                <a:cubicBezTo>
                  <a:pt x="3528235" y="0"/>
                  <a:pt x="3562350" y="34115"/>
                  <a:pt x="3562350" y="76197"/>
                </a:cubicBezTo>
                <a:lnTo>
                  <a:pt x="3562350" y="914403"/>
                </a:lnTo>
                <a:cubicBezTo>
                  <a:pt x="3562350" y="956485"/>
                  <a:pt x="3528235" y="990600"/>
                  <a:pt x="34861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6900" y="370046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350" y="3852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6" name="Text 14"/>
          <p:cNvSpPr/>
          <p:nvPr/>
        </p:nvSpPr>
        <p:spPr>
          <a:xfrm>
            <a:off x="730250" y="385286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3650" y="3929063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Pair Generation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350" y="431006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documents into structured Q&amp;A format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26434" y="3700463"/>
            <a:ext cx="3562350" cy="990600"/>
          </a:xfrm>
          <a:custGeom>
            <a:avLst/>
            <a:gdLst/>
            <a:ahLst/>
            <a:cxnLst/>
            <a:rect l="l" t="t" r="r" b="b"/>
            <a:pathLst>
              <a:path w="3562350" h="990600">
                <a:moveTo>
                  <a:pt x="38100" y="0"/>
                </a:moveTo>
                <a:lnTo>
                  <a:pt x="3486153" y="0"/>
                </a:lnTo>
                <a:cubicBezTo>
                  <a:pt x="3528235" y="0"/>
                  <a:pt x="3562350" y="34115"/>
                  <a:pt x="3562350" y="76197"/>
                </a:cubicBezTo>
                <a:lnTo>
                  <a:pt x="3562350" y="914403"/>
                </a:lnTo>
                <a:cubicBezTo>
                  <a:pt x="3562350" y="956485"/>
                  <a:pt x="3528235" y="990600"/>
                  <a:pt x="34861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26434" y="370046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1" name="Shape 19"/>
          <p:cNvSpPr/>
          <p:nvPr/>
        </p:nvSpPr>
        <p:spPr>
          <a:xfrm>
            <a:off x="4497884" y="3852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2" name="Text 20"/>
          <p:cNvSpPr/>
          <p:nvPr/>
        </p:nvSpPr>
        <p:spPr>
          <a:xfrm>
            <a:off x="4459784" y="385286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93184" y="3929063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Chunking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97884" y="431006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into small semantic units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55968" y="3700463"/>
            <a:ext cx="3562350" cy="990600"/>
          </a:xfrm>
          <a:custGeom>
            <a:avLst/>
            <a:gdLst/>
            <a:ahLst/>
            <a:cxnLst/>
            <a:rect l="l" t="t" r="r" b="b"/>
            <a:pathLst>
              <a:path w="3562350" h="990600">
                <a:moveTo>
                  <a:pt x="38100" y="0"/>
                </a:moveTo>
                <a:lnTo>
                  <a:pt x="3486153" y="0"/>
                </a:lnTo>
                <a:cubicBezTo>
                  <a:pt x="3528235" y="0"/>
                  <a:pt x="3562350" y="34115"/>
                  <a:pt x="3562350" y="76197"/>
                </a:cubicBezTo>
                <a:lnTo>
                  <a:pt x="3562350" y="914403"/>
                </a:lnTo>
                <a:cubicBezTo>
                  <a:pt x="3562350" y="956485"/>
                  <a:pt x="3528235" y="990600"/>
                  <a:pt x="34861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55968" y="370046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7418" y="3852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8" name="Text 26"/>
          <p:cNvSpPr/>
          <p:nvPr/>
        </p:nvSpPr>
        <p:spPr>
          <a:xfrm>
            <a:off x="8189318" y="385286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22718" y="3929063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 Differentiation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7418" y="431006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Tag by academic category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6900" y="4843463"/>
            <a:ext cx="3562350" cy="990600"/>
          </a:xfrm>
          <a:custGeom>
            <a:avLst/>
            <a:gdLst/>
            <a:ahLst/>
            <a:cxnLst/>
            <a:rect l="l" t="t" r="r" b="b"/>
            <a:pathLst>
              <a:path w="3562350" h="990600">
                <a:moveTo>
                  <a:pt x="38100" y="0"/>
                </a:moveTo>
                <a:lnTo>
                  <a:pt x="3486153" y="0"/>
                </a:lnTo>
                <a:cubicBezTo>
                  <a:pt x="3528235" y="0"/>
                  <a:pt x="3562350" y="34115"/>
                  <a:pt x="3562350" y="76197"/>
                </a:cubicBezTo>
                <a:lnTo>
                  <a:pt x="3562350" y="914403"/>
                </a:lnTo>
                <a:cubicBezTo>
                  <a:pt x="3562350" y="956485"/>
                  <a:pt x="3528235" y="990600"/>
                  <a:pt x="34861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96900" y="484346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3" name="Shape 31"/>
          <p:cNvSpPr/>
          <p:nvPr/>
        </p:nvSpPr>
        <p:spPr>
          <a:xfrm>
            <a:off x="768350" y="4995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4" name="Text 32"/>
          <p:cNvSpPr/>
          <p:nvPr/>
        </p:nvSpPr>
        <p:spPr>
          <a:xfrm>
            <a:off x="730250" y="499586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63650" y="5072063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8350" y="545306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to vector representations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26434" y="4843463"/>
            <a:ext cx="3562350" cy="990600"/>
          </a:xfrm>
          <a:custGeom>
            <a:avLst/>
            <a:gdLst/>
            <a:ahLst/>
            <a:cxnLst/>
            <a:rect l="l" t="t" r="r" b="b"/>
            <a:pathLst>
              <a:path w="3562350" h="990600">
                <a:moveTo>
                  <a:pt x="38100" y="0"/>
                </a:moveTo>
                <a:lnTo>
                  <a:pt x="3486153" y="0"/>
                </a:lnTo>
                <a:cubicBezTo>
                  <a:pt x="3528235" y="0"/>
                  <a:pt x="3562350" y="34115"/>
                  <a:pt x="3562350" y="76197"/>
                </a:cubicBezTo>
                <a:lnTo>
                  <a:pt x="3562350" y="914403"/>
                </a:lnTo>
                <a:cubicBezTo>
                  <a:pt x="3562350" y="956485"/>
                  <a:pt x="3528235" y="990600"/>
                  <a:pt x="34861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26434" y="484346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9" name="Shape 37"/>
          <p:cNvSpPr/>
          <p:nvPr/>
        </p:nvSpPr>
        <p:spPr>
          <a:xfrm>
            <a:off x="4497884" y="4995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0" name="Text 38"/>
          <p:cNvSpPr/>
          <p:nvPr/>
        </p:nvSpPr>
        <p:spPr>
          <a:xfrm>
            <a:off x="4459784" y="499586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93184" y="5072063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497884" y="545306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 search for relevant chunks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55968" y="4843463"/>
            <a:ext cx="3562350" cy="990600"/>
          </a:xfrm>
          <a:custGeom>
            <a:avLst/>
            <a:gdLst/>
            <a:ahLst/>
            <a:cxnLst/>
            <a:rect l="l" t="t" r="r" b="b"/>
            <a:pathLst>
              <a:path w="3562350" h="990600">
                <a:moveTo>
                  <a:pt x="38100" y="0"/>
                </a:moveTo>
                <a:lnTo>
                  <a:pt x="3486153" y="0"/>
                </a:lnTo>
                <a:cubicBezTo>
                  <a:pt x="3528235" y="0"/>
                  <a:pt x="3562350" y="34115"/>
                  <a:pt x="3562350" y="76197"/>
                </a:cubicBezTo>
                <a:lnTo>
                  <a:pt x="3562350" y="914403"/>
                </a:lnTo>
                <a:cubicBezTo>
                  <a:pt x="3562350" y="956485"/>
                  <a:pt x="3528235" y="990600"/>
                  <a:pt x="34861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55968" y="4843463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7418" y="49958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6" name="Text 44"/>
          <p:cNvSpPr/>
          <p:nvPr/>
        </p:nvSpPr>
        <p:spPr>
          <a:xfrm>
            <a:off x="8189318" y="499586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722718" y="5072063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Generation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227418" y="5453063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grounded responses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175" y="6186491"/>
            <a:ext cx="11426825" cy="558800"/>
          </a:xfrm>
          <a:custGeom>
            <a:avLst/>
            <a:gdLst/>
            <a:ahLst/>
            <a:cxnLst/>
            <a:rect l="l" t="t" r="r" b="b"/>
            <a:pathLst>
              <a:path w="11426825" h="558800">
                <a:moveTo>
                  <a:pt x="114303" y="0"/>
                </a:moveTo>
                <a:lnTo>
                  <a:pt x="11312522" y="0"/>
                </a:lnTo>
                <a:cubicBezTo>
                  <a:pt x="11375650" y="0"/>
                  <a:pt x="11426825" y="51175"/>
                  <a:pt x="11426825" y="114303"/>
                </a:cubicBezTo>
                <a:lnTo>
                  <a:pt x="11426825" y="444497"/>
                </a:lnTo>
                <a:cubicBezTo>
                  <a:pt x="11426825" y="507625"/>
                  <a:pt x="11375650" y="558800"/>
                  <a:pt x="11312522" y="558800"/>
                </a:cubicBezTo>
                <a:lnTo>
                  <a:pt x="114303" y="558800"/>
                </a:lnTo>
                <a:cubicBezTo>
                  <a:pt x="51175" y="558800"/>
                  <a:pt x="0" y="507625"/>
                  <a:pt x="0" y="44449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96900" y="635159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1" name="Text 49"/>
          <p:cNvSpPr/>
          <p:nvPr/>
        </p:nvSpPr>
        <p:spPr>
          <a:xfrm>
            <a:off x="939800" y="6342069"/>
            <a:ext cx="9601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pipeline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separates knowledge retrieval from language generation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ensuring responses are grounded in verified documents.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Details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 (Detailed Steps)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4175" y="1336675"/>
            <a:ext cx="5635625" cy="1263650"/>
          </a:xfrm>
          <a:custGeom>
            <a:avLst/>
            <a:gdLst/>
            <a:ahLst/>
            <a:cxnLst/>
            <a:rect l="l" t="t" r="r" b="b"/>
            <a:pathLst>
              <a:path w="5635625" h="1263650">
                <a:moveTo>
                  <a:pt x="114297" y="0"/>
                </a:moveTo>
                <a:lnTo>
                  <a:pt x="5521328" y="0"/>
                </a:lnTo>
                <a:cubicBezTo>
                  <a:pt x="5584452" y="0"/>
                  <a:pt x="5635625" y="51173"/>
                  <a:pt x="5635625" y="114297"/>
                </a:cubicBezTo>
                <a:lnTo>
                  <a:pt x="5635625" y="1149353"/>
                </a:lnTo>
                <a:cubicBezTo>
                  <a:pt x="5635625" y="1212477"/>
                  <a:pt x="5584452" y="1263650"/>
                  <a:pt x="5521328" y="1263650"/>
                </a:cubicBezTo>
                <a:lnTo>
                  <a:pt x="114297" y="1263650"/>
                </a:lnTo>
                <a:cubicBezTo>
                  <a:pt x="51173" y="1263650"/>
                  <a:pt x="0" y="1212477"/>
                  <a:pt x="0" y="1149353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9750" y="14922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" name="Text 5"/>
          <p:cNvSpPr/>
          <p:nvPr/>
        </p:nvSpPr>
        <p:spPr>
          <a:xfrm>
            <a:off x="496888" y="149225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5050" y="1549403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Pair Generation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750" y="1949453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academic documents into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structured question-answer pairs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creating a queryable knowledge base.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175" y="2720981"/>
            <a:ext cx="5635625" cy="1263650"/>
          </a:xfrm>
          <a:custGeom>
            <a:avLst/>
            <a:gdLst/>
            <a:ahLst/>
            <a:cxnLst/>
            <a:rect l="l" t="t" r="r" b="b"/>
            <a:pathLst>
              <a:path w="5635625" h="1263650">
                <a:moveTo>
                  <a:pt x="114297" y="0"/>
                </a:moveTo>
                <a:lnTo>
                  <a:pt x="5521328" y="0"/>
                </a:lnTo>
                <a:cubicBezTo>
                  <a:pt x="5584452" y="0"/>
                  <a:pt x="5635625" y="51173"/>
                  <a:pt x="5635625" y="114297"/>
                </a:cubicBezTo>
                <a:lnTo>
                  <a:pt x="5635625" y="1149353"/>
                </a:lnTo>
                <a:cubicBezTo>
                  <a:pt x="5635625" y="1212477"/>
                  <a:pt x="5584452" y="1263650"/>
                  <a:pt x="5521328" y="1263650"/>
                </a:cubicBezTo>
                <a:lnTo>
                  <a:pt x="114297" y="1263650"/>
                </a:lnTo>
                <a:cubicBezTo>
                  <a:pt x="51173" y="1263650"/>
                  <a:pt x="0" y="1212477"/>
                  <a:pt x="0" y="1149353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9750" y="2876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496888" y="28765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35050" y="2933700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Chunking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750" y="3333750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Split documents into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small semantic units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preserve context while enabling precise retrieval.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175" y="4105278"/>
            <a:ext cx="5635625" cy="1263650"/>
          </a:xfrm>
          <a:custGeom>
            <a:avLst/>
            <a:gdLst/>
            <a:ahLst/>
            <a:cxnLst/>
            <a:rect l="l" t="t" r="r" b="b"/>
            <a:pathLst>
              <a:path w="5635625" h="1263650">
                <a:moveTo>
                  <a:pt x="114297" y="0"/>
                </a:moveTo>
                <a:lnTo>
                  <a:pt x="5521328" y="0"/>
                </a:lnTo>
                <a:cubicBezTo>
                  <a:pt x="5584452" y="0"/>
                  <a:pt x="5635625" y="51173"/>
                  <a:pt x="5635625" y="114297"/>
                </a:cubicBezTo>
                <a:lnTo>
                  <a:pt x="5635625" y="1149353"/>
                </a:lnTo>
                <a:cubicBezTo>
                  <a:pt x="5635625" y="1212477"/>
                  <a:pt x="5584452" y="1263650"/>
                  <a:pt x="5521328" y="1263650"/>
                </a:cubicBezTo>
                <a:lnTo>
                  <a:pt x="114297" y="1263650"/>
                </a:lnTo>
                <a:cubicBezTo>
                  <a:pt x="51173" y="1263650"/>
                  <a:pt x="0" y="1212477"/>
                  <a:pt x="0" y="1149353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750" y="42608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496888" y="426085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35050" y="4318006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 Differentiation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750" y="4718056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Tag chunks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category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(programme structure, prerequisites, policies) for targeted retrieval.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75375" y="1336675"/>
            <a:ext cx="5635625" cy="1263650"/>
          </a:xfrm>
          <a:custGeom>
            <a:avLst/>
            <a:gdLst/>
            <a:ahLst/>
            <a:cxnLst/>
            <a:rect l="l" t="t" r="r" b="b"/>
            <a:pathLst>
              <a:path w="5635625" h="1263650">
                <a:moveTo>
                  <a:pt x="114297" y="0"/>
                </a:moveTo>
                <a:lnTo>
                  <a:pt x="5521328" y="0"/>
                </a:lnTo>
                <a:cubicBezTo>
                  <a:pt x="5584452" y="0"/>
                  <a:pt x="5635625" y="51173"/>
                  <a:pt x="5635625" y="114297"/>
                </a:cubicBezTo>
                <a:lnTo>
                  <a:pt x="5635625" y="1149353"/>
                </a:lnTo>
                <a:cubicBezTo>
                  <a:pt x="5635625" y="1212477"/>
                  <a:pt x="5584452" y="1263650"/>
                  <a:pt x="5521328" y="1263650"/>
                </a:cubicBezTo>
                <a:lnTo>
                  <a:pt x="114297" y="1263650"/>
                </a:lnTo>
                <a:cubicBezTo>
                  <a:pt x="51173" y="1263650"/>
                  <a:pt x="0" y="1212477"/>
                  <a:pt x="0" y="1149353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30950" y="149225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2" name="Text 20"/>
          <p:cNvSpPr/>
          <p:nvPr/>
        </p:nvSpPr>
        <p:spPr>
          <a:xfrm>
            <a:off x="6288088" y="1492253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26250" y="1549403"/>
            <a:ext cx="1057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30950" y="1949453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chunks into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representations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embedding models for semantic similarity search.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5375" y="2720981"/>
            <a:ext cx="5635625" cy="1263650"/>
          </a:xfrm>
          <a:custGeom>
            <a:avLst/>
            <a:gdLst/>
            <a:ahLst/>
            <a:cxnLst/>
            <a:rect l="l" t="t" r="r" b="b"/>
            <a:pathLst>
              <a:path w="5635625" h="1263650">
                <a:moveTo>
                  <a:pt x="114297" y="0"/>
                </a:moveTo>
                <a:lnTo>
                  <a:pt x="5521328" y="0"/>
                </a:lnTo>
                <a:cubicBezTo>
                  <a:pt x="5584452" y="0"/>
                  <a:pt x="5635625" y="51173"/>
                  <a:pt x="5635625" y="114297"/>
                </a:cubicBezTo>
                <a:lnTo>
                  <a:pt x="5635625" y="1149353"/>
                </a:lnTo>
                <a:cubicBezTo>
                  <a:pt x="5635625" y="1212477"/>
                  <a:pt x="5584452" y="1263650"/>
                  <a:pt x="5521328" y="1263650"/>
                </a:cubicBezTo>
                <a:lnTo>
                  <a:pt x="114297" y="1263650"/>
                </a:lnTo>
                <a:cubicBezTo>
                  <a:pt x="51173" y="1263650"/>
                  <a:pt x="0" y="1212477"/>
                  <a:pt x="0" y="1149353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0950" y="28765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7" name="Text 25"/>
          <p:cNvSpPr/>
          <p:nvPr/>
        </p:nvSpPr>
        <p:spPr>
          <a:xfrm>
            <a:off x="6288088" y="2876550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26250" y="2933700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30950" y="3333750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Retrieve relevant chunks using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similarity search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user query embedding.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5375" y="4105278"/>
            <a:ext cx="5635625" cy="1263650"/>
          </a:xfrm>
          <a:custGeom>
            <a:avLst/>
            <a:gdLst/>
            <a:ahLst/>
            <a:cxnLst/>
            <a:rect l="l" t="t" r="r" b="b"/>
            <a:pathLst>
              <a:path w="5635625" h="1263650">
                <a:moveTo>
                  <a:pt x="114297" y="0"/>
                </a:moveTo>
                <a:lnTo>
                  <a:pt x="5521328" y="0"/>
                </a:lnTo>
                <a:cubicBezTo>
                  <a:pt x="5584452" y="0"/>
                  <a:pt x="5635625" y="51173"/>
                  <a:pt x="5635625" y="114297"/>
                </a:cubicBezTo>
                <a:lnTo>
                  <a:pt x="5635625" y="1149353"/>
                </a:lnTo>
                <a:cubicBezTo>
                  <a:pt x="5635625" y="1212477"/>
                  <a:pt x="5584452" y="1263650"/>
                  <a:pt x="5521328" y="1263650"/>
                </a:cubicBezTo>
                <a:lnTo>
                  <a:pt x="114297" y="1263650"/>
                </a:lnTo>
                <a:cubicBezTo>
                  <a:pt x="51173" y="1263650"/>
                  <a:pt x="0" y="1212477"/>
                  <a:pt x="0" y="1149353"/>
                </a:cubicBezTo>
                <a:lnTo>
                  <a:pt x="0" y="114297"/>
                </a:lnTo>
                <a:cubicBezTo>
                  <a:pt x="0" y="51173"/>
                  <a:pt x="51173" y="0"/>
                  <a:pt x="114297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0950" y="42608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2" name="Text 30"/>
          <p:cNvSpPr/>
          <p:nvPr/>
        </p:nvSpPr>
        <p:spPr>
          <a:xfrm>
            <a:off x="6288088" y="4260856"/>
            <a:ext cx="466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26250" y="4318006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 Generation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30950" y="4718056"/>
            <a:ext cx="54006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responses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grounded in retrieved content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ensuring factual accuracy and source attribution.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4175" y="5991228"/>
            <a:ext cx="11426825" cy="482600"/>
          </a:xfrm>
          <a:custGeom>
            <a:avLst/>
            <a:gdLst/>
            <a:ahLst/>
            <a:cxnLst/>
            <a:rect l="l" t="t" r="r" b="b"/>
            <a:pathLst>
              <a:path w="11426825" h="482600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368301"/>
                </a:lnTo>
                <a:cubicBezTo>
                  <a:pt x="11426825" y="431427"/>
                  <a:pt x="11375652" y="482600"/>
                  <a:pt x="11312526" y="482600"/>
                </a:cubicBezTo>
                <a:lnTo>
                  <a:pt x="114299" y="482600"/>
                </a:lnTo>
                <a:cubicBezTo>
                  <a:pt x="51216" y="482600"/>
                  <a:pt x="0" y="431384"/>
                  <a:pt x="0" y="368301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225" y="611823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7" name="Text 35"/>
          <p:cNvSpPr/>
          <p:nvPr/>
        </p:nvSpPr>
        <p:spPr>
          <a:xfrm>
            <a:off x="939800" y="6108706"/>
            <a:ext cx="9858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Outcome: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stage builds upon the previous, creating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FFD54F"/>
                </a:solidFill>
                <a:highlight>
                  <a:srgbClr val="FFD54F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robust pipeline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 minimizes hallucination while maintaining natural language fluency.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of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Timeline: HIVE Academic Chatbot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81000" y="1257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Semester 1: Week 3 – Week 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679575"/>
            <a:ext cx="11426825" cy="4797425"/>
          </a:xfrm>
          <a:custGeom>
            <a:avLst/>
            <a:gdLst/>
            <a:ahLst/>
            <a:cxnLst/>
            <a:rect l="l" t="t" r="r" b="b"/>
            <a:pathLst>
              <a:path w="11426825" h="4797425">
                <a:moveTo>
                  <a:pt x="114323" y="0"/>
                </a:moveTo>
                <a:lnTo>
                  <a:pt x="11312502" y="0"/>
                </a:lnTo>
                <a:cubicBezTo>
                  <a:pt x="11375641" y="0"/>
                  <a:pt x="11426825" y="51184"/>
                  <a:pt x="11426825" y="114323"/>
                </a:cubicBezTo>
                <a:lnTo>
                  <a:pt x="11426825" y="4683102"/>
                </a:lnTo>
                <a:cubicBezTo>
                  <a:pt x="11426825" y="4746241"/>
                  <a:pt x="11375641" y="4797425"/>
                  <a:pt x="11312502" y="4797425"/>
                </a:cubicBezTo>
                <a:lnTo>
                  <a:pt x="114323" y="4797425"/>
                </a:lnTo>
                <a:cubicBezTo>
                  <a:pt x="51184" y="4797425"/>
                  <a:pt x="0" y="4746241"/>
                  <a:pt x="0" y="4683102"/>
                </a:cubicBezTo>
                <a:lnTo>
                  <a:pt x="0" y="114323"/>
                </a:lnTo>
                <a:cubicBezTo>
                  <a:pt x="0" y="51226"/>
                  <a:pt x="51226" y="0"/>
                  <a:pt x="11432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876428"/>
            <a:ext cx="3568700" cy="1720850"/>
          </a:xfrm>
          <a:custGeom>
            <a:avLst/>
            <a:gdLst/>
            <a:ahLst/>
            <a:cxnLst/>
            <a:rect l="l" t="t" r="r" b="b"/>
            <a:pathLst>
              <a:path w="3568700" h="1720850">
                <a:moveTo>
                  <a:pt x="114299" y="0"/>
                </a:moveTo>
                <a:lnTo>
                  <a:pt x="3454401" y="0"/>
                </a:lnTo>
                <a:cubicBezTo>
                  <a:pt x="3517527" y="0"/>
                  <a:pt x="3568700" y="51173"/>
                  <a:pt x="3568700" y="114299"/>
                </a:cubicBezTo>
                <a:lnTo>
                  <a:pt x="3568700" y="1606551"/>
                </a:lnTo>
                <a:cubicBezTo>
                  <a:pt x="3568700" y="1669677"/>
                  <a:pt x="3517527" y="1720850"/>
                  <a:pt x="3454401" y="1720850"/>
                </a:cubicBezTo>
                <a:lnTo>
                  <a:pt x="114299" y="1720850"/>
                </a:lnTo>
                <a:cubicBezTo>
                  <a:pt x="51216" y="1720850"/>
                  <a:pt x="0" y="1669634"/>
                  <a:pt x="0" y="16065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00" y="20320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829866" y="2127256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8100" y="2032006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 Analysis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08100" y="2298706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– 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5175" y="26416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3300" y="2603506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Programme structure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5175" y="29464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" y="2908306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prerequisites mapping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5175" y="32512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" y="3213106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Faculty policy collection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3717925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600" y="38735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63" y="3968753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08100" y="3873503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08100" y="4140203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– 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5175" y="44831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300" y="4445003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cleaning &amp; formatting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5175" y="47879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300" y="4749803"/>
            <a:ext cx="132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pair generation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10559" y="1876428"/>
            <a:ext cx="3568700" cy="1720850"/>
          </a:xfrm>
          <a:custGeom>
            <a:avLst/>
            <a:gdLst/>
            <a:ahLst/>
            <a:cxnLst/>
            <a:rect l="l" t="t" r="r" b="b"/>
            <a:pathLst>
              <a:path w="3568700" h="1720850">
                <a:moveTo>
                  <a:pt x="114299" y="0"/>
                </a:moveTo>
                <a:lnTo>
                  <a:pt x="3454401" y="0"/>
                </a:lnTo>
                <a:cubicBezTo>
                  <a:pt x="3517527" y="0"/>
                  <a:pt x="3568700" y="51173"/>
                  <a:pt x="3568700" y="114299"/>
                </a:cubicBezTo>
                <a:lnTo>
                  <a:pt x="3568700" y="1606551"/>
                </a:lnTo>
                <a:cubicBezTo>
                  <a:pt x="3568700" y="1669677"/>
                  <a:pt x="3517527" y="1720850"/>
                  <a:pt x="3454401" y="1720850"/>
                </a:cubicBezTo>
                <a:lnTo>
                  <a:pt x="114299" y="1720850"/>
                </a:lnTo>
                <a:cubicBezTo>
                  <a:pt x="51216" y="1720850"/>
                  <a:pt x="0" y="1669634"/>
                  <a:pt x="0" y="16065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66134" y="20320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63963" y="2127256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37634" y="2032006"/>
            <a:ext cx="1647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Implementation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37634" y="2298706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– 8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94709" y="26416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3" name="Text 31"/>
          <p:cNvSpPr/>
          <p:nvPr/>
        </p:nvSpPr>
        <p:spPr>
          <a:xfrm>
            <a:off x="4732834" y="2603506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chunking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94709" y="29464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5" name="Text 33"/>
          <p:cNvSpPr/>
          <p:nvPr/>
        </p:nvSpPr>
        <p:spPr>
          <a:xfrm>
            <a:off x="4732834" y="2908306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Embedding model setup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94709" y="32512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37" name="Text 35"/>
          <p:cNvSpPr/>
          <p:nvPr/>
        </p:nvSpPr>
        <p:spPr>
          <a:xfrm>
            <a:off x="4732834" y="3213106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database integration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10559" y="3717925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66134" y="38735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0" name="Text 38"/>
          <p:cNvSpPr/>
          <p:nvPr/>
        </p:nvSpPr>
        <p:spPr>
          <a:xfrm>
            <a:off x="4520208" y="3968753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9-10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037634" y="3873503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Fine-Tuning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037634" y="4140203"/>
            <a:ext cx="1362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9 – 10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94709" y="44831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4" name="Text 42"/>
          <p:cNvSpPr/>
          <p:nvPr/>
        </p:nvSpPr>
        <p:spPr>
          <a:xfrm>
            <a:off x="4732834" y="4445003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model selection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94709" y="47879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6" name="Text 44"/>
          <p:cNvSpPr/>
          <p:nvPr/>
        </p:nvSpPr>
        <p:spPr>
          <a:xfrm>
            <a:off x="4732834" y="4749803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on academic data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40093" y="1876428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95667" y="20320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9" name="Text 47"/>
          <p:cNvSpPr/>
          <p:nvPr/>
        </p:nvSpPr>
        <p:spPr>
          <a:xfrm>
            <a:off x="8237339" y="2127256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11-12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767167" y="2032006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Testing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67167" y="2298706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11 – 12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24242" y="26416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3" name="Text 51"/>
          <p:cNvSpPr/>
          <p:nvPr/>
        </p:nvSpPr>
        <p:spPr>
          <a:xfrm>
            <a:off x="8462367" y="2603506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Hallucination evaluation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24242" y="29464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5" name="Text 53"/>
          <p:cNvSpPr/>
          <p:nvPr/>
        </p:nvSpPr>
        <p:spPr>
          <a:xfrm>
            <a:off x="8462367" y="2908306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 accuracy testing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046443" y="3419475"/>
            <a:ext cx="3562350" cy="1362075"/>
          </a:xfrm>
          <a:custGeom>
            <a:avLst/>
            <a:gdLst/>
            <a:ahLst/>
            <a:cxnLst/>
            <a:rect l="l" t="t" r="r" b="b"/>
            <a:pathLst>
              <a:path w="3562350" h="1362075">
                <a:moveTo>
                  <a:pt x="114305" y="0"/>
                </a:moveTo>
                <a:lnTo>
                  <a:pt x="3448045" y="0"/>
                </a:lnTo>
                <a:cubicBezTo>
                  <a:pt x="3511174" y="0"/>
                  <a:pt x="3562350" y="51176"/>
                  <a:pt x="3562350" y="114305"/>
                </a:cubicBezTo>
                <a:lnTo>
                  <a:pt x="3562350" y="1247770"/>
                </a:lnTo>
                <a:cubicBezTo>
                  <a:pt x="3562350" y="1310899"/>
                  <a:pt x="3511174" y="1362075"/>
                  <a:pt x="3448045" y="1362075"/>
                </a:cubicBezTo>
                <a:lnTo>
                  <a:pt x="114305" y="1362075"/>
                </a:lnTo>
                <a:cubicBezTo>
                  <a:pt x="51176" y="1362075"/>
                  <a:pt x="0" y="1310899"/>
                  <a:pt x="0" y="1247770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30000"/>
                </a:srgbClr>
              </a:gs>
              <a:gs pos="100000">
                <a:srgbClr val="FFD54F">
                  <a:alpha val="10000"/>
                </a:srgbClr>
              </a:gs>
            </a:gsLst>
            <a:lin ang="2700000" scaled="1"/>
          </a:gradFill>
          <a:ln w="25400">
            <a:solidFill>
              <a:srgbClr val="FFD54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08368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8" name="Text 56"/>
          <p:cNvSpPr/>
          <p:nvPr/>
        </p:nvSpPr>
        <p:spPr>
          <a:xfrm>
            <a:off x="8352036" y="3676650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779868" y="3581400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 Complete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779868" y="384810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11543" y="4156075"/>
            <a:ext cx="3225800" cy="463550"/>
          </a:xfrm>
          <a:custGeom>
            <a:avLst/>
            <a:gdLst/>
            <a:ahLst/>
            <a:cxnLst/>
            <a:rect l="l" t="t" r="r" b="b"/>
            <a:pathLst>
              <a:path w="3225800" h="463550">
                <a:moveTo>
                  <a:pt x="76198" y="0"/>
                </a:moveTo>
                <a:lnTo>
                  <a:pt x="3149602" y="0"/>
                </a:lnTo>
                <a:cubicBezTo>
                  <a:pt x="3191685" y="0"/>
                  <a:pt x="3225800" y="34115"/>
                  <a:pt x="3225800" y="76198"/>
                </a:cubicBezTo>
                <a:lnTo>
                  <a:pt x="3225800" y="387352"/>
                </a:lnTo>
                <a:cubicBezTo>
                  <a:pt x="3225800" y="429435"/>
                  <a:pt x="3191685" y="463550"/>
                  <a:pt x="3149602" y="463550"/>
                </a:cubicBezTo>
                <a:lnTo>
                  <a:pt x="76198" y="463550"/>
                </a:lnTo>
                <a:cubicBezTo>
                  <a:pt x="34143" y="463550"/>
                  <a:pt x="0" y="429407"/>
                  <a:pt x="0" y="3873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FFD54F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94241" y="430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63" name="Text 61"/>
          <p:cNvSpPr/>
          <p:nvPr/>
        </p:nvSpPr>
        <p:spPr>
          <a:xfrm>
            <a:off x="8538567" y="42735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HIVE Chatbot Fully Functional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 of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Timeline: AI Avatar Development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D54F"/>
              </a:gs>
              <a:gs pos="100000">
                <a:srgbClr val="4DB6AC"/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81000" y="12573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Semester 2: Week 1 – Week 13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679575"/>
            <a:ext cx="11426825" cy="4883150"/>
          </a:xfrm>
          <a:custGeom>
            <a:avLst/>
            <a:gdLst/>
            <a:ahLst/>
            <a:cxnLst/>
            <a:rect l="l" t="t" r="r" b="b"/>
            <a:pathLst>
              <a:path w="11426825" h="4883150">
                <a:moveTo>
                  <a:pt x="114315" y="0"/>
                </a:moveTo>
                <a:lnTo>
                  <a:pt x="11312510" y="0"/>
                </a:lnTo>
                <a:cubicBezTo>
                  <a:pt x="11375645" y="0"/>
                  <a:pt x="11426825" y="51180"/>
                  <a:pt x="11426825" y="114315"/>
                </a:cubicBezTo>
                <a:lnTo>
                  <a:pt x="11426825" y="4768835"/>
                </a:lnTo>
                <a:cubicBezTo>
                  <a:pt x="11426825" y="4831970"/>
                  <a:pt x="11375645" y="4883150"/>
                  <a:pt x="11312510" y="4883150"/>
                </a:cubicBezTo>
                <a:lnTo>
                  <a:pt x="114315" y="4883150"/>
                </a:lnTo>
                <a:cubicBezTo>
                  <a:pt x="51180" y="4883150"/>
                  <a:pt x="0" y="4831970"/>
                  <a:pt x="0" y="4768835"/>
                </a:cubicBezTo>
                <a:lnTo>
                  <a:pt x="0" y="114315"/>
                </a:lnTo>
                <a:cubicBezTo>
                  <a:pt x="0" y="51223"/>
                  <a:pt x="51223" y="0"/>
                  <a:pt x="114315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876428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600" y="20320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9" name="Text 7"/>
          <p:cNvSpPr/>
          <p:nvPr/>
        </p:nvSpPr>
        <p:spPr>
          <a:xfrm>
            <a:off x="846832" y="2127256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08100" y="2032006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 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08100" y="2298706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 – 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5175" y="26416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3" name="Text 11"/>
          <p:cNvSpPr/>
          <p:nvPr/>
        </p:nvSpPr>
        <p:spPr>
          <a:xfrm>
            <a:off x="1003300" y="2603506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configuration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5175" y="29464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" y="2908306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planning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3413125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600" y="35687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829866" y="3663953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8100" y="3568703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Avatar Integration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8100" y="3835403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3 – 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5175" y="41783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3300" y="4140203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3D avatar import &amp; setup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5175" y="44831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300" y="4445003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Animation control system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4949831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600" y="5105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830263" y="5200650"/>
            <a:ext cx="352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8100" y="51054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 Integration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08100" y="53721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5 – 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5175" y="5715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1" name="Text 29"/>
          <p:cNvSpPr/>
          <p:nvPr/>
        </p:nvSpPr>
        <p:spPr>
          <a:xfrm>
            <a:off x="1003300" y="56769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Speech-to-text (Whisper)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5175" y="6019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3" name="Text 31"/>
          <p:cNvSpPr/>
          <p:nvPr/>
        </p:nvSpPr>
        <p:spPr>
          <a:xfrm>
            <a:off x="1003300" y="59817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Text-to-speech setup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10559" y="1876428"/>
            <a:ext cx="3568700" cy="1720850"/>
          </a:xfrm>
          <a:custGeom>
            <a:avLst/>
            <a:gdLst/>
            <a:ahLst/>
            <a:cxnLst/>
            <a:rect l="l" t="t" r="r" b="b"/>
            <a:pathLst>
              <a:path w="3568700" h="1720850">
                <a:moveTo>
                  <a:pt x="114299" y="0"/>
                </a:moveTo>
                <a:lnTo>
                  <a:pt x="3454401" y="0"/>
                </a:lnTo>
                <a:cubicBezTo>
                  <a:pt x="3517527" y="0"/>
                  <a:pt x="3568700" y="51173"/>
                  <a:pt x="3568700" y="114299"/>
                </a:cubicBezTo>
                <a:lnTo>
                  <a:pt x="3568700" y="1606551"/>
                </a:lnTo>
                <a:cubicBezTo>
                  <a:pt x="3568700" y="1669677"/>
                  <a:pt x="3517527" y="1720850"/>
                  <a:pt x="3454401" y="1720850"/>
                </a:cubicBezTo>
                <a:lnTo>
                  <a:pt x="114299" y="1720850"/>
                </a:lnTo>
                <a:cubicBezTo>
                  <a:pt x="51216" y="1720850"/>
                  <a:pt x="0" y="1669634"/>
                  <a:pt x="0" y="16065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66134" y="20320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36" name="Text 34"/>
          <p:cNvSpPr/>
          <p:nvPr/>
        </p:nvSpPr>
        <p:spPr>
          <a:xfrm>
            <a:off x="4563963" y="2127256"/>
            <a:ext cx="34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7-8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37634" y="2032006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Lip Synchronisation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037634" y="2298706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7 – 8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94709" y="26416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0" name="Text 38"/>
          <p:cNvSpPr/>
          <p:nvPr/>
        </p:nvSpPr>
        <p:spPr>
          <a:xfrm>
            <a:off x="4732834" y="2603506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Phoneme extraction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94709" y="29464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2" name="Text 40"/>
          <p:cNvSpPr/>
          <p:nvPr/>
        </p:nvSpPr>
        <p:spPr>
          <a:xfrm>
            <a:off x="4732834" y="2908306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Viseme mapping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94709" y="32512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44" name="Text 42"/>
          <p:cNvSpPr/>
          <p:nvPr/>
        </p:nvSpPr>
        <p:spPr>
          <a:xfrm>
            <a:off x="4732834" y="3213106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sync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310559" y="3717925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FFD54F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FFD54F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66134" y="38735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47" name="Text 45"/>
          <p:cNvSpPr/>
          <p:nvPr/>
        </p:nvSpPr>
        <p:spPr>
          <a:xfrm>
            <a:off x="4520208" y="3968753"/>
            <a:ext cx="438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9-10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37634" y="3873503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Integration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037634" y="4140203"/>
            <a:ext cx="1581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9 – 10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494709" y="44831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1" name="Text 49"/>
          <p:cNvSpPr/>
          <p:nvPr/>
        </p:nvSpPr>
        <p:spPr>
          <a:xfrm>
            <a:off x="4732834" y="4445003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Unity-HIVE API connection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494709" y="4787903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53" name="Text 51"/>
          <p:cNvSpPr/>
          <p:nvPr/>
        </p:nvSpPr>
        <p:spPr>
          <a:xfrm>
            <a:off x="4732834" y="4749803"/>
            <a:ext cx="134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testing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40093" y="1876428"/>
            <a:ext cx="3568700" cy="1416050"/>
          </a:xfrm>
          <a:custGeom>
            <a:avLst/>
            <a:gdLst/>
            <a:ahLst/>
            <a:cxnLst/>
            <a:rect l="l" t="t" r="r" b="b"/>
            <a:pathLst>
              <a:path w="3568700" h="1416050">
                <a:moveTo>
                  <a:pt x="114304" y="0"/>
                </a:moveTo>
                <a:lnTo>
                  <a:pt x="3454396" y="0"/>
                </a:lnTo>
                <a:cubicBezTo>
                  <a:pt x="3517525" y="0"/>
                  <a:pt x="3568700" y="51175"/>
                  <a:pt x="3568700" y="114304"/>
                </a:cubicBezTo>
                <a:lnTo>
                  <a:pt x="3568700" y="1301746"/>
                </a:lnTo>
                <a:cubicBezTo>
                  <a:pt x="3568700" y="1364875"/>
                  <a:pt x="3517525" y="1416050"/>
                  <a:pt x="3454396" y="1416050"/>
                </a:cubicBezTo>
                <a:lnTo>
                  <a:pt x="114304" y="1416050"/>
                </a:lnTo>
                <a:cubicBezTo>
                  <a:pt x="51175" y="1416050"/>
                  <a:pt x="0" y="1364875"/>
                  <a:pt x="0" y="1301746"/>
                </a:cubicBezTo>
                <a:lnTo>
                  <a:pt x="0" y="114304"/>
                </a:lnTo>
                <a:cubicBezTo>
                  <a:pt x="0" y="51175"/>
                  <a:pt x="51175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95667" y="20320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56" name="Text 54"/>
          <p:cNvSpPr/>
          <p:nvPr/>
        </p:nvSpPr>
        <p:spPr>
          <a:xfrm>
            <a:off x="8237339" y="2127256"/>
            <a:ext cx="457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11-12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767167" y="2032006"/>
            <a:ext cx="104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Testing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767167" y="2298706"/>
            <a:ext cx="102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11 – 12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24242" y="26416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0" name="Text 58"/>
          <p:cNvSpPr/>
          <p:nvPr/>
        </p:nvSpPr>
        <p:spPr>
          <a:xfrm>
            <a:off x="8462367" y="2603506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Interaction evaluation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224242" y="294640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2" name="Text 60"/>
          <p:cNvSpPr/>
          <p:nvPr/>
        </p:nvSpPr>
        <p:spPr>
          <a:xfrm>
            <a:off x="8462367" y="2908306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Usability assessment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46443" y="3419475"/>
            <a:ext cx="3562350" cy="1971675"/>
          </a:xfrm>
          <a:custGeom>
            <a:avLst/>
            <a:gdLst/>
            <a:ahLst/>
            <a:cxnLst/>
            <a:rect l="l" t="t" r="r" b="b"/>
            <a:pathLst>
              <a:path w="3562350" h="1971675">
                <a:moveTo>
                  <a:pt x="114298" y="0"/>
                </a:moveTo>
                <a:lnTo>
                  <a:pt x="3448052" y="0"/>
                </a:lnTo>
                <a:cubicBezTo>
                  <a:pt x="3511135" y="0"/>
                  <a:pt x="3562350" y="51215"/>
                  <a:pt x="3562350" y="114298"/>
                </a:cubicBezTo>
                <a:lnTo>
                  <a:pt x="3562350" y="1857377"/>
                </a:lnTo>
                <a:cubicBezTo>
                  <a:pt x="3562350" y="1920460"/>
                  <a:pt x="3511135" y="1971675"/>
                  <a:pt x="3448052" y="1971675"/>
                </a:cubicBezTo>
                <a:lnTo>
                  <a:pt x="114298" y="1971675"/>
                </a:lnTo>
                <a:cubicBezTo>
                  <a:pt x="51215" y="1971675"/>
                  <a:pt x="0" y="1920460"/>
                  <a:pt x="0" y="185737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30000"/>
                </a:srgbClr>
              </a:gs>
              <a:gs pos="100000">
                <a:srgbClr val="4DB6AC">
                  <a:alpha val="10000"/>
                </a:srgbClr>
              </a:gs>
            </a:gsLst>
            <a:lin ang="2700000" scaled="1"/>
          </a:gradFill>
          <a:ln w="25400">
            <a:solidFill>
              <a:srgbClr val="4DB6A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08368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65" name="Text 63"/>
          <p:cNvSpPr/>
          <p:nvPr/>
        </p:nvSpPr>
        <p:spPr>
          <a:xfrm>
            <a:off x="8352036" y="3676650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779868" y="358140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Validation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779868" y="384810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13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11543" y="4156075"/>
            <a:ext cx="3225800" cy="1073150"/>
          </a:xfrm>
          <a:custGeom>
            <a:avLst/>
            <a:gdLst/>
            <a:ahLst/>
            <a:cxnLst/>
            <a:rect l="l" t="t" r="r" b="b"/>
            <a:pathLst>
              <a:path w="3225800" h="1073150">
                <a:moveTo>
                  <a:pt x="76204" y="0"/>
                </a:moveTo>
                <a:lnTo>
                  <a:pt x="3149596" y="0"/>
                </a:lnTo>
                <a:cubicBezTo>
                  <a:pt x="3191682" y="0"/>
                  <a:pt x="3225800" y="34118"/>
                  <a:pt x="3225800" y="76204"/>
                </a:cubicBezTo>
                <a:lnTo>
                  <a:pt x="3225800" y="996946"/>
                </a:lnTo>
                <a:cubicBezTo>
                  <a:pt x="3225800" y="1039032"/>
                  <a:pt x="3191682" y="1073150"/>
                  <a:pt x="3149596" y="1073150"/>
                </a:cubicBezTo>
                <a:lnTo>
                  <a:pt x="76204" y="1073150"/>
                </a:lnTo>
                <a:cubicBezTo>
                  <a:pt x="34118" y="1073150"/>
                  <a:pt x="0" y="1039032"/>
                  <a:pt x="0" y="9969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48067" y="4305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0" name="Text 68"/>
          <p:cNvSpPr/>
          <p:nvPr/>
        </p:nvSpPr>
        <p:spPr>
          <a:xfrm>
            <a:off x="8576667" y="42735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validation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348067" y="4610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2" name="Text 70"/>
          <p:cNvSpPr/>
          <p:nvPr/>
        </p:nvSpPr>
        <p:spPr>
          <a:xfrm>
            <a:off x="8576667" y="45783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prep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348067" y="4914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74" name="Text 72"/>
          <p:cNvSpPr/>
          <p:nvPr/>
        </p:nvSpPr>
        <p:spPr>
          <a:xfrm>
            <a:off x="8576667" y="4883153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submission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e5845d6cb33303967e15b53ed0d6e50d4156b7a0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7810" r="17810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DB6AC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 &amp; Impact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1430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84175" y="1412875"/>
            <a:ext cx="11426825" cy="1711325"/>
          </a:xfrm>
          <a:custGeom>
            <a:avLst/>
            <a:gdLst/>
            <a:ahLst/>
            <a:cxnLst/>
            <a:rect l="l" t="t" r="r" b="b"/>
            <a:pathLst>
              <a:path w="11426825" h="1711325">
                <a:moveTo>
                  <a:pt x="114299" y="0"/>
                </a:moveTo>
                <a:lnTo>
                  <a:pt x="11312526" y="0"/>
                </a:lnTo>
                <a:cubicBezTo>
                  <a:pt x="11375651" y="0"/>
                  <a:pt x="11426825" y="51174"/>
                  <a:pt x="11426825" y="114299"/>
                </a:cubicBezTo>
                <a:lnTo>
                  <a:pt x="11426825" y="1597026"/>
                </a:lnTo>
                <a:cubicBezTo>
                  <a:pt x="11426825" y="1660151"/>
                  <a:pt x="11375651" y="1711325"/>
                  <a:pt x="11312526" y="1711325"/>
                </a:cubicBezTo>
                <a:lnTo>
                  <a:pt x="114299" y="1711325"/>
                </a:lnTo>
                <a:cubicBezTo>
                  <a:pt x="51174" y="1711325"/>
                  <a:pt x="0" y="1660151"/>
                  <a:pt x="0" y="1597026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5F6B7A">
                  <a:alpha val="10000"/>
                </a:srgbClr>
              </a:gs>
            </a:gsLst>
            <a:lin ang="270000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5950" y="164465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Shape 6"/>
          <p:cNvSpPr/>
          <p:nvPr/>
        </p:nvSpPr>
        <p:spPr>
          <a:xfrm>
            <a:off x="768350" y="17970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7"/>
          <p:cNvSpPr/>
          <p:nvPr/>
        </p:nvSpPr>
        <p:spPr>
          <a:xfrm>
            <a:off x="1301750" y="1758953"/>
            <a:ext cx="2647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Value Proposition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5950" y="2330453"/>
            <a:ext cx="110490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demonstrates that combining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fine-tuned Large Language Models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Retrieval-Augmented Generation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a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Unity-based AI avatar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deliver accurate, accessible, and engaging academic advising support.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175" y="3316294"/>
            <a:ext cx="3673475" cy="1701800"/>
          </a:xfrm>
          <a:custGeom>
            <a:avLst/>
            <a:gdLst/>
            <a:ahLst/>
            <a:cxnLst/>
            <a:rect l="l" t="t" r="r" b="b"/>
            <a:pathLst>
              <a:path w="3673475" h="1701800">
                <a:moveTo>
                  <a:pt x="114293" y="0"/>
                </a:moveTo>
                <a:lnTo>
                  <a:pt x="3559182" y="0"/>
                </a:lnTo>
                <a:cubicBezTo>
                  <a:pt x="3622304" y="0"/>
                  <a:pt x="3673475" y="51171"/>
                  <a:pt x="3673475" y="114293"/>
                </a:cubicBezTo>
                <a:lnTo>
                  <a:pt x="3673475" y="1587507"/>
                </a:lnTo>
                <a:cubicBezTo>
                  <a:pt x="3673475" y="1650629"/>
                  <a:pt x="3622304" y="1701800"/>
                  <a:pt x="3559182" y="1701800"/>
                </a:cubicBezTo>
                <a:lnTo>
                  <a:pt x="114293" y="1701800"/>
                </a:lnTo>
                <a:cubicBezTo>
                  <a:pt x="51171" y="1701800"/>
                  <a:pt x="0" y="1650629"/>
                  <a:pt x="0" y="15875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7850" y="35099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4" name="Shape 11"/>
          <p:cNvSpPr/>
          <p:nvPr/>
        </p:nvSpPr>
        <p:spPr>
          <a:xfrm>
            <a:off x="711200" y="3643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2"/>
          <p:cNvSpPr/>
          <p:nvPr/>
        </p:nvSpPr>
        <p:spPr>
          <a:xfrm>
            <a:off x="1149350" y="3605213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7850" y="4081463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phased development approach ensures system reliability through incremental validation at each stage.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57675" y="3316294"/>
            <a:ext cx="3673475" cy="1701800"/>
          </a:xfrm>
          <a:custGeom>
            <a:avLst/>
            <a:gdLst/>
            <a:ahLst/>
            <a:cxnLst/>
            <a:rect l="l" t="t" r="r" b="b"/>
            <a:pathLst>
              <a:path w="3673475" h="1701800">
                <a:moveTo>
                  <a:pt x="114293" y="0"/>
                </a:moveTo>
                <a:lnTo>
                  <a:pt x="3559182" y="0"/>
                </a:lnTo>
                <a:cubicBezTo>
                  <a:pt x="3622304" y="0"/>
                  <a:pt x="3673475" y="51171"/>
                  <a:pt x="3673475" y="114293"/>
                </a:cubicBezTo>
                <a:lnTo>
                  <a:pt x="3673475" y="1587507"/>
                </a:lnTo>
                <a:cubicBezTo>
                  <a:pt x="3673475" y="1650629"/>
                  <a:pt x="3622304" y="1701800"/>
                  <a:pt x="3559182" y="1701800"/>
                </a:cubicBezTo>
                <a:lnTo>
                  <a:pt x="114293" y="1701800"/>
                </a:lnTo>
                <a:cubicBezTo>
                  <a:pt x="51171" y="1701800"/>
                  <a:pt x="0" y="1650629"/>
                  <a:pt x="0" y="15875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51350" y="35099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9" name="Shape 16"/>
          <p:cNvSpPr/>
          <p:nvPr/>
        </p:nvSpPr>
        <p:spPr>
          <a:xfrm>
            <a:off x="4584700" y="3643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7"/>
          <p:cNvSpPr/>
          <p:nvPr/>
        </p:nvSpPr>
        <p:spPr>
          <a:xfrm>
            <a:off x="5022850" y="3605213"/>
            <a:ext cx="800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51350" y="4081463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pipeline significantly reduces hallucination by grounding responses in official documents.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131175" y="3316294"/>
            <a:ext cx="3673475" cy="1701800"/>
          </a:xfrm>
          <a:custGeom>
            <a:avLst/>
            <a:gdLst/>
            <a:ahLst/>
            <a:cxnLst/>
            <a:rect l="l" t="t" r="r" b="b"/>
            <a:pathLst>
              <a:path w="3673475" h="1701800">
                <a:moveTo>
                  <a:pt x="114293" y="0"/>
                </a:moveTo>
                <a:lnTo>
                  <a:pt x="3559182" y="0"/>
                </a:lnTo>
                <a:cubicBezTo>
                  <a:pt x="3622304" y="0"/>
                  <a:pt x="3673475" y="51171"/>
                  <a:pt x="3673475" y="114293"/>
                </a:cubicBezTo>
                <a:lnTo>
                  <a:pt x="3673475" y="1587507"/>
                </a:lnTo>
                <a:cubicBezTo>
                  <a:pt x="3673475" y="1650629"/>
                  <a:pt x="3622304" y="1701800"/>
                  <a:pt x="3559182" y="1701800"/>
                </a:cubicBezTo>
                <a:lnTo>
                  <a:pt x="114293" y="1701800"/>
                </a:lnTo>
                <a:cubicBezTo>
                  <a:pt x="51171" y="1701800"/>
                  <a:pt x="0" y="1650629"/>
                  <a:pt x="0" y="15875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4850" y="35099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4" name="Shape 21"/>
          <p:cNvSpPr/>
          <p:nvPr/>
        </p:nvSpPr>
        <p:spPr>
          <a:xfrm>
            <a:off x="8458200" y="3643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2"/>
          <p:cNvSpPr/>
          <p:nvPr/>
        </p:nvSpPr>
        <p:spPr>
          <a:xfrm>
            <a:off x="8896350" y="3605213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324850" y="4081463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avatar with voice interaction and lip-sync enhances user engagement and accessibility.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4175" y="5214941"/>
            <a:ext cx="11426825" cy="949325"/>
          </a:xfrm>
          <a:custGeom>
            <a:avLst/>
            <a:gdLst/>
            <a:ahLst/>
            <a:cxnLst/>
            <a:rect l="l" t="t" r="r" b="b"/>
            <a:pathLst>
              <a:path w="11426825" h="949325">
                <a:moveTo>
                  <a:pt x="114299" y="0"/>
                </a:moveTo>
                <a:lnTo>
                  <a:pt x="11312526" y="0"/>
                </a:lnTo>
                <a:cubicBezTo>
                  <a:pt x="11375652" y="0"/>
                  <a:pt x="11426825" y="51173"/>
                  <a:pt x="11426825" y="114299"/>
                </a:cubicBezTo>
                <a:lnTo>
                  <a:pt x="11426825" y="835026"/>
                </a:lnTo>
                <a:cubicBezTo>
                  <a:pt x="11426825" y="898152"/>
                  <a:pt x="11375652" y="949325"/>
                  <a:pt x="11312526" y="949325"/>
                </a:cubicBezTo>
                <a:lnTo>
                  <a:pt x="114299" y="949325"/>
                </a:lnTo>
                <a:cubicBezTo>
                  <a:pt x="51173" y="949325"/>
                  <a:pt x="0" y="898152"/>
                  <a:pt x="0" y="8350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10000"/>
                </a:srgbClr>
              </a:gs>
              <a:gs pos="50000">
                <a:srgbClr val="5F6B7A">
                  <a:alpha val="10000"/>
                </a:srgbClr>
              </a:gs>
              <a:gs pos="100000">
                <a:srgbClr val="FFD54F">
                  <a:alpha val="10000"/>
                </a:srgbClr>
              </a:gs>
            </a:gsLst>
            <a:lin ang="0" scaled="1"/>
          </a:gradFill>
          <a:ln w="8467">
            <a:solidFill>
              <a:srgbClr val="4DB6AC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3088" y="55443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9" name="Text 26"/>
          <p:cNvSpPr/>
          <p:nvPr/>
        </p:nvSpPr>
        <p:spPr>
          <a:xfrm>
            <a:off x="1009749" y="5408619"/>
            <a:ext cx="106870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Impact: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This system has the potential to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4DB6AC"/>
                </a:solidFill>
                <a:highlight>
                  <a:srgbClr val="4DB6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transform academic advising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providing 24/7 intelligent support while reducing staff workload and improving student satisfaction.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212" y="364212"/>
            <a:ext cx="11527313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spc="50" kern="0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Sources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212" y="619161"/>
            <a:ext cx="11627471" cy="364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1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212" y="1092636"/>
            <a:ext cx="874109" cy="36421"/>
          </a:xfrm>
          <a:custGeom>
            <a:avLst/>
            <a:gdLst/>
            <a:ahLst/>
            <a:cxnLst/>
            <a:rect l="l" t="t" r="r" b="b"/>
            <a:pathLst>
              <a:path w="874109" h="36421">
                <a:moveTo>
                  <a:pt x="0" y="0"/>
                </a:moveTo>
                <a:lnTo>
                  <a:pt x="874109" y="0"/>
                </a:lnTo>
                <a:lnTo>
                  <a:pt x="874109" y="36421"/>
                </a:lnTo>
                <a:lnTo>
                  <a:pt x="0" y="36421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64212" y="1201900"/>
            <a:ext cx="11545524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 7th Edition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7247" y="1678411"/>
            <a:ext cx="11451435" cy="3812087"/>
          </a:xfrm>
          <a:custGeom>
            <a:avLst/>
            <a:gdLst/>
            <a:ahLst/>
            <a:cxnLst/>
            <a:rect l="l" t="t" r="r" b="b"/>
            <a:pathLst>
              <a:path w="11451435" h="3812087">
                <a:moveTo>
                  <a:pt x="109254" y="0"/>
                </a:moveTo>
                <a:lnTo>
                  <a:pt x="11342181" y="0"/>
                </a:lnTo>
                <a:cubicBezTo>
                  <a:pt x="11402521" y="0"/>
                  <a:pt x="11451435" y="48915"/>
                  <a:pt x="11451435" y="109254"/>
                </a:cubicBezTo>
                <a:lnTo>
                  <a:pt x="11451435" y="3702832"/>
                </a:lnTo>
                <a:cubicBezTo>
                  <a:pt x="11451435" y="3763172"/>
                  <a:pt x="11402521" y="3812087"/>
                  <a:pt x="11342181" y="3812087"/>
                </a:cubicBezTo>
                <a:lnTo>
                  <a:pt x="109254" y="3812087"/>
                </a:lnTo>
                <a:cubicBezTo>
                  <a:pt x="48915" y="3812087"/>
                  <a:pt x="0" y="3763172"/>
                  <a:pt x="0" y="3702832"/>
                </a:cubicBezTo>
                <a:lnTo>
                  <a:pt x="0" y="109254"/>
                </a:lnTo>
                <a:cubicBezTo>
                  <a:pt x="0" y="48955"/>
                  <a:pt x="48955" y="0"/>
                  <a:pt x="10925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w="8467">
            <a:solidFill>
              <a:srgbClr val="5F6B7A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7020" y="1899976"/>
            <a:ext cx="5381234" cy="764845"/>
          </a:xfrm>
          <a:custGeom>
            <a:avLst/>
            <a:gdLst/>
            <a:ahLst/>
            <a:cxnLst/>
            <a:rect l="l" t="t" r="r" b="b"/>
            <a:pathLst>
              <a:path w="5381234" h="764845">
                <a:moveTo>
                  <a:pt x="36421" y="0"/>
                </a:moveTo>
                <a:lnTo>
                  <a:pt x="5308390" y="0"/>
                </a:lnTo>
                <a:cubicBezTo>
                  <a:pt x="5348620" y="0"/>
                  <a:pt x="5381234" y="32613"/>
                  <a:pt x="5381234" y="72844"/>
                </a:cubicBezTo>
                <a:lnTo>
                  <a:pt x="5381234" y="692002"/>
                </a:lnTo>
                <a:cubicBezTo>
                  <a:pt x="5381234" y="732232"/>
                  <a:pt x="5348620" y="764845"/>
                  <a:pt x="5308390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7020" y="1899976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9" name="Text 7"/>
          <p:cNvSpPr/>
          <p:nvPr/>
        </p:nvSpPr>
        <p:spPr>
          <a:xfrm>
            <a:off x="770916" y="2045661"/>
            <a:ext cx="5144496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Brown, T., Mann, B., Ryder, N., et al. (2020). Language models are few-shot learners. Advances in Neural Information Processing Systems, 33, 1877–1901.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1957" y="1899976"/>
            <a:ext cx="5381234" cy="764845"/>
          </a:xfrm>
          <a:custGeom>
            <a:avLst/>
            <a:gdLst/>
            <a:ahLst/>
            <a:cxnLst/>
            <a:rect l="l" t="t" r="r" b="b"/>
            <a:pathLst>
              <a:path w="5381234" h="764845">
                <a:moveTo>
                  <a:pt x="36421" y="0"/>
                </a:moveTo>
                <a:lnTo>
                  <a:pt x="5308390" y="0"/>
                </a:lnTo>
                <a:cubicBezTo>
                  <a:pt x="5348620" y="0"/>
                  <a:pt x="5381234" y="32613"/>
                  <a:pt x="5381234" y="72844"/>
                </a:cubicBezTo>
                <a:lnTo>
                  <a:pt x="5381234" y="692002"/>
                </a:lnTo>
                <a:cubicBezTo>
                  <a:pt x="5381234" y="732232"/>
                  <a:pt x="5348620" y="764845"/>
                  <a:pt x="5308390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21957" y="1899976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2" name="Text 10"/>
          <p:cNvSpPr/>
          <p:nvPr/>
        </p:nvSpPr>
        <p:spPr>
          <a:xfrm>
            <a:off x="6385852" y="2045661"/>
            <a:ext cx="5144496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Devlin, J., Chang, M.-W., Lee, K., &amp; Toutanova, K. (2019). BERT: Pre-training of deep bidirectional transformers for language understanding. NAACL-HLT.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7020" y="2810506"/>
            <a:ext cx="5381234" cy="764845"/>
          </a:xfrm>
          <a:custGeom>
            <a:avLst/>
            <a:gdLst/>
            <a:ahLst/>
            <a:cxnLst/>
            <a:rect l="l" t="t" r="r" b="b"/>
            <a:pathLst>
              <a:path w="5381234" h="764845">
                <a:moveTo>
                  <a:pt x="36421" y="0"/>
                </a:moveTo>
                <a:lnTo>
                  <a:pt x="5308390" y="0"/>
                </a:lnTo>
                <a:cubicBezTo>
                  <a:pt x="5348620" y="0"/>
                  <a:pt x="5381234" y="32613"/>
                  <a:pt x="5381234" y="72844"/>
                </a:cubicBezTo>
                <a:lnTo>
                  <a:pt x="5381234" y="692002"/>
                </a:lnTo>
                <a:cubicBezTo>
                  <a:pt x="5381234" y="732232"/>
                  <a:pt x="5348620" y="764845"/>
                  <a:pt x="5308390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07020" y="2810506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15" name="Text 13"/>
          <p:cNvSpPr/>
          <p:nvPr/>
        </p:nvSpPr>
        <p:spPr>
          <a:xfrm>
            <a:off x="770916" y="2956191"/>
            <a:ext cx="5144496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Lewis, P., Perez, E., Piktus, A., et al. (2020). Retrieval-augmented generation for knowledge-intensive NLP tasks. NeurIPS.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1957" y="2810506"/>
            <a:ext cx="5381234" cy="764845"/>
          </a:xfrm>
          <a:custGeom>
            <a:avLst/>
            <a:gdLst/>
            <a:ahLst/>
            <a:cxnLst/>
            <a:rect l="l" t="t" r="r" b="b"/>
            <a:pathLst>
              <a:path w="5381234" h="764845">
                <a:moveTo>
                  <a:pt x="36421" y="0"/>
                </a:moveTo>
                <a:lnTo>
                  <a:pt x="5308390" y="0"/>
                </a:lnTo>
                <a:cubicBezTo>
                  <a:pt x="5348620" y="0"/>
                  <a:pt x="5381234" y="32613"/>
                  <a:pt x="5381234" y="72844"/>
                </a:cubicBezTo>
                <a:lnTo>
                  <a:pt x="5381234" y="692002"/>
                </a:lnTo>
                <a:cubicBezTo>
                  <a:pt x="5381234" y="732232"/>
                  <a:pt x="5348620" y="764845"/>
                  <a:pt x="5308390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21957" y="2810506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385852" y="2956191"/>
            <a:ext cx="5144496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OpenAI. (2023). GPT-4 technical report. https://arxiv.org/abs/2303.08774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7020" y="3721037"/>
            <a:ext cx="5381234" cy="764845"/>
          </a:xfrm>
          <a:custGeom>
            <a:avLst/>
            <a:gdLst/>
            <a:ahLst/>
            <a:cxnLst/>
            <a:rect l="l" t="t" r="r" b="b"/>
            <a:pathLst>
              <a:path w="5381234" h="764845">
                <a:moveTo>
                  <a:pt x="36421" y="0"/>
                </a:moveTo>
                <a:lnTo>
                  <a:pt x="5308390" y="0"/>
                </a:lnTo>
                <a:cubicBezTo>
                  <a:pt x="5348620" y="0"/>
                  <a:pt x="5381234" y="32613"/>
                  <a:pt x="5381234" y="72844"/>
                </a:cubicBezTo>
                <a:lnTo>
                  <a:pt x="5381234" y="692002"/>
                </a:lnTo>
                <a:cubicBezTo>
                  <a:pt x="5381234" y="732232"/>
                  <a:pt x="5348620" y="764845"/>
                  <a:pt x="5308390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7020" y="3721037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1" name="Text 19"/>
          <p:cNvSpPr/>
          <p:nvPr/>
        </p:nvSpPr>
        <p:spPr>
          <a:xfrm>
            <a:off x="770916" y="3866721"/>
            <a:ext cx="5144496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Radford, A., Kim, J. W., Hallacy, C., et al. (2023). Whisper: Robust speech recognition via large-scale weak supervision. https://arxiv.org/abs/2212.04356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1957" y="3721037"/>
            <a:ext cx="5381234" cy="764845"/>
          </a:xfrm>
          <a:custGeom>
            <a:avLst/>
            <a:gdLst/>
            <a:ahLst/>
            <a:cxnLst/>
            <a:rect l="l" t="t" r="r" b="b"/>
            <a:pathLst>
              <a:path w="5381234" h="764845">
                <a:moveTo>
                  <a:pt x="36421" y="0"/>
                </a:moveTo>
                <a:lnTo>
                  <a:pt x="5308390" y="0"/>
                </a:lnTo>
                <a:cubicBezTo>
                  <a:pt x="5348620" y="0"/>
                  <a:pt x="5381234" y="32613"/>
                  <a:pt x="5381234" y="72844"/>
                </a:cubicBezTo>
                <a:lnTo>
                  <a:pt x="5381234" y="692002"/>
                </a:lnTo>
                <a:cubicBezTo>
                  <a:pt x="5381234" y="732232"/>
                  <a:pt x="5348620" y="764845"/>
                  <a:pt x="5308390" y="764845"/>
                </a:cubicBez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20"/>
                  <a:pt x="16320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21957" y="3721037"/>
            <a:ext cx="36421" cy="764845"/>
          </a:xfrm>
          <a:custGeom>
            <a:avLst/>
            <a:gdLst/>
            <a:ahLst/>
            <a:cxnLst/>
            <a:rect l="l" t="t" r="r" b="b"/>
            <a:pathLst>
              <a:path w="36421" h="764845">
                <a:moveTo>
                  <a:pt x="36421" y="0"/>
                </a:moveTo>
                <a:lnTo>
                  <a:pt x="36421" y="0"/>
                </a:lnTo>
                <a:lnTo>
                  <a:pt x="36421" y="764845"/>
                </a:lnTo>
                <a:lnTo>
                  <a:pt x="36421" y="764845"/>
                </a:lnTo>
                <a:cubicBezTo>
                  <a:pt x="16306" y="764845"/>
                  <a:pt x="0" y="748539"/>
                  <a:pt x="0" y="728424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FFD54F"/>
          </a:solidFill>
          <a:ln/>
        </p:spPr>
      </p:sp>
      <p:sp>
        <p:nvSpPr>
          <p:cNvPr id="24" name="Text 22"/>
          <p:cNvSpPr/>
          <p:nvPr/>
        </p:nvSpPr>
        <p:spPr>
          <a:xfrm>
            <a:off x="6385852" y="3866721"/>
            <a:ext cx="5144496" cy="473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Cassell, J., Sullivan, J., Prevost, S., &amp; Churchill, E. (2000). Embodied conversational agents. MIT Press.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7020" y="4631567"/>
            <a:ext cx="10990100" cy="528108"/>
          </a:xfrm>
          <a:custGeom>
            <a:avLst/>
            <a:gdLst/>
            <a:ahLst/>
            <a:cxnLst/>
            <a:rect l="l" t="t" r="r" b="b"/>
            <a:pathLst>
              <a:path w="10990100" h="528108">
                <a:moveTo>
                  <a:pt x="36421" y="0"/>
                </a:moveTo>
                <a:lnTo>
                  <a:pt x="10917258" y="0"/>
                </a:lnTo>
                <a:cubicBezTo>
                  <a:pt x="10957488" y="0"/>
                  <a:pt x="10990100" y="32612"/>
                  <a:pt x="10990100" y="72842"/>
                </a:cubicBezTo>
                <a:lnTo>
                  <a:pt x="10990100" y="455266"/>
                </a:lnTo>
                <a:cubicBezTo>
                  <a:pt x="10990100" y="495495"/>
                  <a:pt x="10957488" y="528108"/>
                  <a:pt x="10917258" y="528108"/>
                </a:cubicBezTo>
                <a:lnTo>
                  <a:pt x="36421" y="528108"/>
                </a:lnTo>
                <a:cubicBezTo>
                  <a:pt x="16306" y="528108"/>
                  <a:pt x="0" y="511801"/>
                  <a:pt x="0" y="491686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7020" y="4631567"/>
            <a:ext cx="36421" cy="528108"/>
          </a:xfrm>
          <a:custGeom>
            <a:avLst/>
            <a:gdLst/>
            <a:ahLst/>
            <a:cxnLst/>
            <a:rect l="l" t="t" r="r" b="b"/>
            <a:pathLst>
              <a:path w="36421" h="528108">
                <a:moveTo>
                  <a:pt x="36421" y="0"/>
                </a:moveTo>
                <a:lnTo>
                  <a:pt x="36421" y="0"/>
                </a:lnTo>
                <a:lnTo>
                  <a:pt x="36421" y="528108"/>
                </a:lnTo>
                <a:lnTo>
                  <a:pt x="36421" y="528108"/>
                </a:lnTo>
                <a:cubicBezTo>
                  <a:pt x="16306" y="528108"/>
                  <a:pt x="0" y="511801"/>
                  <a:pt x="0" y="491686"/>
                </a:cubicBezTo>
                <a:lnTo>
                  <a:pt x="0" y="36421"/>
                </a:lnTo>
                <a:cubicBezTo>
                  <a:pt x="0" y="16306"/>
                  <a:pt x="16306" y="0"/>
                  <a:pt x="36421" y="0"/>
                </a:cubicBezTo>
                <a:close/>
              </a:path>
            </a:pathLst>
          </a:custGeom>
          <a:solidFill>
            <a:srgbClr val="4DB6AC"/>
          </a:solidFill>
          <a:ln/>
        </p:spPr>
      </p:sp>
      <p:sp>
        <p:nvSpPr>
          <p:cNvPr id="27" name="Text 25"/>
          <p:cNvSpPr/>
          <p:nvPr/>
        </p:nvSpPr>
        <p:spPr>
          <a:xfrm>
            <a:off x="770916" y="4777252"/>
            <a:ext cx="10753362" cy="236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7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Taylor, S., Theobalt, C., &amp; Matthews, I. (2017). Deep learning for facial animation from speech. ACM Transactions on Graphics (SIGGRAPH).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39596" y="5681712"/>
            <a:ext cx="2109395" cy="807337"/>
          </a:xfrm>
          <a:custGeom>
            <a:avLst/>
            <a:gdLst/>
            <a:ahLst/>
            <a:cxnLst/>
            <a:rect l="l" t="t" r="r" b="b"/>
            <a:pathLst>
              <a:path w="2109395" h="807337">
                <a:moveTo>
                  <a:pt x="109265" y="0"/>
                </a:moveTo>
                <a:lnTo>
                  <a:pt x="2000130" y="0"/>
                </a:lnTo>
                <a:cubicBezTo>
                  <a:pt x="2060475" y="0"/>
                  <a:pt x="2109395" y="48920"/>
                  <a:pt x="2109395" y="109265"/>
                </a:cubicBezTo>
                <a:lnTo>
                  <a:pt x="2109395" y="698072"/>
                </a:lnTo>
                <a:cubicBezTo>
                  <a:pt x="2109395" y="758417"/>
                  <a:pt x="2060475" y="807337"/>
                  <a:pt x="2000130" y="807337"/>
                </a:cubicBezTo>
                <a:lnTo>
                  <a:pt x="109265" y="807337"/>
                </a:lnTo>
                <a:cubicBezTo>
                  <a:pt x="48920" y="807337"/>
                  <a:pt x="0" y="758417"/>
                  <a:pt x="0" y="698072"/>
                </a:cubicBezTo>
                <a:lnTo>
                  <a:pt x="0" y="109265"/>
                </a:lnTo>
                <a:cubicBezTo>
                  <a:pt x="0" y="48960"/>
                  <a:pt x="48960" y="0"/>
                  <a:pt x="109265" y="0"/>
                </a:cubicBezTo>
                <a:close/>
              </a:path>
            </a:pathLst>
          </a:custGeom>
          <a:gradFill rotWithShape="1" flip="none">
            <a:gsLst>
              <a:gs pos="0">
                <a:srgbClr val="4DB6AC">
                  <a:alpha val="20000"/>
                </a:srgbClr>
              </a:gs>
              <a:gs pos="100000">
                <a:srgbClr val="FFD54F">
                  <a:alpha val="20000"/>
                </a:srgbClr>
              </a:gs>
            </a:gsLst>
            <a:lin ang="0" scaled="1"/>
          </a:gradFill>
          <a:ln w="8467">
            <a:solidFill>
              <a:srgbClr val="4DB6AC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8473" y="5830435"/>
            <a:ext cx="1611639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4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97579" y="6121804"/>
            <a:ext cx="1593428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5F6B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Avatar for Academic Advising using Fine-Tuned Large Language Model</dc:title>
  <dc:subject>AI Avatar for Academic Advising using Fine-Tuned Large Language Model</dc:subject>
  <dc:creator>Kimi</dc:creator>
  <cp:lastModifiedBy>Kimi</cp:lastModifiedBy>
  <cp:revision>1</cp:revision>
  <dcterms:created xsi:type="dcterms:W3CDTF">2026-02-04T16:05:18Z</dcterms:created>
  <dcterms:modified xsi:type="dcterms:W3CDTF">2026-02-04T16:05:18Z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 Avatar for Academic Advising using Fine-Tuned Large Language Model","ContentProducer":"001191110108MACG2KBH8F10000","ProduceID":"19c2956c-c642-8171-8000-00004866f957","ReservedCode1":"","ContentPropagator":"001191110108MACG2KBH8F20000","PropagateID":"19c2956c-c642-8171-8000-00004866f957","ReservedCode2":""}</vt:lpwstr>
  </property>
</Properties>
</file>